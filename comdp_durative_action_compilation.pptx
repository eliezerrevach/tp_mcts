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eec71b82dd448c" /><Relationship Type="http://schemas.openxmlformats.org/officeDocument/2006/relationships/extended-properties" Target="/docProps/app.xml" Id="R87082bdd07134b27" /><Relationship Type="http://schemas.openxmlformats.org/officeDocument/2006/relationships/officeDocument" Target="/ppt/presentation.xml" Id="R461ee0e2c62e4a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fba38edf2f4716"/>
  </p:sldMasterIdLst>
  <p:notesMasterIdLst>
    <p:notesMasterId xmlns:r="http://schemas.openxmlformats.org/officeDocument/2006/relationships" r:id="R6b820ccc37544803"/>
  </p:notesMasterIdLst>
  <p:sldIdLst>
    <p:sldId xmlns:r="http://schemas.openxmlformats.org/officeDocument/2006/relationships" id="256" r:id="R0f9e1f35cf4544be"/>
    <p:sldId xmlns:r="http://schemas.openxmlformats.org/officeDocument/2006/relationships" id="257" r:id="R6ba9d125fbbe43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5181f4d43449d" /><Relationship Type="http://schemas.openxmlformats.org/officeDocument/2006/relationships/slideMaster" Target="/ppt/slideMasters/slideMaster1.xml" Id="R0efba38edf2f4716" /><Relationship Type="http://schemas.openxmlformats.org/officeDocument/2006/relationships/notesMaster" Target="/ppt/notesMasters/notesMaster1.xml" Id="R6b820ccc37544803" /><Relationship Type="http://schemas.openxmlformats.org/officeDocument/2006/relationships/presProps" Target="/ppt/presProps.xml" Id="R2fd8217501314ab8" /><Relationship Type="http://schemas.openxmlformats.org/officeDocument/2006/relationships/tableStyles" Target="/ppt/tableStyles.xml" Id="R0cad2ddd5bc04f9c" /><Relationship Type="http://schemas.openxmlformats.org/officeDocument/2006/relationships/slide" Target="/ppt/slides/slide1.xml" Id="R0f9e1f35cf4544be" /><Relationship Type="http://schemas.openxmlformats.org/officeDocument/2006/relationships/slide" Target="/ppt/slides/slide2.xml" Id="R6ba9d125fbbe43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4b66f082e645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55e6e848c14bc6" /><Relationship Type="http://schemas.openxmlformats.org/officeDocument/2006/relationships/notesMaster" Target="/ppt/notesMasters/notesMaster1.xml" Id="R7ddbe4c06be547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0dd585e40e47f4" /><Relationship Type="http://schemas.openxmlformats.org/officeDocument/2006/relationships/notesMaster" Target="/ppt/notesMasters/notesMaster1.xml" Id="R32a60a32f44844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policy chooses Start(a). Finish(a) is a scheduled event rather than a second freely chosen running action.</a:t>
            </a:r>
          </a:p>
          <a:p xmlns:a="http://schemas.openxmlformats.org/drawingml/2006/main">
            <a:r>
              <a:t>The record in p may need an action-instance identifier if overlapping instances are allowed.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CoMDP+ compilation description,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Finish(a) is instantaneous. Its conditions are therefore checked as start conditions of that event action.</a:t>
            </a:r>
          </a:p>
          <a:p xmlns:a="http://schemas.openxmlformats.org/drawingml/2006/main">
            <a:r>
              <a:t>Overall conditions are not discarded: actions chosen while a is running must preserve them.</a:t>
            </a:r>
          </a:p>
          <a:p xmlns:a="http://schemas.openxmlformats.org/drawingml/2006/main">
            <a:r>
              <a:t>Do not automatically undo every start effect at Finish(a); only original end effects may delete those facts.</a:t>
            </a:r>
          </a:p>
          <a:p xmlns:a="http://schemas.openxmlformats.org/drawingml/2006/main">
            <a:r>
              <a:t>If an end outcome is sampled at Start(a), store its outcome token in p; otherwise sample it at Finish(a).</a:t>
            </a:r>
          </a:p>
          <a:p xmlns:a="http://schemas.openxmlformats.org/drawingml/2006/main">
            <a:r>
              <a:t>The displayed d(a) &lt;= r rule assumes that every started action must complete by the deadline.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CoMDP+ compilation description,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6094c265341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f4f453348843ee" /><Relationship Type="http://schemas.openxmlformats.org/officeDocument/2006/relationships/slideLayout" Target="/ppt/slideLayouts/slideLayout1.xml" Id="R42f6cb3e1a6e45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6cb3e1a6e45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eed610d8145d7" /><Relationship Type="http://schemas.openxmlformats.org/officeDocument/2006/relationships/notesSlide" Target="/ppt/notesSlides/notesSlide1.xml" Id="R5927a08d9ba740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73eeeac494d80" /><Relationship Type="http://schemas.openxmlformats.org/officeDocument/2006/relationships/notesSlide" Target="/ppt/notesSlides/notesSlide2.xml" Id="R2a7e505d8d0643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46F50528-4115-47F5-AE21-6178D6AB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Compile one durative action into two event actions</a:t>
            </a:r>
          </a:p>
        </p:txBody>
      </p:sp>
      <p:sp>
        <p:nvSpPr>
          <p:cNvPr id="2" name="slide-1-rule">
            <a:extLst xmlns:a="http://schemas.openxmlformats.org/drawingml/2006/main">
              <a:ext uri="{FF2B5EF4-FFF2-40B4-BE49-F238E27FC236}">
                <a16:creationId xmlns:a16="http://schemas.microsoft.com/office/drawing/2014/main" id="{241763CF-ABAF-4A29-81D6-180D8CFB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1ACE471B-1C3D-4906-9A4D-09078FD6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54AE765-1946-4545-8E59-026A36A0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57525"/>
            <a:ext cx="762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AC92530E-F440-4F50-B2E1-A833D73D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057525"/>
            <a:ext cx="762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6" name="flow-card-1">
            <a:extLst xmlns:a="http://schemas.openxmlformats.org/drawingml/2006/main">
              <a:ext uri="{FF2B5EF4-FFF2-40B4-BE49-F238E27FC236}">
                <a16:creationId xmlns:a16="http://schemas.microsoft.com/office/drawing/2014/main" id="{F559A503-55EF-4EDB-BD35-0568196D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2385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low-tag-1">
            <a:extLst xmlns:a="http://schemas.openxmlformats.org/drawingml/2006/main">
              <a:ext uri="{FF2B5EF4-FFF2-40B4-BE49-F238E27FC236}">
                <a16:creationId xmlns:a16="http://schemas.microsoft.com/office/drawing/2014/main" id="{F5FDA4E9-ABE9-4DE5-8307-2C8E5891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CHOSEN</a:t>
            </a:r>
          </a:p>
        </p:txBody>
      </p:sp>
      <p:sp>
        <p:nvSpPr>
          <p:cNvPr id="8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49228C4-1EF8-4E35-B17E-C3D29324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743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Start(a)</a:t>
            </a:r>
          </a:p>
        </p:txBody>
      </p:sp>
      <p:sp>
        <p:nvSpPr>
          <p:cNvPr id="9" name="flow-card-2">
            <a:extLst xmlns:a="http://schemas.openxmlformats.org/drawingml/2006/main">
              <a:ext uri="{FF2B5EF4-FFF2-40B4-BE49-F238E27FC236}">
                <a16:creationId xmlns:a16="http://schemas.microsoft.com/office/drawing/2014/main" id="{C737E655-6501-4121-889C-F0F1F9F4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28800"/>
            <a:ext cx="34099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19050">
            <a:solidFill>
              <a:srgbClr val="3187F5"/>
            </a:solidFill>
            <a:prstDash val="solid"/>
          </a:ln>
        </p:spPr>
      </p:sp>
      <p:sp>
        <p:nvSpPr>
          <p:cNvPr id="10" name="flow-tag-2">
            <a:extLst xmlns:a="http://schemas.openxmlformats.org/drawingml/2006/main">
              <a:ext uri="{FF2B5EF4-FFF2-40B4-BE49-F238E27FC236}">
                <a16:creationId xmlns:a16="http://schemas.microsoft.com/office/drawing/2014/main" id="{423BC740-82F9-44FC-9703-78230DC5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478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RUNNING</a:t>
            </a:r>
          </a:p>
        </p:txBody>
      </p:sp>
      <p:sp>
        <p:nvSpPr>
          <p:cNvPr id="11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DA844A6-2598-4B42-A7F2-22F14DE9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81250"/>
            <a:ext cx="2914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(a, λₐ) ∈ p</a:t>
            </a:r>
          </a:p>
        </p:txBody>
      </p:sp>
      <p:sp>
        <p:nvSpPr>
          <p:cNvPr id="12" name="flow-card-3">
            <a:extLst xmlns:a="http://schemas.openxmlformats.org/drawingml/2006/main">
              <a:ext uri="{FF2B5EF4-FFF2-40B4-BE49-F238E27FC236}">
                <a16:creationId xmlns:a16="http://schemas.microsoft.com/office/drawing/2014/main" id="{FB1FA9B2-FD2D-44BD-BB71-7F04AE27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28800"/>
            <a:ext cx="3228975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flow-tag-3">
            <a:extLst xmlns:a="http://schemas.openxmlformats.org/drawingml/2006/main">
              <a:ext uri="{FF2B5EF4-FFF2-40B4-BE49-F238E27FC236}">
                <a16:creationId xmlns:a16="http://schemas.microsoft.com/office/drawing/2014/main" id="{921C9730-4495-4F1D-86CF-F69F4716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733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FORCED</a:t>
            </a:r>
          </a:p>
        </p:txBody>
      </p:sp>
      <p:sp>
        <p:nvSpPr>
          <p:cNvPr id="14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DD492464-883B-4E50-AB82-134F2B56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7336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Finish(a)</a:t>
            </a:r>
          </a:p>
        </p:txBody>
      </p:sp>
      <p:sp>
        <p:nvSpPr>
          <p:cNvPr id="15" name="start-bullet-1-dot">
            <a:extLst xmlns:a="http://schemas.openxmlformats.org/drawingml/2006/main">
              <a:ext uri="{FF2B5EF4-FFF2-40B4-BE49-F238E27FC236}">
                <a16:creationId xmlns:a16="http://schemas.microsoft.com/office/drawing/2014/main" id="{6CE80F53-D28E-428A-A57E-06A064DE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6" name="start-bullet-1">
            <a:extLst xmlns:a="http://schemas.openxmlformats.org/drawingml/2006/main">
              <a:ext uri="{FF2B5EF4-FFF2-40B4-BE49-F238E27FC236}">
                <a16:creationId xmlns:a16="http://schemas.microsoft.com/office/drawing/2014/main" id="{3F3063A4-AB9A-4240-B881-82C5BA1E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 start conditions</a:t>
            </a:r>
          </a:p>
        </p:txBody>
      </p:sp>
      <p:sp>
        <p:nvSpPr>
          <p:cNvPr id="17" name="start-bullet-2-dot">
            <a:extLst xmlns:a="http://schemas.openxmlformats.org/drawingml/2006/main">
              <a:ext uri="{FF2B5EF4-FFF2-40B4-BE49-F238E27FC236}">
                <a16:creationId xmlns:a16="http://schemas.microsoft.com/office/drawing/2014/main" id="{B63E08F7-F066-4469-9797-E2B1DBF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8" name="start-bullet-2">
            <a:extLst xmlns:a="http://schemas.openxmlformats.org/drawingml/2006/main">
              <a:ext uri="{FF2B5EF4-FFF2-40B4-BE49-F238E27FC236}">
                <a16:creationId xmlns:a16="http://schemas.microsoft.com/office/drawing/2014/main" id="{169A23F2-29A0-4E66-99EC-7F659250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start effects now</a:t>
            </a:r>
          </a:p>
        </p:txBody>
      </p:sp>
      <p:sp>
        <p:nvSpPr>
          <p:cNvPr id="19" name="start-bullet-3-dot">
            <a:extLst xmlns:a="http://schemas.openxmlformats.org/drawingml/2006/main">
              <a:ext uri="{FF2B5EF4-FFF2-40B4-BE49-F238E27FC236}">
                <a16:creationId xmlns:a16="http://schemas.microsoft.com/office/drawing/2014/main" id="{D50B8DF5-D438-47B4-8265-67502D52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20" name="start-bullet-3">
            <a:extLst xmlns:a="http://schemas.openxmlformats.org/drawingml/2006/main">
              <a:ext uri="{FF2B5EF4-FFF2-40B4-BE49-F238E27FC236}">
                <a16:creationId xmlns:a16="http://schemas.microsoft.com/office/drawing/2014/main" id="{11DF6184-5FEE-455B-BBF9-5DEA8DD0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(a, d(a)) to p</a:t>
            </a:r>
          </a:p>
        </p:txBody>
      </p:sp>
      <p:sp>
        <p:nvSpPr>
          <p:cNvPr id="21" name="running-bullet-1-dot">
            <a:extLst xmlns:a="http://schemas.openxmlformats.org/drawingml/2006/main">
              <a:ext uri="{FF2B5EF4-FFF2-40B4-BE49-F238E27FC236}">
                <a16:creationId xmlns:a16="http://schemas.microsoft.com/office/drawing/2014/main" id="{91C9D4CA-577E-459B-B907-32C842BD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22" name="running-bullet-1">
            <a:extLst xmlns:a="http://schemas.openxmlformats.org/drawingml/2006/main">
              <a:ext uri="{FF2B5EF4-FFF2-40B4-BE49-F238E27FC236}">
                <a16:creationId xmlns:a16="http://schemas.microsoft.com/office/drawing/2014/main" id="{EAC7691B-0C46-4A9D-AB6D-6BFF78B2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95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λₐ is time to completion</a:t>
            </a:r>
          </a:p>
        </p:txBody>
      </p:sp>
      <p:sp>
        <p:nvSpPr>
          <p:cNvPr id="23" name="running-bullet-2-dot">
            <a:extLst xmlns:a="http://schemas.openxmlformats.org/drawingml/2006/main">
              <a:ext uri="{FF2B5EF4-FFF2-40B4-BE49-F238E27FC236}">
                <a16:creationId xmlns:a16="http://schemas.microsoft.com/office/drawing/2014/main" id="{CD1D88C6-6EFD-4EA4-AA99-064F1F54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24" name="running-bullet-2">
            <a:extLst xmlns:a="http://schemas.openxmlformats.org/drawingml/2006/main">
              <a:ext uri="{FF2B5EF4-FFF2-40B4-BE49-F238E27FC236}">
                <a16:creationId xmlns:a16="http://schemas.microsoft.com/office/drawing/2014/main" id="{F08D8B0C-CBF2-491E-A3D6-F5D1F24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7814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Decrease λₐ as time advances</a:t>
            </a:r>
          </a:p>
        </p:txBody>
      </p:sp>
      <p:sp>
        <p:nvSpPr>
          <p:cNvPr id="25" name="running-bullet-3-dot">
            <a:extLst xmlns:a="http://schemas.openxmlformats.org/drawingml/2006/main">
              <a:ext uri="{FF2B5EF4-FFF2-40B4-BE49-F238E27FC236}">
                <a16:creationId xmlns:a16="http://schemas.microsoft.com/office/drawing/2014/main" id="{BC874DF8-AB77-4C79-91ED-9F6358B7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62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26" name="running-bullet-3">
            <a:extLst xmlns:a="http://schemas.openxmlformats.org/drawingml/2006/main">
              <a:ext uri="{FF2B5EF4-FFF2-40B4-BE49-F238E27FC236}">
                <a16:creationId xmlns:a16="http://schemas.microsoft.com/office/drawing/2014/main" id="{06AD8091-D96C-450F-90F3-2E1348F7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67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Protect overall conditions</a:t>
            </a:r>
          </a:p>
        </p:txBody>
      </p:sp>
      <p:sp>
        <p:nvSpPr>
          <p:cNvPr id="27" name="finish-bullet-1-dot">
            <a:extLst xmlns:a="http://schemas.openxmlformats.org/drawingml/2006/main">
              <a:ext uri="{FF2B5EF4-FFF2-40B4-BE49-F238E27FC236}">
                <a16:creationId xmlns:a16="http://schemas.microsoft.com/office/drawing/2014/main" id="{395FE99A-1645-4337-9E58-BBF1DB8E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28" name="finish-bullet-1">
            <a:extLst xmlns:a="http://schemas.openxmlformats.org/drawingml/2006/main">
              <a:ext uri="{FF2B5EF4-FFF2-40B4-BE49-F238E27FC236}">
                <a16:creationId xmlns:a16="http://schemas.microsoft.com/office/drawing/2014/main" id="{4623B7BA-D09B-4127-9A1C-8E1205B5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95650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Trigger when λₐ = 0</a:t>
            </a:r>
          </a:p>
        </p:txBody>
      </p:sp>
      <p:sp>
        <p:nvSpPr>
          <p:cNvPr id="29" name="finish-bullet-2-dot">
            <a:extLst xmlns:a="http://schemas.openxmlformats.org/drawingml/2006/main">
              <a:ext uri="{FF2B5EF4-FFF2-40B4-BE49-F238E27FC236}">
                <a16:creationId xmlns:a16="http://schemas.microsoft.com/office/drawing/2014/main" id="{46FBCE9C-D3CE-445B-A003-807B5EDA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30" name="finish-bullet-2">
            <a:extLst xmlns:a="http://schemas.openxmlformats.org/drawingml/2006/main">
              <a:ext uri="{FF2B5EF4-FFF2-40B4-BE49-F238E27FC236}">
                <a16:creationId xmlns:a16="http://schemas.microsoft.com/office/drawing/2014/main" id="{5B6C9420-8A38-4A7E-AF6E-AD1B1F70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814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 end conditions</a:t>
            </a:r>
          </a:p>
        </p:txBody>
      </p:sp>
      <p:sp>
        <p:nvSpPr>
          <p:cNvPr id="31" name="finish-bullet-3-dot">
            <a:extLst xmlns:a="http://schemas.openxmlformats.org/drawingml/2006/main">
              <a:ext uri="{FF2B5EF4-FFF2-40B4-BE49-F238E27FC236}">
                <a16:creationId xmlns:a16="http://schemas.microsoft.com/office/drawing/2014/main" id="{44E00370-F81A-4058-AE87-CAC3C540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62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32" name="finish-bullet-3">
            <a:extLst xmlns:a="http://schemas.openxmlformats.org/drawingml/2006/main">
              <a:ext uri="{FF2B5EF4-FFF2-40B4-BE49-F238E27FC236}">
                <a16:creationId xmlns:a16="http://schemas.microsoft.com/office/drawing/2014/main" id="{40269C13-C1ED-4D0B-8295-D30864F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67200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0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end effects; remove a from p</a:t>
            </a:r>
          </a:p>
        </p:txBody>
      </p:sp>
      <p:sp>
        <p:nvSpPr>
          <p:cNvPr id="33" name="one-record-callout">
            <a:extLst xmlns:a="http://schemas.openxmlformats.org/drawingml/2006/main">
              <a:ext uri="{FF2B5EF4-FFF2-40B4-BE49-F238E27FC236}">
                <a16:creationId xmlns:a16="http://schemas.microsoft.com/office/drawing/2014/main" id="{F51048B2-D5DD-44BC-B486-E3857EF6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9048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34" name="one-record-text">
            <a:extLst xmlns:a="http://schemas.openxmlformats.org/drawingml/2006/main">
              <a:ext uri="{FF2B5EF4-FFF2-40B4-BE49-F238E27FC236}">
                <a16:creationId xmlns:a16="http://schemas.microsoft.com/office/drawing/2014/main" id="{BEEA9632-97F7-435B-A073-E946EA54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10225"/>
            <a:ext cx="8477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durative action = one running record in p — not two running actions</a:t>
            </a:r>
          </a:p>
        </p:txBody>
      </p:sp>
    </p:spTree>
    <p:extLst>
      <p:ext uri="{BB962C8B-B14F-4D97-AF65-F5344CB8AC3E}">
        <p14:creationId xmlns:p14="http://schemas.microsoft.com/office/powerpoint/2010/main" val="724474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137B4A8-58C5-4C82-B98F-CDC070F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compiled model uses only event-start conditions</a:t>
            </a:r>
          </a:p>
        </p:txBody>
      </p:sp>
      <p:sp>
        <p:nvSpPr>
          <p:cNvPr id="2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DBB8CE76-A9E2-459F-8498-BB27392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926EB653-DCEE-4060-A2E4-61D1A6B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tart-definition-panel">
            <a:extLst xmlns:a="http://schemas.openxmlformats.org/drawingml/2006/main">
              <a:ext uri="{FF2B5EF4-FFF2-40B4-BE49-F238E27FC236}">
                <a16:creationId xmlns:a16="http://schemas.microsoft.com/office/drawing/2014/main" id="{987866F2-DCF6-4A1C-9629-2CE5CAC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5391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art-definition-title">
            <a:extLst xmlns:a="http://schemas.openxmlformats.org/drawingml/2006/main">
              <a:ext uri="{FF2B5EF4-FFF2-40B4-BE49-F238E27FC236}">
                <a16:creationId xmlns:a16="http://schemas.microsoft.com/office/drawing/2014/main" id="{944FA7A8-0ABE-4924-AB68-5ED83F6E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Start(a) — selected in U</a:t>
            </a:r>
          </a:p>
        </p:txBody>
      </p:sp>
      <p:sp>
        <p:nvSpPr>
          <p:cNvPr id="6" name="start-pre">
            <a:extLst xmlns:a="http://schemas.openxmlformats.org/drawingml/2006/main">
              <a:ext uri="{FF2B5EF4-FFF2-40B4-BE49-F238E27FC236}">
                <a16:creationId xmlns:a16="http://schemas.microsoft.com/office/drawing/2014/main" id="{F3410EC5-BAD1-4C0C-8C2D-794CF53E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   = startCond(a)</a:t>
            </a:r>
          </a:p>
        </p:txBody>
      </p:sp>
      <p:sp>
        <p:nvSpPr>
          <p:cNvPr id="7" name="start-eff">
            <a:extLst xmlns:a="http://schemas.openxmlformats.org/drawingml/2006/main">
              <a:ext uri="{FF2B5EF4-FFF2-40B4-BE49-F238E27FC236}">
                <a16:creationId xmlns:a16="http://schemas.microsoft.com/office/drawing/2014/main" id="{150374C5-B397-4C91-9245-6816375B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eff    = startEff(a) ∪ {Running(a)}</a:t>
            </a:r>
          </a:p>
        </p:txBody>
      </p:sp>
      <p:sp>
        <p:nvSpPr>
          <p:cNvPr id="8" name="start-p">
            <a:extLst xmlns:a="http://schemas.openxmlformats.org/drawingml/2006/main">
              <a:ext uri="{FF2B5EF4-FFF2-40B4-BE49-F238E27FC236}">
                <a16:creationId xmlns:a16="http://schemas.microsoft.com/office/drawing/2014/main" id="{B8A453BB-7D22-442A-B661-32015A6F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  ←  p ∪ {(a, d(a))}</a:t>
            </a:r>
          </a:p>
        </p:txBody>
      </p:sp>
      <p:sp>
        <p:nvSpPr>
          <p:cNvPr id="9" name="start-time">
            <a:extLst xmlns:a="http://schemas.openxmlformats.org/drawingml/2006/main">
              <a:ext uri="{FF2B5EF4-FFF2-40B4-BE49-F238E27FC236}">
                <a16:creationId xmlns:a16="http://schemas.microsoft.com/office/drawing/2014/main" id="{C833628F-2A5F-4CFD-8E7B-75E39BBF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Start effects occur at remaining time r</a:t>
            </a:r>
          </a:p>
        </p:txBody>
      </p:sp>
      <p:sp>
        <p:nvSpPr>
          <p:cNvPr id="10" name="finish-definition-panel">
            <a:extLst xmlns:a="http://schemas.openxmlformats.org/drawingml/2006/main">
              <a:ext uri="{FF2B5EF4-FFF2-40B4-BE49-F238E27FC236}">
                <a16:creationId xmlns:a16="http://schemas.microsoft.com/office/drawing/2014/main" id="{E217BEF0-27A1-4EE5-AFBD-22EB6EC1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52575"/>
            <a:ext cx="5791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19050">
            <a:solidFill>
              <a:srgbClr val="3187F5"/>
            </a:solidFill>
            <a:prstDash val="solid"/>
          </a:ln>
        </p:spPr>
      </p:sp>
      <p:sp>
        <p:nvSpPr>
          <p:cNvPr id="11" name="finish-definition-title">
            <a:extLst xmlns:a="http://schemas.openxmlformats.org/drawingml/2006/main">
              <a:ext uri="{FF2B5EF4-FFF2-40B4-BE49-F238E27FC236}">
                <a16:creationId xmlns:a16="http://schemas.microsoft.com/office/drawing/2014/main" id="{008BE2AF-215F-41AF-8F68-820B4B50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43075"/>
            <a:ext cx="5257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Finish(a) — forced when λₐ = 0</a:t>
            </a:r>
          </a:p>
        </p:txBody>
      </p:sp>
      <p:sp>
        <p:nvSpPr>
          <p:cNvPr id="12" name="finish-pre">
            <a:extLst xmlns:a="http://schemas.openxmlformats.org/drawingml/2006/main">
              <a:ext uri="{FF2B5EF4-FFF2-40B4-BE49-F238E27FC236}">
                <a16:creationId xmlns:a16="http://schemas.microsoft.com/office/drawing/2014/main" id="{3C54EA43-362E-4941-9F05-F420C2CC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   = Running(a) ∧ endCond(a)</a:t>
            </a:r>
          </a:p>
        </p:txBody>
      </p:sp>
      <p:sp>
        <p:nvSpPr>
          <p:cNvPr id="13" name="finish-eff">
            <a:extLst xmlns:a="http://schemas.openxmlformats.org/drawingml/2006/main">
              <a:ext uri="{FF2B5EF4-FFF2-40B4-BE49-F238E27FC236}">
                <a16:creationId xmlns:a16="http://schemas.microsoft.com/office/drawing/2014/main" id="{0CF86A37-D577-48E7-B933-1E0452EA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28925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eff    = endEff(a) ∪ {¬Running(a)}</a:t>
            </a:r>
          </a:p>
        </p:txBody>
      </p:sp>
      <p:sp>
        <p:nvSpPr>
          <p:cNvPr id="14" name="finish-p">
            <a:extLst xmlns:a="http://schemas.openxmlformats.org/drawingml/2006/main">
              <a:ext uri="{FF2B5EF4-FFF2-40B4-BE49-F238E27FC236}">
                <a16:creationId xmlns:a16="http://schemas.microsoft.com/office/drawing/2014/main" id="{85F2CF79-834A-44DB-A894-6458911B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  ←  p \ {(a, 0)}</a:t>
            </a:r>
          </a:p>
        </p:txBody>
      </p:sp>
      <p:sp>
        <p:nvSpPr>
          <p:cNvPr id="15" name="finish-time">
            <a:extLst xmlns:a="http://schemas.openxmlformats.org/drawingml/2006/main">
              <a:ext uri="{FF2B5EF4-FFF2-40B4-BE49-F238E27FC236}">
                <a16:creationId xmlns:a16="http://schemas.microsoft.com/office/drawing/2014/main" id="{16F697C7-93AB-477B-BAF3-E0A4294E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76675"/>
            <a:ext cx="499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The original end outcome is sampled here</a:t>
            </a:r>
          </a:p>
        </p:txBody>
      </p:sp>
      <p:sp>
        <p:nvSpPr>
          <p:cNvPr id="16" name="remaining-time-line">
            <a:extLst xmlns:a="http://schemas.openxmlformats.org/drawingml/2006/main">
              <a:ext uri="{FF2B5EF4-FFF2-40B4-BE49-F238E27FC236}">
                <a16:creationId xmlns:a16="http://schemas.microsoft.com/office/drawing/2014/main" id="{E925ABB3-F3B6-4A92-A0C0-6BD394AF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9172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7" name="tick-r">
            <a:extLst xmlns:a="http://schemas.openxmlformats.org/drawingml/2006/main">
              <a:ext uri="{FF2B5EF4-FFF2-40B4-BE49-F238E27FC236}">
                <a16:creationId xmlns:a16="http://schemas.microsoft.com/office/drawing/2014/main" id="{29D63592-FE1B-4EE5-AC02-6E7041F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339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8" name="tick-event">
            <a:extLst xmlns:a="http://schemas.openxmlformats.org/drawingml/2006/main">
              <a:ext uri="{FF2B5EF4-FFF2-40B4-BE49-F238E27FC236}">
                <a16:creationId xmlns:a16="http://schemas.microsoft.com/office/drawing/2014/main" id="{9840E642-74B2-4ECF-87BD-F2850AF1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9339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tick-finish">
            <a:extLst xmlns:a="http://schemas.openxmlformats.org/drawingml/2006/main">
              <a:ext uri="{FF2B5EF4-FFF2-40B4-BE49-F238E27FC236}">
                <a16:creationId xmlns:a16="http://schemas.microsoft.com/office/drawing/2014/main" id="{8C0E790F-4A98-4FA5-A594-5797F2C0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339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0" name="time-r">
            <a:extLst xmlns:a="http://schemas.openxmlformats.org/drawingml/2006/main">
              <a:ext uri="{FF2B5EF4-FFF2-40B4-BE49-F238E27FC236}">
                <a16:creationId xmlns:a16="http://schemas.microsoft.com/office/drawing/2014/main" id="{2CB83A10-1566-4CAE-B5F3-CBB7548C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Start(a)</a:t>
            </a:r>
          </a:p>
        </p:txBody>
      </p:sp>
      <p:sp>
        <p:nvSpPr>
          <p:cNvPr id="21" name="time-event">
            <a:extLst xmlns:a="http://schemas.openxmlformats.org/drawingml/2006/main">
              <a:ext uri="{FF2B5EF4-FFF2-40B4-BE49-F238E27FC236}">
                <a16:creationId xmlns:a16="http://schemas.microsoft.com/office/drawing/2014/main" id="{5D968BE7-5EB3-4C33-A0DB-D1DE2CB1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673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 − Δ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event</a:t>
            </a:r>
          </a:p>
        </p:txBody>
      </p:sp>
      <p:sp>
        <p:nvSpPr>
          <p:cNvPr id="22" name="time-finish">
            <a:extLst xmlns:a="http://schemas.openxmlformats.org/drawingml/2006/main">
              <a:ext uri="{FF2B5EF4-FFF2-40B4-BE49-F238E27FC236}">
                <a16:creationId xmlns:a16="http://schemas.microsoft.com/office/drawing/2014/main" id="{9A90F1CC-7C92-4B71-A42E-E4D114EA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673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 − d(a)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Finish(a)</a:t>
            </a:r>
          </a:p>
        </p:txBody>
      </p:sp>
      <p:sp>
        <p:nvSpPr>
          <p:cNvPr id="23" name="time-caption">
            <a:extLst xmlns:a="http://schemas.openxmlformats.org/drawingml/2006/main">
              <a:ext uri="{FF2B5EF4-FFF2-40B4-BE49-F238E27FC236}">
                <a16:creationId xmlns:a16="http://schemas.microsoft.com/office/drawing/2014/main" id="{2945BE6D-F284-42B6-BB64-F75883A6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remaining time decreases</a:t>
            </a:r>
          </a:p>
        </p:txBody>
      </p:sp>
      <p:sp>
        <p:nvSpPr>
          <p:cNvPr id="24" name="overall-note">
            <a:extLst xmlns:a="http://schemas.openxmlformats.org/drawingml/2006/main">
              <a:ext uri="{FF2B5EF4-FFF2-40B4-BE49-F238E27FC236}">
                <a16:creationId xmlns:a16="http://schemas.microsoft.com/office/drawing/2014/main" id="{9A5E3C92-EBB1-46B1-B9A3-CD6E1859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7410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While Running(a): every dispatch must preserve overallCond(a)</a:t>
            </a:r>
          </a:p>
        </p:txBody>
      </p:sp>
      <p:sp>
        <p:nvSpPr>
          <p:cNvPr id="25" name="deadline-note">
            <a:extLst xmlns:a="http://schemas.openxmlformats.org/drawingml/2006/main">
              <a:ext uri="{FF2B5EF4-FFF2-40B4-BE49-F238E27FC236}">
                <a16:creationId xmlns:a16="http://schemas.microsoft.com/office/drawing/2014/main" id="{86EF07A5-1762-4EA2-ACAB-0E23F4A6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1531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Completion deadline: d(a) ≤ r</a:t>
            </a:r>
          </a:p>
        </p:txBody>
      </p:sp>
    </p:spTree>
    <p:extLst>
      <p:ext uri="{BB962C8B-B14F-4D97-AF65-F5344CB8AC3E}">
        <p14:creationId xmlns:p14="http://schemas.microsoft.com/office/powerpoint/2010/main" val="1617403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2026-08-25T09:29:49.6530000Z</dcterms:created>
  <dcterms:modified xsi:type="dcterms:W3CDTF">2026-08-25T09:29:49.6530000Z</dcterms:modified>
</coreProperties>
</file>
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4f82474dbc4c99" /><Relationship Type="http://schemas.openxmlformats.org/officeDocument/2006/relationships/extended-properties" Target="/docProps/app.xml" Id="R143d99a9b7704114" /><Relationship Type="http://schemas.openxmlformats.org/officeDocument/2006/relationships/officeDocument" Target="/ppt/presentation.xml" Id="R255e6c15497f47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0e3d097f2943cd"/>
  </p:sldMasterIdLst>
  <p:notesMasterIdLst>
    <p:notesMasterId xmlns:r="http://schemas.openxmlformats.org/officeDocument/2006/relationships" r:id="R0e8f708e5f8f4c67"/>
  </p:notesMasterIdLst>
  <p:sldIdLst>
    <p:sldId xmlns:r="http://schemas.openxmlformats.org/officeDocument/2006/relationships" id="256" r:id="R741f10da68d14d6e"/>
    <p:sldId xmlns:r="http://schemas.openxmlformats.org/officeDocument/2006/relationships" id="257" r:id="R11cd7fb1ab894f21"/>
    <p:sldId xmlns:r="http://schemas.openxmlformats.org/officeDocument/2006/relationships" id="258" r:id="R08431a4c8d254dd5"/>
    <p:sldId xmlns:r="http://schemas.openxmlformats.org/officeDocument/2006/relationships" id="259" r:id="Ra7fc84e6b8a742d4"/>
    <p:sldId xmlns:r="http://schemas.openxmlformats.org/officeDocument/2006/relationships" id="260" r:id="R5fc562bf91b54c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73642f19214323" /><Relationship Type="http://schemas.openxmlformats.org/officeDocument/2006/relationships/slideMaster" Target="/ppt/slideMasters/slideMaster1.xml" Id="R960e3d097f2943cd" /><Relationship Type="http://schemas.openxmlformats.org/officeDocument/2006/relationships/notesMaster" Target="/ppt/notesMasters/notesMaster1.xml" Id="R0e8f708e5f8f4c67" /><Relationship Type="http://schemas.openxmlformats.org/officeDocument/2006/relationships/presProps" Target="/ppt/presProps.xml" Id="R85ba97f3bef74cd3" /><Relationship Type="http://schemas.openxmlformats.org/officeDocument/2006/relationships/tableStyles" Target="/ppt/tableStyles.xml" Id="Rce6aa5c0ffa341b0" /><Relationship Type="http://schemas.openxmlformats.org/officeDocument/2006/relationships/slide" Target="/ppt/slides/slide1.xml" Id="R741f10da68d14d6e" /><Relationship Type="http://schemas.openxmlformats.org/officeDocument/2006/relationships/slide" Target="/ppt/slides/slide2.xml" Id="R11cd7fb1ab894f21" /><Relationship Type="http://schemas.openxmlformats.org/officeDocument/2006/relationships/slide" Target="/ppt/slides/slide3.xml" Id="R08431a4c8d254dd5" /><Relationship Type="http://schemas.openxmlformats.org/officeDocument/2006/relationships/slide" Target="/ppt/slides/slide4.xml" Id="Ra7fc84e6b8a742d4" /><Relationship Type="http://schemas.openxmlformats.org/officeDocument/2006/relationships/slide" Target="/ppt/slides/slide5.xml" Id="R5fc562bf91b54c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cf2b338c6741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742b77b1b64b7e" /><Relationship Type="http://schemas.openxmlformats.org/officeDocument/2006/relationships/notesMaster" Target="/ppt/notesMasters/notesMaster1.xml" Id="R017c8f74a740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a368e9df16434d" /><Relationship Type="http://schemas.openxmlformats.org/officeDocument/2006/relationships/notesMaster" Target="/ppt/notesMasters/notesMaster1.xml" Id="R0b41275397f845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249c7f933e4543" /><Relationship Type="http://schemas.openxmlformats.org/officeDocument/2006/relationships/notesMaster" Target="/ppt/notesMasters/notesMaster1.xml" Id="R65ebc68319a8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3edde4e081430e" /><Relationship Type="http://schemas.openxmlformats.org/officeDocument/2006/relationships/notesMaster" Target="/ppt/notesMasters/notesMaster1.xml" Id="Rfd77233f54db46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c6328fbd654b52" /><Relationship Type="http://schemas.openxmlformats.org/officeDocument/2006/relationships/notesMaster" Target="/ppt/notesMasters/notesMaster1.xml" Id="Rd3b447b83fbb41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Goal: define the CoMDP+ to event-driven MDP reformulation before introducing a PDB abstraction.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CoMDP+ → event-driven MDP formulation, this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 must identify action instances if multiple instances of one ground action may overlap.</a:t>
            </a:r>
          </a:p>
          <a:p xmlns:a="http://schemas.openxmlformats.org/drawingml/2006/main">
            <a:r>
              <a:t>The Markov claim assumes that future durations and outcome probabilities are determined by the state.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state representation, this task.</a:t>
            </a:r>
          </a:p>
          <a:p xmlns:a="http://schemas.openxmlformats.org/drawingml/2006/main">
            <a:r>
              <a:t>- C:/Users/eliezer/Documents/hw2_exam/TP_MCTS/comdp_plus_no_deadline/engines/exact_pattern_mdp.py, model description lines 35–46.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empty set is the noop; noop is not an additional member of a non-empty dispatch set.</a:t>
            </a:r>
          </a:p>
          <a:p xmlns:a="http://schemas.openxmlformats.org/drawingml/2006/main">
            <a:r>
              <a:t>The model must state whether U is selected atomically before start outcomes, or may adapt to an observed start outcome at the same time.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group-action semantics, this task.</a:t>
            </a:r>
          </a:p>
          <a:p xmlns:a="http://schemas.openxmlformats.org/drawingml/2006/main">
            <a:r>
              <a:t>- C:/Users/eliezer/Documents/hw2_exam/TP_MCTS/comdp_plus_no_deadline/engines/exact_pattern_mdp.py, dispatch semantics lines 466–505.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minimum determines elapsed time. The transition probability also includes the joint distribution of start and end outcomes.</a:t>
            </a:r>
          </a:p>
          <a:p xmlns:a="http://schemas.openxmlformats.org/drawingml/2006/main">
            <a:r>
              <a:t>If U and p are both empty, no future event exists; without the goal, this is failure.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earliest-completion transition, this task.</a:t>
            </a:r>
          </a:p>
          <a:p xmlns:a="http://schemas.openxmlformats.org/drawingml/2006/main">
            <a:r>
              <a:t>- C:/Users/eliezer/Documents/hw2_exam/TP_MCTS/comdp_plus_no_deadline/engines/exact_pattern_mdp.py, advance/completion logic lines 507–558.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state is Markov if it includes all information affecting applicability, timing, and outcome probabilities.</a:t>
            </a:r>
          </a:p>
          <a:p xmlns:a="http://schemas.openxmlformats.org/drawingml/2006/main">
            <a:r>
              <a:t>Defining the transition does not by itself prove that restricting start times preserves the optimal value.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User-proposed AND/OR interpretation, this task.</a:t>
            </a:r>
          </a:p>
          <a:p xmlns:a="http://schemas.openxmlformats.org/drawingml/2006/main">
            <a:r>
              <a:t>- C:/Users/eliezer/Documents/hw2_exam/TP_MCTS/comdp_plus_no_deadline/engines/exact_pattern_mdp.py, admissibility caveat lines 67–77.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c35cd91be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1a28a9527c4761" /><Relationship Type="http://schemas.openxmlformats.org/officeDocument/2006/relationships/slideLayout" Target="/ppt/slideLayouts/slideLayout1.xml" Id="R7bd9e4b87d9145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9e4b87d9145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f3e970e4f483b" /><Relationship Type="http://schemas.openxmlformats.org/officeDocument/2006/relationships/notesSlide" Target="/ppt/notesSlides/notesSlide1.xml" Id="Rf1860219bc1d4c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7ec17e334a5c" /><Relationship Type="http://schemas.openxmlformats.org/officeDocument/2006/relationships/notesSlide" Target="/ppt/notesSlides/notesSlide2.xml" Id="R6674e470ba3842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c037ea4614121" /><Relationship Type="http://schemas.openxmlformats.org/officeDocument/2006/relationships/notesSlide" Target="/ppt/notesSlides/notesSlide3.xml" Id="R2a17dd257eb7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53bc5b8184820" /><Relationship Type="http://schemas.openxmlformats.org/officeDocument/2006/relationships/notesSlide" Target="/ppt/notesSlides/notesSlide4.xml" Id="Ra870826110a442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64bd2f21c4f3f" /><Relationship Type="http://schemas.openxmlformats.org/officeDocument/2006/relationships/notesSlide" Target="/ppt/notesSlides/notesSlide5.xml" Id="Rc53f8b650fa040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5652959-4ED8-4946-AF35-4D8B8975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TEMPORAL STOCHASTIC PLANNING</a:t>
            </a:r>
          </a:p>
        </p:txBody>
      </p:sp>
      <p:sp>
        <p:nvSpPr>
          <p:cNvPr id="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4A308D8E-F2EA-417C-A7A9-5FA9019C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"/>
            <a:ext cx="3409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THEORETICAL MODEL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66964A31-A1A7-4B3A-98B9-9A9F3373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952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CECBF1-236F-4CAD-BBD1-CB0EAAF8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CoMDP+ to an</a:t>
            </a:r>
          </a:p>
          <a:p xmlns:a="http://schemas.openxmlformats.org/drawingml/2006/main">
            <a:pPr algn="l">
              <a:defRPr sz="4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event-driven MDP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59CBB85-1A25-4C04-BDD7-995E6A8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 Markov state for facts, remaining time, and running actions</a:t>
            </a:r>
          </a:p>
        </p:txBody>
      </p:sp>
    </p:spTree>
    <p:extLst>
      <p:ext uri="{BB962C8B-B14F-4D97-AF65-F5344CB8AC3E}">
        <p14:creationId xmlns:p14="http://schemas.microsoft.com/office/powerpoint/2010/main" val="1996321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B004E17-9749-48C8-9FF3-388FD15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 retains the information needed for the future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0DA4CEB9-7E61-4766-A875-30EB3BD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D82F412-7FCF-4306-B6C7-1326ADD3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state-equation">
            <a:extLst xmlns:a="http://schemas.openxmlformats.org/drawingml/2006/main">
              <a:ext uri="{FF2B5EF4-FFF2-40B4-BE49-F238E27FC236}">
                <a16:creationId xmlns:a16="http://schemas.microsoft.com/office/drawing/2014/main" id="{5D7206F8-774C-45CF-8CB1-8866D0A9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 = (x, r, p)</a:t>
            </a:r>
          </a:p>
        </p:txBody>
      </p:sp>
      <p:sp>
        <p:nvSpPr>
          <p:cNvPr id="5" name="state-accent-rule">
            <a:extLst xmlns:a="http://schemas.openxmlformats.org/drawingml/2006/main">
              <a:ext uri="{FF2B5EF4-FFF2-40B4-BE49-F238E27FC236}">
                <a16:creationId xmlns:a16="http://schemas.microsoft.com/office/drawing/2014/main" id="{6EF52518-2AA4-4714-803C-D8EDD7B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241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state-panel-1">
            <a:extLst xmlns:a="http://schemas.openxmlformats.org/drawingml/2006/main">
              <a:ext uri="{FF2B5EF4-FFF2-40B4-BE49-F238E27FC236}">
                <a16:creationId xmlns:a16="http://schemas.microsoft.com/office/drawing/2014/main" id="{DF6B31CA-FD2E-4DF4-9F31-DD510DD1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35623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ate-label-1">
            <a:extLst xmlns:a="http://schemas.openxmlformats.org/drawingml/2006/main">
              <a:ext uri="{FF2B5EF4-FFF2-40B4-BE49-F238E27FC236}">
                <a16:creationId xmlns:a16="http://schemas.microsoft.com/office/drawing/2014/main" id="{664E9234-1265-435A-81F0-F8A6397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x — facts</a:t>
            </a:r>
          </a:p>
        </p:txBody>
      </p:sp>
      <p:sp>
        <p:nvSpPr>
          <p:cNvPr id="8" name="state-body-1">
            <a:extLst xmlns:a="http://schemas.openxmlformats.org/drawingml/2006/main">
              <a:ext uri="{FF2B5EF4-FFF2-40B4-BE49-F238E27FC236}">
                <a16:creationId xmlns:a16="http://schemas.microsoft.com/office/drawing/2014/main" id="{514924BB-D88E-46A4-81B2-4EBB337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facts that are true in the current world state.</a:t>
            </a:r>
          </a:p>
        </p:txBody>
      </p:sp>
      <p:sp>
        <p:nvSpPr>
          <p:cNvPr id="9" name="state-panel-2">
            <a:extLst xmlns:a="http://schemas.openxmlformats.org/drawingml/2006/main">
              <a:ext uri="{FF2B5EF4-FFF2-40B4-BE49-F238E27FC236}">
                <a16:creationId xmlns:a16="http://schemas.microsoft.com/office/drawing/2014/main" id="{2ED689B8-147B-4669-A606-1B5F246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95675"/>
            <a:ext cx="35623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tate-label-2">
            <a:extLst xmlns:a="http://schemas.openxmlformats.org/drawingml/2006/main">
              <a:ext uri="{FF2B5EF4-FFF2-40B4-BE49-F238E27FC236}">
                <a16:creationId xmlns:a16="http://schemas.microsoft.com/office/drawing/2014/main" id="{CECE195D-0213-48EF-A4B3-60BAF30F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052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 — remaining time</a:t>
            </a:r>
          </a:p>
        </p:txBody>
      </p:sp>
      <p:sp>
        <p:nvSpPr>
          <p:cNvPr id="11" name="state-body-2">
            <a:extLst xmlns:a="http://schemas.openxmlformats.org/drawingml/2006/main">
              <a:ext uri="{FF2B5EF4-FFF2-40B4-BE49-F238E27FC236}">
                <a16:creationId xmlns:a16="http://schemas.microsoft.com/office/drawing/2014/main" id="{71D83438-5545-4F63-B32B-F59D3EFB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243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Time from the current point to the deadline.</a:t>
            </a:r>
          </a:p>
        </p:txBody>
      </p:sp>
      <p:sp>
        <p:nvSpPr>
          <p:cNvPr id="12" name="state-panel-3">
            <a:extLst xmlns:a="http://schemas.openxmlformats.org/drawingml/2006/main">
              <a:ext uri="{FF2B5EF4-FFF2-40B4-BE49-F238E27FC236}">
                <a16:creationId xmlns:a16="http://schemas.microsoft.com/office/drawing/2014/main" id="{8D7C6F22-05F4-4AAF-9C70-0912864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95675"/>
            <a:ext cx="35623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tate-label-3">
            <a:extLst xmlns:a="http://schemas.openxmlformats.org/drawingml/2006/main">
              <a:ext uri="{FF2B5EF4-FFF2-40B4-BE49-F238E27FC236}">
                <a16:creationId xmlns:a16="http://schemas.microsoft.com/office/drawing/2014/main" id="{18D4458A-1BDE-4FEC-953F-AB54F7C4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052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— running actions</a:t>
            </a:r>
          </a:p>
        </p:txBody>
      </p:sp>
      <p:sp>
        <p:nvSpPr>
          <p:cNvPr id="14" name="state-body-3">
            <a:extLst xmlns:a="http://schemas.openxmlformats.org/drawingml/2006/main">
              <a:ext uri="{FF2B5EF4-FFF2-40B4-BE49-F238E27FC236}">
                <a16:creationId xmlns:a16="http://schemas.microsoft.com/office/drawing/2014/main" id="{CABF6404-4B95-4DEF-98A9-66559A0B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314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action instance and its remaining duration.</a:t>
            </a:r>
          </a:p>
        </p:txBody>
      </p:sp>
      <p:sp>
        <p:nvSpPr>
          <p:cNvPr id="15" name="state-markov">
            <a:extLst xmlns:a="http://schemas.openxmlformats.org/drawingml/2006/main">
              <a:ext uri="{FF2B5EF4-FFF2-40B4-BE49-F238E27FC236}">
                <a16:creationId xmlns:a16="http://schemas.microsoft.com/office/drawing/2014/main" id="{A3DB68F3-F904-4523-A6E5-240D732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10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history is unnecessary if s determines applicability and the next-state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7161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DB97487-CF19-4B2B-8992-75F0362A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 MDP action is a same-time dispatch set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0113F707-620C-40D5-859A-97B9D858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1822D3F1-D5FA-4B60-A34F-78CEEFF0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dispatch-equation">
            <a:extLst xmlns:a="http://schemas.openxmlformats.org/drawingml/2006/main">
              <a:ext uri="{FF2B5EF4-FFF2-40B4-BE49-F238E27FC236}">
                <a16:creationId xmlns:a16="http://schemas.microsoft.com/office/drawing/2014/main" id="{FAED118E-775F-4683-B3A1-35D69066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⊆ A_idle(s)</a:t>
            </a:r>
          </a:p>
        </p:txBody>
      </p:sp>
      <p:sp>
        <p:nvSpPr>
          <p:cNvPr id="5" name="dispatch-explanation">
            <a:extLst xmlns:a="http://schemas.openxmlformats.org/drawingml/2006/main">
              <a:ext uri="{FF2B5EF4-FFF2-40B4-BE49-F238E27FC236}">
                <a16:creationId xmlns:a16="http://schemas.microsoft.com/office/drawing/2014/main" id="{7F242E46-2397-4A86-A013-D40465C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Every action in U starts at the current decision point</a:t>
            </a:r>
          </a:p>
        </p:txBody>
      </p:sp>
      <p:sp>
        <p:nvSpPr>
          <p:cNvPr id="6" name="dispatch-wait-panel">
            <a:extLst xmlns:a="http://schemas.openxmlformats.org/drawingml/2006/main">
              <a:ext uri="{FF2B5EF4-FFF2-40B4-BE49-F238E27FC236}">
                <a16:creationId xmlns:a16="http://schemas.microsoft.com/office/drawing/2014/main" id="{B1178580-19B3-44EE-B039-2D642D9B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81475"/>
            <a:ext cx="3467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dispatch-wait">
            <a:extLst xmlns:a="http://schemas.openxmlformats.org/drawingml/2006/main">
              <a:ext uri="{FF2B5EF4-FFF2-40B4-BE49-F238E27FC236}">
                <a16:creationId xmlns:a16="http://schemas.microsoft.com/office/drawing/2014/main" id="{D973DE01-DA2B-42C6-BF31-2EA276A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05300"/>
            <a:ext cx="2990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 = ∅</a:t>
            </a:r>
          </a:p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wait / noop</a:t>
            </a:r>
          </a:p>
        </p:txBody>
      </p:sp>
      <p:sp>
        <p:nvSpPr>
          <p:cNvPr id="8" name="dispatch-conditions-panel">
            <a:extLst xmlns:a="http://schemas.openxmlformats.org/drawingml/2006/main">
              <a:ext uri="{FF2B5EF4-FFF2-40B4-BE49-F238E27FC236}">
                <a16:creationId xmlns:a16="http://schemas.microsoft.com/office/drawing/2014/main" id="{D3850B65-76A8-4B80-B51E-449F26B4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38300"/>
            <a:ext cx="54673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ispatch-conditions-title">
            <a:extLst xmlns:a="http://schemas.openxmlformats.org/drawingml/2006/main">
              <a:ext uri="{FF2B5EF4-FFF2-40B4-BE49-F238E27FC236}">
                <a16:creationId xmlns:a16="http://schemas.microsoft.com/office/drawing/2014/main" id="{6813AE75-7260-4D5B-8039-7FFC9A0F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set is applicable when</a:t>
            </a:r>
          </a:p>
        </p:txBody>
      </p:sp>
      <p:sp>
        <p:nvSpPr>
          <p:cNvPr id="10" name="dispatch-dot-1">
            <a:extLst xmlns:a="http://schemas.openxmlformats.org/drawingml/2006/main">
              <a:ext uri="{FF2B5EF4-FFF2-40B4-BE49-F238E27FC236}">
                <a16:creationId xmlns:a16="http://schemas.microsoft.com/office/drawing/2014/main" id="{EABD0CAF-7374-44F6-8D69-93A30383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dispatch-condition-1">
            <a:extLst xmlns:a="http://schemas.openxmlformats.org/drawingml/2006/main">
              <a:ext uri="{FF2B5EF4-FFF2-40B4-BE49-F238E27FC236}">
                <a16:creationId xmlns:a16="http://schemas.microsoft.com/office/drawing/2014/main" id="{85DBFCBE-CA3B-4C9D-AF17-1DA7945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pre_start(a) ⊆ x for every a ∈ U</a:t>
            </a:r>
          </a:p>
        </p:txBody>
      </p:sp>
      <p:sp>
        <p:nvSpPr>
          <p:cNvPr id="12" name="dispatch-dot-2">
            <a:extLst xmlns:a="http://schemas.openxmlformats.org/drawingml/2006/main">
              <a:ext uri="{FF2B5EF4-FFF2-40B4-BE49-F238E27FC236}">
                <a16:creationId xmlns:a16="http://schemas.microsoft.com/office/drawing/2014/main" id="{4FD3D898-D3A5-4CDD-829C-DFDAD479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dispatch-condition-2">
            <a:extLst xmlns:a="http://schemas.openxmlformats.org/drawingml/2006/main">
              <a:ext uri="{FF2B5EF4-FFF2-40B4-BE49-F238E27FC236}">
                <a16:creationId xmlns:a16="http://schemas.microsoft.com/office/drawing/2014/main" id="{8282663B-A9A1-4131-B80D-2FD27BED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146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forbidden instance of a is already running</a:t>
            </a:r>
          </a:p>
        </p:txBody>
      </p:sp>
      <p:sp>
        <p:nvSpPr>
          <p:cNvPr id="14" name="dispatch-dot-3">
            <a:extLst xmlns:a="http://schemas.openxmlformats.org/drawingml/2006/main">
              <a:ext uri="{FF2B5EF4-FFF2-40B4-BE49-F238E27FC236}">
                <a16:creationId xmlns:a16="http://schemas.microsoft.com/office/drawing/2014/main" id="{CAAB34A0-4729-477E-A58B-8C48F91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dispatch-condition-3">
            <a:extLst xmlns:a="http://schemas.openxmlformats.org/drawingml/2006/main">
              <a:ext uri="{FF2B5EF4-FFF2-40B4-BE49-F238E27FC236}">
                <a16:creationId xmlns:a16="http://schemas.microsoft.com/office/drawing/2014/main" id="{1E9E28E6-016E-49C6-B388-68A0C05E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242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inside U are mutually compatible</a:t>
            </a:r>
          </a:p>
        </p:txBody>
      </p:sp>
      <p:sp>
        <p:nvSpPr>
          <p:cNvPr id="16" name="dispatch-dot-4">
            <a:extLst xmlns:a="http://schemas.openxmlformats.org/drawingml/2006/main">
              <a:ext uri="{FF2B5EF4-FFF2-40B4-BE49-F238E27FC236}">
                <a16:creationId xmlns:a16="http://schemas.microsoft.com/office/drawing/2014/main" id="{3BC7D6F5-8157-4B9F-A146-40BC0B02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0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dispatch-condition-4">
            <a:extLst xmlns:a="http://schemas.openxmlformats.org/drawingml/2006/main">
              <a:ext uri="{FF2B5EF4-FFF2-40B4-BE49-F238E27FC236}">
                <a16:creationId xmlns:a16="http://schemas.microsoft.com/office/drawing/2014/main" id="{E57BCFA5-8961-45F5-ABF0-CBB186B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 is compatible with the actions already in p</a:t>
            </a:r>
          </a:p>
        </p:txBody>
      </p:sp>
    </p:spTree>
    <p:extLst>
      <p:ext uri="{BB962C8B-B14F-4D97-AF65-F5344CB8AC3E}">
        <p14:creationId xmlns:p14="http://schemas.microsoft.com/office/powerpoint/2010/main" val="128699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3F95B0C-FDDC-4DF8-BBB4-376DD57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transition advances to the earliest event</a:t>
            </a:r>
          </a:p>
        </p:txBody>
      </p:sp>
      <p:sp>
        <p:nvSpPr>
          <p:cNvPr id="2" name="slide-4-title-rule">
            <a:extLst xmlns:a="http://schemas.openxmlformats.org/drawingml/2006/main">
              <a:ext uri="{FF2B5EF4-FFF2-40B4-BE49-F238E27FC236}">
                <a16:creationId xmlns:a16="http://schemas.microsoft.com/office/drawing/2014/main" id="{4FABA070-E527-42D8-98D1-C4C3A37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88BA6162-6BEF-409D-84D2-B5B3E30B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transition-delta">
            <a:extLst xmlns:a="http://schemas.openxmlformats.org/drawingml/2006/main">
              <a:ext uri="{FF2B5EF4-FFF2-40B4-BE49-F238E27FC236}">
                <a16:creationId xmlns:a16="http://schemas.microsoft.com/office/drawing/2014/main" id="{8BAB8039-8102-4BFA-9E14-F4ED95E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428750"/>
            <a:ext cx="8458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Δ = min( r , min{ δₐ : (a,δₐ) ∈ p⁺ } )</a:t>
            </a:r>
          </a:p>
        </p:txBody>
      </p:sp>
      <p:sp>
        <p:nvSpPr>
          <p:cNvPr id="5" name="transition-arrow-291">
            <a:extLst xmlns:a="http://schemas.openxmlformats.org/drawingml/2006/main">
              <a:ext uri="{FF2B5EF4-FFF2-40B4-BE49-F238E27FC236}">
                <a16:creationId xmlns:a16="http://schemas.microsoft.com/office/drawing/2014/main" id="{DA54544E-46EE-4A16-9A45-D228DF4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ransition-arrow-601">
            <a:extLst xmlns:a="http://schemas.openxmlformats.org/drawingml/2006/main">
              <a:ext uri="{FF2B5EF4-FFF2-40B4-BE49-F238E27FC236}">
                <a16:creationId xmlns:a16="http://schemas.microsoft.com/office/drawing/2014/main" id="{64F7CEE6-0763-4F0F-BB83-22507CE7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ransition-arrow-911">
            <a:extLst xmlns:a="http://schemas.openxmlformats.org/drawingml/2006/main">
              <a:ext uri="{FF2B5EF4-FFF2-40B4-BE49-F238E27FC236}">
                <a16:creationId xmlns:a16="http://schemas.microsoft.com/office/drawing/2014/main" id="{3402D4AD-1516-4A0E-9BE9-CDD7B061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575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ransition-node-1">
            <a:extLst xmlns:a="http://schemas.openxmlformats.org/drawingml/2006/main">
              <a:ext uri="{FF2B5EF4-FFF2-40B4-BE49-F238E27FC236}">
                <a16:creationId xmlns:a16="http://schemas.microsoft.com/office/drawing/2014/main" id="{5AD7E802-70AE-4A89-AD51-74641C3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ransition-num-1">
            <a:extLst xmlns:a="http://schemas.openxmlformats.org/drawingml/2006/main">
              <a:ext uri="{FF2B5EF4-FFF2-40B4-BE49-F238E27FC236}">
                <a16:creationId xmlns:a16="http://schemas.microsoft.com/office/drawing/2014/main" id="{D900757F-DA94-4922-9710-61C5A7B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transition-heading-1">
            <a:extLst xmlns:a="http://schemas.openxmlformats.org/drawingml/2006/main">
              <a:ext uri="{FF2B5EF4-FFF2-40B4-BE49-F238E27FC236}">
                <a16:creationId xmlns:a16="http://schemas.microsoft.com/office/drawing/2014/main" id="{1BC0590C-D462-413C-BBFA-5E9168D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</a:t>
            </a:r>
          </a:p>
        </p:txBody>
      </p:sp>
      <p:sp>
        <p:nvSpPr>
          <p:cNvPr id="11" name="transition-body-1">
            <a:extLst xmlns:a="http://schemas.openxmlformats.org/drawingml/2006/main">
              <a:ext uri="{FF2B5EF4-FFF2-40B4-BE49-F238E27FC236}">
                <a16:creationId xmlns:a16="http://schemas.microsoft.com/office/drawing/2014/main" id="{5A15C095-9C78-4CD8-BAB1-3C46143E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Choose U and sample</a:t>
            </a:r>
          </a:p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start outcomes</a:t>
            </a:r>
          </a:p>
        </p:txBody>
      </p:sp>
      <p:sp>
        <p:nvSpPr>
          <p:cNvPr id="12" name="transition-node-2">
            <a:extLst xmlns:a="http://schemas.openxmlformats.org/drawingml/2006/main">
              <a:ext uri="{FF2B5EF4-FFF2-40B4-BE49-F238E27FC236}">
                <a16:creationId xmlns:a16="http://schemas.microsoft.com/office/drawing/2014/main" id="{FB2C8A1D-D68E-44D8-BC34-71E83A26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ransition-num-2">
            <a:extLst xmlns:a="http://schemas.openxmlformats.org/drawingml/2006/main">
              <a:ext uri="{FF2B5EF4-FFF2-40B4-BE49-F238E27FC236}">
                <a16:creationId xmlns:a16="http://schemas.microsoft.com/office/drawing/2014/main" id="{F9883F09-163B-45B2-9E71-6AE41A8C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ransition-heading-2">
            <a:extLst xmlns:a="http://schemas.openxmlformats.org/drawingml/2006/main">
              <a:ext uri="{FF2B5EF4-FFF2-40B4-BE49-F238E27FC236}">
                <a16:creationId xmlns:a16="http://schemas.microsoft.com/office/drawing/2014/main" id="{7924D7A4-BE56-4AC4-9CE8-7F2182A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Update p⁺</a:t>
            </a:r>
          </a:p>
        </p:txBody>
      </p:sp>
      <p:sp>
        <p:nvSpPr>
          <p:cNvPr id="15" name="transition-body-2">
            <a:extLst xmlns:a="http://schemas.openxmlformats.org/drawingml/2006/main">
              <a:ext uri="{FF2B5EF4-FFF2-40B4-BE49-F238E27FC236}">
                <a16:creationId xmlns:a16="http://schemas.microsoft.com/office/drawing/2014/main" id="{EDA5FD72-A45E-4E05-9658-08B3CB3F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Add (a,d(a))</a:t>
            </a:r>
          </a:p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for every a ∈ U</a:t>
            </a:r>
          </a:p>
        </p:txBody>
      </p:sp>
      <p:sp>
        <p:nvSpPr>
          <p:cNvPr id="16" name="transition-node-3">
            <a:extLst xmlns:a="http://schemas.openxmlformats.org/drawingml/2006/main">
              <a:ext uri="{FF2B5EF4-FFF2-40B4-BE49-F238E27FC236}">
                <a16:creationId xmlns:a16="http://schemas.microsoft.com/office/drawing/2014/main" id="{FE5047B4-C1C0-48A6-B12E-1EFA4955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ransition-num-3">
            <a:extLst xmlns:a="http://schemas.openxmlformats.org/drawingml/2006/main">
              <a:ext uri="{FF2B5EF4-FFF2-40B4-BE49-F238E27FC236}">
                <a16:creationId xmlns:a16="http://schemas.microsoft.com/office/drawing/2014/main" id="{267E73C8-3FFE-4F13-911F-C87AA394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ransition-heading-3">
            <a:extLst xmlns:a="http://schemas.openxmlformats.org/drawingml/2006/main">
              <a:ext uri="{FF2B5EF4-FFF2-40B4-BE49-F238E27FC236}">
                <a16:creationId xmlns:a16="http://schemas.microsoft.com/office/drawing/2014/main" id="{075371F2-8F12-46EC-8531-0B14EA9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 Δ</a:t>
            </a:r>
          </a:p>
        </p:txBody>
      </p:sp>
      <p:sp>
        <p:nvSpPr>
          <p:cNvPr id="19" name="transition-body-3">
            <a:extLst xmlns:a="http://schemas.openxmlformats.org/drawingml/2006/main">
              <a:ext uri="{FF2B5EF4-FFF2-40B4-BE49-F238E27FC236}">
                <a16:creationId xmlns:a16="http://schemas.microsoft.com/office/drawing/2014/main" id="{B06E935B-DBEC-4599-B4BB-982B027B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Decrease r and every</a:t>
            </a:r>
          </a:p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remaining duration by Δ</a:t>
            </a:r>
          </a:p>
        </p:txBody>
      </p:sp>
      <p:sp>
        <p:nvSpPr>
          <p:cNvPr id="20" name="transition-node-4">
            <a:extLst xmlns:a="http://schemas.openxmlformats.org/drawingml/2006/main">
              <a:ext uri="{FF2B5EF4-FFF2-40B4-BE49-F238E27FC236}">
                <a16:creationId xmlns:a16="http://schemas.microsoft.com/office/drawing/2014/main" id="{CFB46FEC-6B4D-4FCE-BD4F-7A181C7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38425"/>
            <a:ext cx="25336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ransition-num-4">
            <a:extLst xmlns:a="http://schemas.openxmlformats.org/drawingml/2006/main">
              <a:ext uri="{FF2B5EF4-FFF2-40B4-BE49-F238E27FC236}">
                <a16:creationId xmlns:a16="http://schemas.microsoft.com/office/drawing/2014/main" id="{D9AFBE9B-6AB4-4EE6-AA2A-112F3EB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ransition-heading-4">
            <a:extLst xmlns:a="http://schemas.openxmlformats.org/drawingml/2006/main">
              <a:ext uri="{FF2B5EF4-FFF2-40B4-BE49-F238E27FC236}">
                <a16:creationId xmlns:a16="http://schemas.microsoft.com/office/drawing/2014/main" id="{D8426B75-012A-4A05-B556-04E8BF85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23" name="transition-body-4">
            <a:extLst xmlns:a="http://schemas.openxmlformats.org/drawingml/2006/main">
              <a:ext uri="{FF2B5EF4-FFF2-40B4-BE49-F238E27FC236}">
                <a16:creationId xmlns:a16="http://schemas.microsoft.com/office/drawing/2014/main" id="{8DE65361-5D77-4538-B42E-E237AAF0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05225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Sample the end effects</a:t>
            </a:r>
          </a:p>
          <a:p xmlns:a="http://schemas.openxmlformats.org/drawingml/2006/main">
            <a:pPr algn="ctr"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and obtain s′</a:t>
            </a:r>
          </a:p>
        </p:txBody>
      </p:sp>
      <p:sp>
        <p:nvSpPr>
          <p:cNvPr id="24" name="transition-rho-plus">
            <a:extLst xmlns:a="http://schemas.openxmlformats.org/drawingml/2006/main">
              <a:ext uri="{FF2B5EF4-FFF2-40B4-BE49-F238E27FC236}">
                <a16:creationId xmlns:a16="http://schemas.microsoft.com/office/drawing/2014/main" id="{2E1E52DB-DA6B-4893-9EC0-F4F5372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p⁺ = p ∪ {(a,d(a)) : a ∈ U}</a:t>
            </a:r>
          </a:p>
        </p:txBody>
      </p:sp>
      <p:sp>
        <p:nvSpPr>
          <p:cNvPr id="25" name="transition-next-state">
            <a:extLst xmlns:a="http://schemas.openxmlformats.org/drawingml/2006/main">
              <a:ext uri="{FF2B5EF4-FFF2-40B4-BE49-F238E27FC236}">
                <a16:creationId xmlns:a16="http://schemas.microsoft.com/office/drawing/2014/main" id="{730FB791-D7B4-4348-B05E-BE34317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0062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 = (x′, r−Δ, p′)</a:t>
            </a:r>
          </a:p>
        </p:txBody>
      </p:sp>
      <p:sp>
        <p:nvSpPr>
          <p:cNvPr id="26" name="transition-deadline">
            <a:extLst xmlns:a="http://schemas.openxmlformats.org/drawingml/2006/main">
              <a:ext uri="{FF2B5EF4-FFF2-40B4-BE49-F238E27FC236}">
                <a16:creationId xmlns:a16="http://schemas.microsoft.com/office/drawing/2014/main" id="{E216243B-30E2-42C1-98C4-1B1A9D47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912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If Δ = r and the goal has not been reached, the transition ends in failure</a:t>
            </a:r>
          </a:p>
        </p:txBody>
      </p:sp>
    </p:spTree>
    <p:extLst>
      <p:ext uri="{BB962C8B-B14F-4D97-AF65-F5344CB8AC3E}">
        <p14:creationId xmlns:p14="http://schemas.microsoft.com/office/powerpoint/2010/main" val="255475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443DBBC-2FCD-473C-832F-03BE4D66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model is Markov; event-only equivalence still needs a proof</a:t>
            </a:r>
          </a:p>
        </p:txBody>
      </p:sp>
      <p:sp>
        <p:nvSpPr>
          <p:cNvPr id="2" name="slide-5-title-rule">
            <a:extLst xmlns:a="http://schemas.openxmlformats.org/drawingml/2006/main">
              <a:ext uri="{FF2B5EF4-FFF2-40B4-BE49-F238E27FC236}">
                <a16:creationId xmlns:a16="http://schemas.microsoft.com/office/drawing/2014/main" id="{B8DCE35F-FC0C-49DF-8CAE-192C271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6DAD5C3C-52AE-44D4-92B6-0350ACCC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960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andor-arrow-1">
            <a:extLst xmlns:a="http://schemas.openxmlformats.org/drawingml/2006/main">
              <a:ext uri="{FF2B5EF4-FFF2-40B4-BE49-F238E27FC236}">
                <a16:creationId xmlns:a16="http://schemas.microsoft.com/office/drawing/2014/main" id="{05CF06AE-27BA-4B5F-BD15-2E4DB852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924175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ndor-arrow-2">
            <a:extLst xmlns:a="http://schemas.openxmlformats.org/drawingml/2006/main">
              <a:ext uri="{FF2B5EF4-FFF2-40B4-BE49-F238E27FC236}">
                <a16:creationId xmlns:a16="http://schemas.microsoft.com/office/drawing/2014/main" id="{F423953C-00A0-44CC-BC6B-E445D3DD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24175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ndor-arrow-3">
            <a:extLst xmlns:a="http://schemas.openxmlformats.org/drawingml/2006/main">
              <a:ext uri="{FF2B5EF4-FFF2-40B4-BE49-F238E27FC236}">
                <a16:creationId xmlns:a16="http://schemas.microsoft.com/office/drawing/2014/main" id="{FBAC8BFE-F788-408F-B678-B5F0886E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24175"/>
            <a:ext cx="685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ndor-node-42">
            <a:extLst xmlns:a="http://schemas.openxmlformats.org/drawingml/2006/main">
              <a:ext uri="{FF2B5EF4-FFF2-40B4-BE49-F238E27FC236}">
                <a16:creationId xmlns:a16="http://schemas.microsoft.com/office/drawing/2014/main" id="{F23DB39D-FAF7-4A79-B6AA-7B0B209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andor-tag-42">
            <a:extLst xmlns:a="http://schemas.openxmlformats.org/drawingml/2006/main">
              <a:ext uri="{FF2B5EF4-FFF2-40B4-BE49-F238E27FC236}">
                <a16:creationId xmlns:a16="http://schemas.microsoft.com/office/drawing/2014/main" id="{3361D540-3E18-4C1D-9AA7-21AD2FD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9" name="andor-body-42">
            <a:extLst xmlns:a="http://schemas.openxmlformats.org/drawingml/2006/main">
              <a:ext uri="{FF2B5EF4-FFF2-40B4-BE49-F238E27FC236}">
                <a16:creationId xmlns:a16="http://schemas.microsoft.com/office/drawing/2014/main" id="{A88C7EC0-2B00-4EBF-9F02-447769B2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s=(x,r,p)</a:t>
            </a:r>
          </a:p>
        </p:txBody>
      </p:sp>
      <p:sp>
        <p:nvSpPr>
          <p:cNvPr id="10" name="andor-node-368">
            <a:extLst xmlns:a="http://schemas.openxmlformats.org/drawingml/2006/main">
              <a:ext uri="{FF2B5EF4-FFF2-40B4-BE49-F238E27FC236}">
                <a16:creationId xmlns:a16="http://schemas.microsoft.com/office/drawing/2014/main" id="{C7BAF40A-06A0-44FC-A939-06BE907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14575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ndor-tag-368">
            <a:extLst xmlns:a="http://schemas.openxmlformats.org/drawingml/2006/main">
              <a:ext uri="{FF2B5EF4-FFF2-40B4-BE49-F238E27FC236}">
                <a16:creationId xmlns:a16="http://schemas.microsoft.com/office/drawing/2014/main" id="{87662FB4-52AE-4F0E-A4A7-25F1BCA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2" name="andor-body-368">
            <a:extLst xmlns:a="http://schemas.openxmlformats.org/drawingml/2006/main">
              <a:ext uri="{FF2B5EF4-FFF2-40B4-BE49-F238E27FC236}">
                <a16:creationId xmlns:a16="http://schemas.microsoft.com/office/drawing/2014/main" id="{67FB46E1-2C99-44AD-A58A-26F6B8D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Dispatch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U</a:t>
            </a:r>
          </a:p>
        </p:txBody>
      </p:sp>
      <p:sp>
        <p:nvSpPr>
          <p:cNvPr id="13" name="andor-node-694">
            <a:extLst xmlns:a="http://schemas.openxmlformats.org/drawingml/2006/main">
              <a:ext uri="{FF2B5EF4-FFF2-40B4-BE49-F238E27FC236}">
                <a16:creationId xmlns:a16="http://schemas.microsoft.com/office/drawing/2014/main" id="{39CE72AD-0C29-40D4-8EB1-0FFD84C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14575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ndor-tag-694">
            <a:extLst xmlns:a="http://schemas.openxmlformats.org/drawingml/2006/main">
              <a:ext uri="{FF2B5EF4-FFF2-40B4-BE49-F238E27FC236}">
                <a16:creationId xmlns:a16="http://schemas.microsoft.com/office/drawing/2014/main" id="{EE778506-E144-4326-A2D3-FFE92F8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/ chance</a:t>
            </a:r>
          </a:p>
        </p:txBody>
      </p:sp>
      <p:sp>
        <p:nvSpPr>
          <p:cNvPr id="15" name="andor-body-694">
            <a:extLst xmlns:a="http://schemas.openxmlformats.org/drawingml/2006/main">
              <a:ext uri="{FF2B5EF4-FFF2-40B4-BE49-F238E27FC236}">
                <a16:creationId xmlns:a16="http://schemas.microsoft.com/office/drawing/2014/main" id="{2135B39F-A707-4C28-B865-76F2716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4322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Stochastic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outcomes</a:t>
            </a:r>
          </a:p>
        </p:txBody>
      </p:sp>
      <p:sp>
        <p:nvSpPr>
          <p:cNvPr id="16" name="andor-node-1020">
            <a:extLst xmlns:a="http://schemas.openxmlformats.org/drawingml/2006/main">
              <a:ext uri="{FF2B5EF4-FFF2-40B4-BE49-F238E27FC236}">
                <a16:creationId xmlns:a16="http://schemas.microsoft.com/office/drawing/2014/main" id="{4DDC3CCF-A547-4E27-AEB4-8151FC29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14575"/>
            <a:ext cx="238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ndor-tag-1020">
            <a:extLst xmlns:a="http://schemas.openxmlformats.org/drawingml/2006/main">
              <a:ext uri="{FF2B5EF4-FFF2-40B4-BE49-F238E27FC236}">
                <a16:creationId xmlns:a16="http://schemas.microsoft.com/office/drawing/2014/main" id="{2FD35836-769E-4974-857F-D43D28A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955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18" name="andor-body-1020">
            <a:extLst xmlns:a="http://schemas.openxmlformats.org/drawingml/2006/main">
              <a:ext uri="{FF2B5EF4-FFF2-40B4-BE49-F238E27FC236}">
                <a16:creationId xmlns:a16="http://schemas.microsoft.com/office/drawing/2014/main" id="{7FCFC934-70F7-4097-BBD2-C25D8CF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4322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state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s′</a:t>
            </a:r>
          </a:p>
        </p:txBody>
      </p:sp>
      <p:sp>
        <p:nvSpPr>
          <p:cNvPr id="19" name="markov-result">
            <a:extLst xmlns:a="http://schemas.openxmlformats.org/drawingml/2006/main">
              <a:ext uri="{FF2B5EF4-FFF2-40B4-BE49-F238E27FC236}">
                <a16:creationId xmlns:a16="http://schemas.microsoft.com/office/drawing/2014/main" id="{334AAC39-0EF8-4338-9E83-C9410C0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markov-result-title">
            <a:extLst xmlns:a="http://schemas.openxmlformats.org/drawingml/2006/main">
              <a:ext uri="{FF2B5EF4-FFF2-40B4-BE49-F238E27FC236}">
                <a16:creationId xmlns:a16="http://schemas.microsoft.com/office/drawing/2014/main" id="{7523280E-1205-4132-BDD9-502A9DA3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is defined</a:t>
            </a:r>
          </a:p>
        </p:txBody>
      </p:sp>
      <p:sp>
        <p:nvSpPr>
          <p:cNvPr id="21" name="markov-result-body">
            <a:extLst xmlns:a="http://schemas.openxmlformats.org/drawingml/2006/main">
              <a:ext uri="{FF2B5EF4-FFF2-40B4-BE49-F238E27FC236}">
                <a16:creationId xmlns:a16="http://schemas.microsoft.com/office/drawing/2014/main" id="{6F99F7B5-C422-4B08-A36A-FA1BD049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483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transition depends only on s and U, so no earlier history is required.</a:t>
            </a:r>
          </a:p>
        </p:txBody>
      </p:sp>
      <p:sp>
        <p:nvSpPr>
          <p:cNvPr id="22" name="proof-obligation">
            <a:extLst xmlns:a="http://schemas.openxmlformats.org/drawingml/2006/main">
              <a:ext uri="{FF2B5EF4-FFF2-40B4-BE49-F238E27FC236}">
                <a16:creationId xmlns:a16="http://schemas.microsoft.com/office/drawing/2014/main" id="{EC3B23C4-BC6B-41D9-A089-8ED6FF5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76750"/>
            <a:ext cx="5734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proof-obligation-title">
            <a:extLst xmlns:a="http://schemas.openxmlformats.org/drawingml/2006/main">
              <a:ext uri="{FF2B5EF4-FFF2-40B4-BE49-F238E27FC236}">
                <a16:creationId xmlns:a16="http://schemas.microsoft.com/office/drawing/2014/main" id="{2A8B8FA4-ED4B-41D5-95BA-11A5FA20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5772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remains to prove</a:t>
            </a:r>
          </a:p>
        </p:txBody>
      </p:sp>
      <p:sp>
        <p:nvSpPr>
          <p:cNvPr id="24" name="proof-obligation-body">
            <a:extLst xmlns:a="http://schemas.openxmlformats.org/drawingml/2006/main">
              <a:ext uri="{FF2B5EF4-FFF2-40B4-BE49-F238E27FC236}">
                <a16:creationId xmlns:a16="http://schemas.microsoft.com/office/drawing/2014/main" id="{B790BD83-C6DA-40FA-AFF7-F99CDCCA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57775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optimal policy exists that starts actions only at time 0 or at completion events.</a:t>
            </a:r>
          </a:p>
        </p:txBody>
      </p:sp>
    </p:spTree>
    <p:extLst>
      <p:ext uri="{BB962C8B-B14F-4D97-AF65-F5344CB8AC3E}">
        <p14:creationId xmlns:p14="http://schemas.microsoft.com/office/powerpoint/2010/main" val="39199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2026-08-25T08:30:40.9900000Z</dcterms:created>
  <dcterms:modified xsi:type="dcterms:W3CDTF">2026-08-25T08:30:40.9900000Z</dcterms:modified>
</coreProperties>
</file>
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4f2e08830d45f2" /><Relationship Type="http://schemas.openxmlformats.org/officeDocument/2006/relationships/extended-properties" Target="/docProps/app.xml" Id="R08e0195a0dec4a49" /><Relationship Type="http://schemas.openxmlformats.org/officeDocument/2006/relationships/officeDocument" Target="/ppt/presentation.xml" Id="R9163039ff8c142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9b8c3c4ca14257"/>
  </p:sldMasterIdLst>
  <p:notesMasterIdLst>
    <p:notesMasterId xmlns:r="http://schemas.openxmlformats.org/officeDocument/2006/relationships" r:id="Rdf68306ba05f4b6a"/>
  </p:notesMasterIdLst>
  <p:sldIdLst>
    <p:sldId xmlns:r="http://schemas.openxmlformats.org/officeDocument/2006/relationships" id="256" r:id="R24be2c2c36e44df8"/>
    <p:sldId xmlns:r="http://schemas.openxmlformats.org/officeDocument/2006/relationships" id="257" r:id="R8e00583abde441fb"/>
    <p:sldId xmlns:r="http://schemas.openxmlformats.org/officeDocument/2006/relationships" id="258" r:id="R597d5055ddae432a"/>
    <p:sldId xmlns:r="http://schemas.openxmlformats.org/officeDocument/2006/relationships" id="259" r:id="R04c5b418c66e4e00"/>
    <p:sldId xmlns:r="http://schemas.openxmlformats.org/officeDocument/2006/relationships" id="260" r:id="R277c2aea66d0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2e3bfaf067426e" /><Relationship Type="http://schemas.openxmlformats.org/officeDocument/2006/relationships/slideMaster" Target="/ppt/slideMasters/slideMaster1.xml" Id="Rb19b8c3c4ca14257" /><Relationship Type="http://schemas.openxmlformats.org/officeDocument/2006/relationships/notesMaster" Target="/ppt/notesMasters/notesMaster1.xml" Id="Rdf68306ba05f4b6a" /><Relationship Type="http://schemas.openxmlformats.org/officeDocument/2006/relationships/presProps" Target="/ppt/presProps.xml" Id="R16951d01bc7247b4" /><Relationship Type="http://schemas.openxmlformats.org/officeDocument/2006/relationships/tableStyles" Target="/ppt/tableStyles.xml" Id="R234f8abb965d42fa" /><Relationship Type="http://schemas.openxmlformats.org/officeDocument/2006/relationships/slide" Target="/ppt/slides/slide1.xml" Id="R24be2c2c36e44df8" /><Relationship Type="http://schemas.openxmlformats.org/officeDocument/2006/relationships/slide" Target="/ppt/slides/slide2.xml" Id="R8e00583abde441fb" /><Relationship Type="http://schemas.openxmlformats.org/officeDocument/2006/relationships/slide" Target="/ppt/slides/slide3.xml" Id="R597d5055ddae432a" /><Relationship Type="http://schemas.openxmlformats.org/officeDocument/2006/relationships/slide" Target="/ppt/slides/slide4.xml" Id="R04c5b418c66e4e00" /><Relationship Type="http://schemas.openxmlformats.org/officeDocument/2006/relationships/slide" Target="/ppt/slides/slide5.xml" Id="R277c2aea66d0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eeb5d1af4942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a1ffe15a74432" /><Relationship Type="http://schemas.openxmlformats.org/officeDocument/2006/relationships/notesMaster" Target="/ppt/notesMasters/notesMaster1.xml" Id="R016a4bee0fa345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2415651a804d94" /><Relationship Type="http://schemas.openxmlformats.org/officeDocument/2006/relationships/notesMaster" Target="/ppt/notesMasters/notesMaster1.xml" Id="R75696d4c7de24c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c395f5bfe84dc6" /><Relationship Type="http://schemas.openxmlformats.org/officeDocument/2006/relationships/notesMaster" Target="/ppt/notesMasters/notesMaster1.xml" Id="R49c58f0df0ff47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ade3be943d4dc5" /><Relationship Type="http://schemas.openxmlformats.org/officeDocument/2006/relationships/notesMaster" Target="/ppt/notesMasters/notesMaster1.xml" Id="Rde8a0583a25141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1d5d533dc427d" /><Relationship Type="http://schemas.openxmlformats.org/officeDocument/2006/relationships/notesMaster" Target="/ppt/notesMasters/notesMaster1.xml" Id="R1a55789f8c6149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only the reformulation from CoMDP+ to an event-driven finite-state control model.</a:t>
            </a:r>
          </a:p>
          <a:p xmlns:a="http://schemas.openxmlformats.org/drawingml/2006/main">
            <a:r>
              <a:t>The pattern abstraction and its solution method are deliberately outside this short deck.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CoMDP+ to event-driven MDP formulation,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 contains the current facts; r is time to the deadline; p contains running action instances and their remaining durations.</a:t>
            </a:r>
          </a:p>
          <a:p xmlns:a="http://schemas.openxmlformats.org/drawingml/2006/main">
            <a:r>
              <a:t>If the same ground action may overlap with itself, p must store an instance identifier, not only the action name.</a:t>
            </a:r>
          </a:p>
          <a:p xmlns:a="http://schemas.openxmlformats.org/drawingml/2006/main">
            <a:r>
              <a:t>The empty dispatch set represents waiting; noop is not an extra action inside 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state and group-dispatch semantics,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advances directly to the first running-action completion or to the deadline, whichever comes first.</a:t>
            </a:r>
          </a:p>
          <a:p xmlns:a="http://schemas.openxmlformats.org/drawingml/2006/main">
            <a:r>
              <a:t>All actions whose remaining time equals Delta complete in the same event.</a:t>
            </a:r>
          </a:p>
          <a:p xmlns:a="http://schemas.openxmlformats.org/drawingml/2006/main">
            <a:r>
              <a:t>This is an event-driven construction, not a discretization at every GCD tick.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earliest-completion transition,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minimum duration alone does not define the transition kernel.</a:t>
            </a:r>
          </a:p>
          <a:p xmlns:a="http://schemas.openxmlformats.org/drawingml/2006/main">
            <a:r>
              <a:t>T must include the probability of each combination of start outcomes and simultaneous end outcomes.</a:t>
            </a:r>
          </a:p>
          <a:p xmlns:a="http://schemas.openxmlformats.org/drawingml/2006/main">
            <a:r>
              <a:t>The formulas remove every action that finishes at the event and decrease the remaining times of all survivors.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stochastic event transition,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 nodes choose U; AND/chance nodes branch over stochastic start and end outcomes; every branch reaches the next event state.</a:t>
            </a:r>
          </a:p>
          <a:p xmlns:a="http://schemas.openxmlformats.org/drawingml/2006/main">
            <a:r>
              <a:t>If success means ever reaching the goal before the deadline, making goal states absorbing is the simplest Markov encoding. A sticky goal-achieved flag is the alternative.</a:t>
            </a:r>
          </a:p>
          <a:p xmlns:a="http://schemas.openxmlformats.org/drawingml/2006/main">
            <a:r>
              <a:t>The zero is an action value Q(s,empty), not necessarily the optimal state value V(s), because another feasible non-empty dispatch could still be chosen.</a:t>
            </a:r>
          </a:p>
          <a:p xmlns:a="http://schemas.openxmlformats.org/drawingml/2006/main">
            <a:r>
              <a:t>The model is an SMDP in interpretation because holding times vary, although remaining time in the state permits Bellman recursion over a finite state model.</a:t>
            </a:r>
          </a:p>
          <a:p xmlns:a="http://schemas.openxmlformats.org/drawingml/2006/main">
            <a:r>
              <a:t>The event-only start restriction is a proof obligation, not a consequence of the state definition.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AND/OR and deadline semantics,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51b5b923b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f95eb5d29b4bd9" /><Relationship Type="http://schemas.openxmlformats.org/officeDocument/2006/relationships/slideLayout" Target="/ppt/slideLayouts/slideLayout1.xml" Id="Rbdf4dc9a183a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4dc9a183a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bc023f1b64ddb" /><Relationship Type="http://schemas.openxmlformats.org/officeDocument/2006/relationships/notesSlide" Target="/ppt/notesSlides/notesSlide1.xml" Id="Rafb6ddb904b94d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f999048614e13" /><Relationship Type="http://schemas.openxmlformats.org/officeDocument/2006/relationships/notesSlide" Target="/ppt/notesSlides/notesSlide2.xml" Id="R8f85c91de4524d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09dd5476b4772" /><Relationship Type="http://schemas.openxmlformats.org/officeDocument/2006/relationships/notesSlide" Target="/ppt/notesSlides/notesSlide3.xml" Id="R59216e8d227049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b1c61420047d5" /><Relationship Type="http://schemas.openxmlformats.org/officeDocument/2006/relationships/notesSlide" Target="/ppt/notesSlides/notesSlide4.xml" Id="Rd7b8774075ea44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facdfeeb94f4c" /><Relationship Type="http://schemas.openxmlformats.org/officeDocument/2006/relationships/notesSlide" Target="/ppt/notesSlides/notesSlide5.xml" Id="R368a33242f9849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5652959-4ED8-4946-AF35-4D8B8975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TEMPORAL STOCHASTIC PLANNING</a:t>
            </a:r>
          </a:p>
        </p:txBody>
      </p:sp>
      <p:sp>
        <p:nvSpPr>
          <p:cNvPr id="2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4A308D8E-F2EA-417C-A7A9-5FA9019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THEORETICAL MODEL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964A31-A1A7-4B3A-98B9-9A9F337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95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CECBF1-236F-4CAD-BBD1-CB0EAAF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CoMDP+ to an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9CBB85-1A25-4C04-BDD7-995E6A86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State, dispatch decisions, and stochastic transitions at completion events</a:t>
            </a:r>
          </a:p>
        </p:txBody>
      </p:sp>
    </p:spTree>
    <p:extLst>
      <p:ext uri="{BB962C8B-B14F-4D97-AF65-F5344CB8AC3E}">
        <p14:creationId xmlns:p14="http://schemas.microsoft.com/office/powerpoint/2010/main" val="1996321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B004E17-9749-48C8-9FF3-388FD15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and decision at an event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0DA4CEB9-7E61-4766-A875-30EB3BD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D82F412-7FCF-4306-B6C7-1326ADD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tate-equation">
            <a:extLst xmlns:a="http://schemas.openxmlformats.org/drawingml/2006/main">
              <a:ext uri="{FF2B5EF4-FFF2-40B4-BE49-F238E27FC236}">
                <a16:creationId xmlns:a16="http://schemas.microsoft.com/office/drawing/2014/main" id="{5D7206F8-774C-45CF-8CB1-8866D0A9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(x, r, p)</a:t>
            </a:r>
          </a:p>
        </p:txBody>
      </p:sp>
      <p:sp>
        <p:nvSpPr>
          <p:cNvPr id="5" name="state-accent-rule">
            <a:extLst xmlns:a="http://schemas.openxmlformats.org/drawingml/2006/main">
              <a:ext uri="{FF2B5EF4-FFF2-40B4-BE49-F238E27FC236}">
                <a16:creationId xmlns:a16="http://schemas.microsoft.com/office/drawing/2014/main" id="{6EF52518-2AA4-4714-803C-D8EDD7B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717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state-panel-1">
            <a:extLst xmlns:a="http://schemas.openxmlformats.org/drawingml/2006/main">
              <a:ext uri="{FF2B5EF4-FFF2-40B4-BE49-F238E27FC236}">
                <a16:creationId xmlns:a16="http://schemas.microsoft.com/office/drawing/2014/main" id="{DF6B31CA-FD2E-4DF4-9F31-DD510DD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ate-label-1">
            <a:extLst xmlns:a="http://schemas.openxmlformats.org/drawingml/2006/main">
              <a:ext uri="{FF2B5EF4-FFF2-40B4-BE49-F238E27FC236}">
                <a16:creationId xmlns:a16="http://schemas.microsoft.com/office/drawing/2014/main" id="{664E9234-1265-435A-81F0-F8A6397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 ⊆ F</a:t>
            </a:r>
          </a:p>
        </p:txBody>
      </p:sp>
      <p:sp>
        <p:nvSpPr>
          <p:cNvPr id="9" name="state-panel-2">
            <a:extLst xmlns:a="http://schemas.openxmlformats.org/drawingml/2006/main">
              <a:ext uri="{FF2B5EF4-FFF2-40B4-BE49-F238E27FC236}">
                <a16:creationId xmlns:a16="http://schemas.microsoft.com/office/drawing/2014/main" id="{2ED689B8-147B-4669-A606-1B5F246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ate-label-2">
            <a:extLst xmlns:a="http://schemas.openxmlformats.org/drawingml/2006/main">
              <a:ext uri="{FF2B5EF4-FFF2-40B4-BE49-F238E27FC236}">
                <a16:creationId xmlns:a16="http://schemas.microsoft.com/office/drawing/2014/main" id="{CECE195D-0213-48EF-A4B3-60BAF30F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 ∈ [0, D]</a:t>
            </a:r>
          </a:p>
        </p:txBody>
      </p:sp>
      <p:sp>
        <p:nvSpPr>
          <p:cNvPr id="12" name="state-panel-3">
            <a:extLst xmlns:a="http://schemas.openxmlformats.org/drawingml/2006/main">
              <a:ext uri="{FF2B5EF4-FFF2-40B4-BE49-F238E27FC236}">
                <a16:creationId xmlns:a16="http://schemas.microsoft.com/office/drawing/2014/main" id="{8D7C6F22-05F4-4AAF-9C70-0912864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te-label-3">
            <a:extLst xmlns:a="http://schemas.openxmlformats.org/drawingml/2006/main">
              <a:ext uri="{FF2B5EF4-FFF2-40B4-BE49-F238E27FC236}">
                <a16:creationId xmlns:a16="http://schemas.microsoft.com/office/drawing/2014/main" id="{18D4458A-1BDE-4FEC-953F-AB54F7C4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= {(a, δₐ)}</a:t>
            </a:r>
          </a:p>
        </p:txBody>
      </p:sp>
      <p:sp>
        <p:nvSpPr>
          <p:cNvPr id="17" name="state-dispatch-panel">
            <a:extLst xmlns:a="http://schemas.openxmlformats.org/drawingml/2006/main">
              <a:ext uri="{FF2B5EF4-FFF2-40B4-BE49-F238E27FC236}">
                <a16:creationId xmlns:a16="http://schemas.microsoft.com/office/drawing/2014/main" id="{EA31F9E2-EDD1-4DBD-8E22-4F91177F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9052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state-dispatch-title">
            <a:extLst xmlns:a="http://schemas.openxmlformats.org/drawingml/2006/main">
              <a:ext uri="{FF2B5EF4-FFF2-40B4-BE49-F238E27FC236}">
                <a16:creationId xmlns:a16="http://schemas.microsoft.com/office/drawing/2014/main" id="{49150695-79A3-41EB-A8E9-CF621EE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MDP control</a:t>
            </a:r>
          </a:p>
        </p:txBody>
      </p:sp>
      <p:sp>
        <p:nvSpPr>
          <p:cNvPr id="19" name="state-dispatch-equation">
            <a:extLst xmlns:a="http://schemas.openxmlformats.org/drawingml/2006/main">
              <a:ext uri="{FF2B5EF4-FFF2-40B4-BE49-F238E27FC236}">
                <a16:creationId xmlns:a16="http://schemas.microsoft.com/office/drawing/2014/main" id="{F6D1B656-058F-495B-9952-732F4D4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340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⊆ A</a:t>
            </a:r>
          </a:p>
        </p:txBody>
      </p:sp>
      <p:sp>
        <p:nvSpPr>
          <p:cNvPr id="20" name="state-dispatch-body">
            <a:extLst xmlns:a="http://schemas.openxmlformats.org/drawingml/2006/main">
              <a:ext uri="{FF2B5EF4-FFF2-40B4-BE49-F238E27FC236}">
                <a16:creationId xmlns:a16="http://schemas.microsoft.com/office/drawing/2014/main" id="{5F6125C5-20D3-41B2-93BA-0FF387E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3409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All a ∈ U start now   •   U = ∅ waits</a:t>
            </a:r>
          </a:p>
        </p:txBody>
      </p:sp>
      <p:sp>
        <p:nvSpPr>
          <p:cNvPr id="21" name="state-feasible-panel">
            <a:extLst xmlns:a="http://schemas.openxmlformats.org/drawingml/2006/main">
              <a:ext uri="{FF2B5EF4-FFF2-40B4-BE49-F238E27FC236}">
                <a16:creationId xmlns:a16="http://schemas.microsoft.com/office/drawing/2014/main" id="{FFBF75C1-B5E8-4AA7-93D7-8D5402E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72199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tate-feasible-title">
            <a:extLst xmlns:a="http://schemas.openxmlformats.org/drawingml/2006/main">
              <a:ext uri="{FF2B5EF4-FFF2-40B4-BE49-F238E27FC236}">
                <a16:creationId xmlns:a16="http://schemas.microsoft.com/office/drawing/2014/main" id="{7BD5E4B7-8A0A-4B40-A6BD-A345121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38600"/>
            <a:ext cx="664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Feasible dispatch</a:t>
            </a:r>
          </a:p>
        </p:txBody>
      </p:sp>
      <p:sp>
        <p:nvSpPr>
          <p:cNvPr id="23" name="state-feasible-pre">
            <a:extLst xmlns:a="http://schemas.openxmlformats.org/drawingml/2006/main">
              <a:ext uri="{FF2B5EF4-FFF2-40B4-BE49-F238E27FC236}">
                <a16:creationId xmlns:a16="http://schemas.microsoft.com/office/drawing/2014/main" id="{C5512F58-EF15-48EA-8AA3-7A1E207D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664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∀a ∈ U:  pre_start(a) ⊆ x</a:t>
            </a:r>
          </a:p>
        </p:txBody>
      </p:sp>
      <p:sp>
        <p:nvSpPr>
          <p:cNvPr id="24" name="state-feasible-constraints">
            <a:extLst xmlns:a="http://schemas.openxmlformats.org/drawingml/2006/main">
              <a:ext uri="{FF2B5EF4-FFF2-40B4-BE49-F238E27FC236}">
                <a16:creationId xmlns:a16="http://schemas.microsoft.com/office/drawing/2014/main" id="{1539B731-C370-4814-B749-2B328BAB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67275"/>
            <a:ext cx="664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no forbidden running duplicate   • actions in U are mutually compatible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U is compatible with the action instances already in p</a:t>
            </a:r>
          </a:p>
        </p:txBody>
      </p:sp>
    </p:spTree>
    <p:extLst>
      <p:ext uri="{BB962C8B-B14F-4D97-AF65-F5344CB8AC3E}">
        <p14:creationId xmlns:p14="http://schemas.microsoft.com/office/powerpoint/2010/main" val="19716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DB97487-CF19-4B2B-8992-75F0362A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transition jumps to the next event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0113F707-620C-40D5-859A-97B9D858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1822D3F1-D5FA-4B60-A34F-78CEEFF0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dispatch-equation">
            <a:extLst xmlns:a="http://schemas.openxmlformats.org/drawingml/2006/main">
              <a:ext uri="{FF2B5EF4-FFF2-40B4-BE49-F238E27FC236}">
                <a16:creationId xmlns:a16="http://schemas.microsoft.com/office/drawing/2014/main" id="{FAED118E-775F-4683-B3A1-35D6906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p⁺ = p ∪ {(a, d(a)) : a ∈ U}</a:t>
            </a:r>
          </a:p>
        </p:txBody>
      </p:sp>
      <p:sp>
        <p:nvSpPr>
          <p:cNvPr id="5" name="dispatch-explanation">
            <a:extLst xmlns:a="http://schemas.openxmlformats.org/drawingml/2006/main">
              <a:ext uri="{FF2B5EF4-FFF2-40B4-BE49-F238E27FC236}">
                <a16:creationId xmlns:a16="http://schemas.microsoft.com/office/drawing/2014/main" id="{7F242E46-2397-4A86-A013-D40465C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Sample the joint start outcomes → x⁺</a:t>
            </a:r>
          </a:p>
        </p:txBody>
      </p:sp>
      <p:sp>
        <p:nvSpPr>
          <p:cNvPr id="6" name="dispatch-wait-panel">
            <a:extLst xmlns:a="http://schemas.openxmlformats.org/drawingml/2006/main">
              <a:ext uri="{FF2B5EF4-FFF2-40B4-BE49-F238E27FC236}">
                <a16:creationId xmlns:a16="http://schemas.microsoft.com/office/drawing/2014/main" id="{B1178580-19B3-44EE-B039-2D642D9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914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dispatch-wait">
            <a:extLst xmlns:a="http://schemas.openxmlformats.org/drawingml/2006/main">
              <a:ext uri="{FF2B5EF4-FFF2-40B4-BE49-F238E27FC236}">
                <a16:creationId xmlns:a16="http://schemas.microsoft.com/office/drawing/2014/main" id="{D973DE01-DA2B-42C6-BF31-2EA276A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457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Δ = min ( r,  min{δₐ : (a,δₐ) ∈ p⁺} )</a:t>
            </a:r>
          </a:p>
        </p:txBody>
      </p:sp>
      <p:sp>
        <p:nvSpPr>
          <p:cNvPr id="8" name="dispatch-conditions-panel">
            <a:extLst xmlns:a="http://schemas.openxmlformats.org/drawingml/2006/main">
              <a:ext uri="{FF2B5EF4-FFF2-40B4-BE49-F238E27FC236}">
                <a16:creationId xmlns:a16="http://schemas.microsoft.com/office/drawing/2014/main" id="{D3850B65-76A8-4B80-B51E-449F26B4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38300"/>
            <a:ext cx="56578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dispatch-conditions-title">
            <a:extLst xmlns:a="http://schemas.openxmlformats.org/drawingml/2006/main">
              <a:ext uri="{FF2B5EF4-FFF2-40B4-BE49-F238E27FC236}">
                <a16:creationId xmlns:a16="http://schemas.microsoft.com/office/drawing/2014/main" id="{6813AE75-7260-4D5B-8039-7FFC9A0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 boundary</a:t>
            </a:r>
          </a:p>
        </p:txBody>
      </p:sp>
      <p:sp>
        <p:nvSpPr>
          <p:cNvPr id="10" name="dispatch-dot-1">
            <a:extLst xmlns:a="http://schemas.openxmlformats.org/drawingml/2006/main">
              <a:ext uri="{FF2B5EF4-FFF2-40B4-BE49-F238E27FC236}">
                <a16:creationId xmlns:a16="http://schemas.microsoft.com/office/drawing/2014/main" id="{EABD0CAF-7374-44F6-8D69-93A3038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76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dispatch-condition-1">
            <a:extLst xmlns:a="http://schemas.openxmlformats.org/drawingml/2006/main">
              <a:ext uri="{FF2B5EF4-FFF2-40B4-BE49-F238E27FC236}">
                <a16:creationId xmlns:a16="http://schemas.microsoft.com/office/drawing/2014/main" id="{85DBFCBE-CA3B-4C9D-AF17-1DA7945C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050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deadline r is also an event</a:t>
            </a:r>
          </a:p>
        </p:txBody>
      </p:sp>
      <p:sp>
        <p:nvSpPr>
          <p:cNvPr id="12" name="dispatch-dot-2">
            <a:extLst xmlns:a="http://schemas.openxmlformats.org/drawingml/2006/main">
              <a:ext uri="{FF2B5EF4-FFF2-40B4-BE49-F238E27FC236}">
                <a16:creationId xmlns:a16="http://schemas.microsoft.com/office/drawing/2014/main" id="{4FD3D898-D3A5-4CDD-829C-DFDAD479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dispatch-condition-2">
            <a:extLst xmlns:a="http://schemas.openxmlformats.org/drawingml/2006/main">
              <a:ext uri="{FF2B5EF4-FFF2-40B4-BE49-F238E27FC236}">
                <a16:creationId xmlns:a16="http://schemas.microsoft.com/office/drawing/2014/main" id="{8282663B-A9A1-4131-B80D-2FD27BED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 = {a : (a,δₐ) ∈ p⁺, δₐ = Δ}</a:t>
            </a:r>
          </a:p>
        </p:txBody>
      </p:sp>
      <p:sp>
        <p:nvSpPr>
          <p:cNvPr id="14" name="dispatch-dot-3">
            <a:extLst xmlns:a="http://schemas.openxmlformats.org/drawingml/2006/main">
              <a:ext uri="{FF2B5EF4-FFF2-40B4-BE49-F238E27FC236}">
                <a16:creationId xmlns:a16="http://schemas.microsoft.com/office/drawing/2014/main" id="{CAAB34A0-4729-477E-A58B-8C48F91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dispatch-condition-3">
            <a:extLst xmlns:a="http://schemas.openxmlformats.org/drawingml/2006/main">
              <a:ext uri="{FF2B5EF4-FFF2-40B4-BE49-F238E27FC236}">
                <a16:creationId xmlns:a16="http://schemas.microsoft.com/office/drawing/2014/main" id="{1E9E28E6-016E-49C6-B388-68A0C05E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242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action in E finishes together</a:t>
            </a:r>
          </a:p>
        </p:txBody>
      </p:sp>
      <p:sp>
        <p:nvSpPr>
          <p:cNvPr id="16" name="dispatch-dot-4">
            <a:extLst xmlns:a="http://schemas.openxmlformats.org/drawingml/2006/main">
              <a:ext uri="{FF2B5EF4-FFF2-40B4-BE49-F238E27FC236}">
                <a16:creationId xmlns:a16="http://schemas.microsoft.com/office/drawing/2014/main" id="{3BC7D6F5-8157-4B9F-A146-40BC0B02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dispatch-condition-4">
            <a:extLst xmlns:a="http://schemas.openxmlformats.org/drawingml/2006/main">
              <a:ext uri="{FF2B5EF4-FFF2-40B4-BE49-F238E27FC236}">
                <a16:creationId xmlns:a16="http://schemas.microsoft.com/office/drawing/2014/main" id="{E57BCFA5-8961-45F5-ABF0-CBB186B0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GCD time grid is required</a:t>
            </a:r>
          </a:p>
        </p:txBody>
      </p:sp>
      <p:sp>
        <p:nvSpPr>
          <p:cNvPr id="19" name="event-empty-case">
            <a:extLst xmlns:a="http://schemas.openxmlformats.org/drawingml/2006/main">
              <a:ext uri="{FF2B5EF4-FFF2-40B4-BE49-F238E27FC236}">
                <a16:creationId xmlns:a16="http://schemas.microsoft.com/office/drawing/2014/main" id="{C2EEAA02-8DEF-447D-91D8-4C2E28B7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If p⁺ = ∅, waiting has no successor event: Q(s,∅) = 0</a:t>
            </a:r>
          </a:p>
        </p:txBody>
      </p:sp>
    </p:spTree>
    <p:extLst>
      <p:ext uri="{BB962C8B-B14F-4D97-AF65-F5344CB8AC3E}">
        <p14:creationId xmlns:p14="http://schemas.microsoft.com/office/powerpoint/2010/main" val="1286996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3F95B0C-FDDC-4DF8-BBB4-376DD57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Successor state and transition probability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4FABA070-E527-42D8-98D1-C4C3A37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88BA6162-6BEF-409D-84D2-B5B3E30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transition-delta">
            <a:extLst xmlns:a="http://schemas.openxmlformats.org/drawingml/2006/main">
              <a:ext uri="{FF2B5EF4-FFF2-40B4-BE49-F238E27FC236}">
                <a16:creationId xmlns:a16="http://schemas.microsoft.com/office/drawing/2014/main" id="{8BAB8039-8102-4BFA-9E14-F4ED95E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4287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T((x,r,p), U, (x′,r′,p′))</a:t>
            </a:r>
          </a:p>
        </p:txBody>
      </p:sp>
      <p:sp>
        <p:nvSpPr>
          <p:cNvPr id="5" name="transition-arrow-291">
            <a:extLst xmlns:a="http://schemas.openxmlformats.org/drawingml/2006/main">
              <a:ext uri="{FF2B5EF4-FFF2-40B4-BE49-F238E27FC236}">
                <a16:creationId xmlns:a16="http://schemas.microsoft.com/office/drawing/2014/main" id="{DA54544E-46EE-4A16-9A45-D228DF4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ransition-arrow-601">
            <a:extLst xmlns:a="http://schemas.openxmlformats.org/drawingml/2006/main">
              <a:ext uri="{FF2B5EF4-FFF2-40B4-BE49-F238E27FC236}">
                <a16:creationId xmlns:a16="http://schemas.microsoft.com/office/drawing/2014/main" id="{64F7CEE6-0763-4F0F-BB83-22507CE7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ransition-arrow-911">
            <a:extLst xmlns:a="http://schemas.openxmlformats.org/drawingml/2006/main">
              <a:ext uri="{FF2B5EF4-FFF2-40B4-BE49-F238E27FC236}">
                <a16:creationId xmlns:a16="http://schemas.microsoft.com/office/drawing/2014/main" id="{3402D4AD-1516-4A0E-9BE9-CDD7B06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ransition-node-1">
            <a:extLst xmlns:a="http://schemas.openxmlformats.org/drawingml/2006/main">
              <a:ext uri="{FF2B5EF4-FFF2-40B4-BE49-F238E27FC236}">
                <a16:creationId xmlns:a16="http://schemas.microsoft.com/office/drawing/2014/main" id="{5AD7E802-70AE-4A89-AD51-74641C3C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ransition-num-1">
            <a:extLst xmlns:a="http://schemas.openxmlformats.org/drawingml/2006/main">
              <a:ext uri="{FF2B5EF4-FFF2-40B4-BE49-F238E27FC236}">
                <a16:creationId xmlns:a16="http://schemas.microsoft.com/office/drawing/2014/main" id="{D900757F-DA94-4922-9710-61C5A7B7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ransition-heading-1">
            <a:extLst xmlns:a="http://schemas.openxmlformats.org/drawingml/2006/main">
              <a:ext uri="{FF2B5EF4-FFF2-40B4-BE49-F238E27FC236}">
                <a16:creationId xmlns:a16="http://schemas.microsoft.com/office/drawing/2014/main" id="{1BC0590C-D462-413C-BBFA-5E9168D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outcome</a:t>
            </a:r>
          </a:p>
        </p:txBody>
      </p:sp>
      <p:sp>
        <p:nvSpPr>
          <p:cNvPr id="11" name="transition-body-1">
            <a:extLst xmlns:a="http://schemas.openxmlformats.org/drawingml/2006/main">
              <a:ext uri="{FF2B5EF4-FFF2-40B4-BE49-F238E27FC236}">
                <a16:creationId xmlns:a16="http://schemas.microsoft.com/office/drawing/2014/main" id="{5A15C095-9C78-4CD8-BAB1-3C46143E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Apply sampled start effects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to obtain x⁺</a:t>
            </a:r>
          </a:p>
        </p:txBody>
      </p:sp>
      <p:sp>
        <p:nvSpPr>
          <p:cNvPr id="12" name="transition-node-2">
            <a:extLst xmlns:a="http://schemas.openxmlformats.org/drawingml/2006/main">
              <a:ext uri="{FF2B5EF4-FFF2-40B4-BE49-F238E27FC236}">
                <a16:creationId xmlns:a16="http://schemas.microsoft.com/office/drawing/2014/main" id="{FB2C8A1D-D68E-44D8-BC34-71E83A2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ransition-num-2">
            <a:extLst xmlns:a="http://schemas.openxmlformats.org/drawingml/2006/main">
              <a:ext uri="{FF2B5EF4-FFF2-40B4-BE49-F238E27FC236}">
                <a16:creationId xmlns:a16="http://schemas.microsoft.com/office/drawing/2014/main" id="{F9883F09-163B-45B2-9E71-6AE41A8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ransition-heading-2">
            <a:extLst xmlns:a="http://schemas.openxmlformats.org/drawingml/2006/main">
              <a:ext uri="{FF2B5EF4-FFF2-40B4-BE49-F238E27FC236}">
                <a16:creationId xmlns:a16="http://schemas.microsoft.com/office/drawing/2014/main" id="{7924D7A4-BE56-4AC4-9CE8-7F2182A0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</a:t>
            </a:r>
          </a:p>
        </p:txBody>
      </p:sp>
      <p:sp>
        <p:nvSpPr>
          <p:cNvPr id="15" name="transition-body-2">
            <a:extLst xmlns:a="http://schemas.openxmlformats.org/drawingml/2006/main">
              <a:ext uri="{FF2B5EF4-FFF2-40B4-BE49-F238E27FC236}">
                <a16:creationId xmlns:a16="http://schemas.microsoft.com/office/drawing/2014/main" id="{EDA5FD72-A45E-4E05-9658-08B3CB3F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r′ = r − Δ</a:t>
            </a:r>
          </a:p>
        </p:txBody>
      </p:sp>
      <p:sp>
        <p:nvSpPr>
          <p:cNvPr id="16" name="transition-node-3">
            <a:extLst xmlns:a="http://schemas.openxmlformats.org/drawingml/2006/main">
              <a:ext uri="{FF2B5EF4-FFF2-40B4-BE49-F238E27FC236}">
                <a16:creationId xmlns:a16="http://schemas.microsoft.com/office/drawing/2014/main" id="{FE5047B4-C1C0-48A6-B12E-1EFA4955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ransition-num-3">
            <a:extLst xmlns:a="http://schemas.openxmlformats.org/drawingml/2006/main">
              <a:ext uri="{FF2B5EF4-FFF2-40B4-BE49-F238E27FC236}">
                <a16:creationId xmlns:a16="http://schemas.microsoft.com/office/drawing/2014/main" id="{267E73C8-3FFE-4F13-911F-C87AA39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transition-heading-3">
            <a:extLst xmlns:a="http://schemas.openxmlformats.org/drawingml/2006/main">
              <a:ext uri="{FF2B5EF4-FFF2-40B4-BE49-F238E27FC236}">
                <a16:creationId xmlns:a16="http://schemas.microsoft.com/office/drawing/2014/main" id="{075371F2-8F12-46EC-8531-0B14EA9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Survivors</a:t>
            </a:r>
          </a:p>
        </p:txBody>
      </p:sp>
      <p:sp>
        <p:nvSpPr>
          <p:cNvPr id="19" name="transition-body-3">
            <a:extLst xmlns:a="http://schemas.openxmlformats.org/drawingml/2006/main">
              <a:ext uri="{FF2B5EF4-FFF2-40B4-BE49-F238E27FC236}">
                <a16:creationId xmlns:a16="http://schemas.microsoft.com/office/drawing/2014/main" id="{B06E935B-DBEC-4599-B4BB-982B027B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p′ = {(a,δₐ−Δ) :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(a,δₐ)∈p⁺, δₐ&gt;Δ}</a:t>
            </a:r>
          </a:p>
        </p:txBody>
      </p:sp>
      <p:sp>
        <p:nvSpPr>
          <p:cNvPr id="20" name="transition-node-4">
            <a:extLst xmlns:a="http://schemas.openxmlformats.org/drawingml/2006/main">
              <a:ext uri="{FF2B5EF4-FFF2-40B4-BE49-F238E27FC236}">
                <a16:creationId xmlns:a16="http://schemas.microsoft.com/office/drawing/2014/main" id="{CFB46FEC-6B4D-4FCE-BD4F-7A181C7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ransition-num-4">
            <a:extLst xmlns:a="http://schemas.openxmlformats.org/drawingml/2006/main">
              <a:ext uri="{FF2B5EF4-FFF2-40B4-BE49-F238E27FC236}">
                <a16:creationId xmlns:a16="http://schemas.microsoft.com/office/drawing/2014/main" id="{D9AFBE9B-6AB4-4EE6-AA2A-112F3EB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ransition-heading-4">
            <a:extLst xmlns:a="http://schemas.openxmlformats.org/drawingml/2006/main">
              <a:ext uri="{FF2B5EF4-FFF2-40B4-BE49-F238E27FC236}">
                <a16:creationId xmlns:a16="http://schemas.microsoft.com/office/drawing/2014/main" id="{D8426B75-012A-4A05-B556-04E8BF85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End outcome</a:t>
            </a:r>
          </a:p>
        </p:txBody>
      </p:sp>
      <p:sp>
        <p:nvSpPr>
          <p:cNvPr id="23" name="transition-body-4">
            <a:extLst xmlns:a="http://schemas.openxmlformats.org/drawingml/2006/main">
              <a:ext uri="{FF2B5EF4-FFF2-40B4-BE49-F238E27FC236}">
                <a16:creationId xmlns:a16="http://schemas.microsoft.com/office/drawing/2014/main" id="{8DE65361-5D77-4538-B42E-E237AAF0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Apply the joint end outcome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of all actions in E → x′</a:t>
            </a:r>
          </a:p>
        </p:txBody>
      </p:sp>
      <p:sp>
        <p:nvSpPr>
          <p:cNvPr id="24" name="transition-rho-plus">
            <a:extLst xmlns:a="http://schemas.openxmlformats.org/drawingml/2006/main">
              <a:ext uri="{FF2B5EF4-FFF2-40B4-BE49-F238E27FC236}">
                <a16:creationId xmlns:a16="http://schemas.microsoft.com/office/drawing/2014/main" id="{2E1E52DB-DA6B-4893-9EC0-F4F5372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s′ = (x′, r′, p′)</a:t>
            </a:r>
          </a:p>
        </p:txBody>
      </p:sp>
      <p:sp>
        <p:nvSpPr>
          <p:cNvPr id="25" name="transition-next-state">
            <a:extLst xmlns:a="http://schemas.openxmlformats.org/drawingml/2006/main">
              <a:ext uri="{FF2B5EF4-FFF2-40B4-BE49-F238E27FC236}">
                <a16:creationId xmlns:a16="http://schemas.microsoft.com/office/drawing/2014/main" id="{730FB791-D7B4-4348-B05E-BE34317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0062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Δ fixes elapsed time</a:t>
            </a:r>
          </a:p>
        </p:txBody>
      </p:sp>
      <p:sp>
        <p:nvSpPr>
          <p:cNvPr id="26" name="transition-deadline">
            <a:extLst xmlns:a="http://schemas.openxmlformats.org/drawingml/2006/main">
              <a:ext uri="{FF2B5EF4-FFF2-40B4-BE49-F238E27FC236}">
                <a16:creationId xmlns:a16="http://schemas.microsoft.com/office/drawing/2014/main" id="{E216243B-30E2-42C1-98C4-1B1A9D47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 assigns probability to every joint combination of start and end outcomes</a:t>
            </a:r>
          </a:p>
        </p:txBody>
      </p:sp>
    </p:spTree>
    <p:extLst>
      <p:ext uri="{BB962C8B-B14F-4D97-AF65-F5344CB8AC3E}">
        <p14:creationId xmlns:p14="http://schemas.microsoft.com/office/powerpoint/2010/main" val="255475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D443DBBC-2FCD-473C-832F-03BE4D66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Finite event-driven model: definitions and open claim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B8DCE35F-FC0C-49DF-8CAE-192C271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6DAD5C3C-52AE-44D4-92B6-0350ACC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andor-arrow-1">
            <a:extLst xmlns:a="http://schemas.openxmlformats.org/drawingml/2006/main">
              <a:ext uri="{FF2B5EF4-FFF2-40B4-BE49-F238E27FC236}">
                <a16:creationId xmlns:a16="http://schemas.microsoft.com/office/drawing/2014/main" id="{05CF06AE-27BA-4B5F-BD15-2E4DB85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ndor-arrow-2">
            <a:extLst xmlns:a="http://schemas.openxmlformats.org/drawingml/2006/main">
              <a:ext uri="{FF2B5EF4-FFF2-40B4-BE49-F238E27FC236}">
                <a16:creationId xmlns:a16="http://schemas.microsoft.com/office/drawing/2014/main" id="{F423953C-00A0-44CC-BC6B-E445D3DD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ndor-arrow-3">
            <a:extLst xmlns:a="http://schemas.openxmlformats.org/drawingml/2006/main">
              <a:ext uri="{FF2B5EF4-FFF2-40B4-BE49-F238E27FC236}">
                <a16:creationId xmlns:a16="http://schemas.microsoft.com/office/drawing/2014/main" id="{FBAC8BFE-F788-408F-B678-B5F0886E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ndor-node-42">
            <a:extLst xmlns:a="http://schemas.openxmlformats.org/drawingml/2006/main">
              <a:ext uri="{FF2B5EF4-FFF2-40B4-BE49-F238E27FC236}">
                <a16:creationId xmlns:a16="http://schemas.microsoft.com/office/drawing/2014/main" id="{F23DB39D-FAF7-4A79-B6AA-7B0B209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ndor-tag-42">
            <a:extLst xmlns:a="http://schemas.openxmlformats.org/drawingml/2006/main">
              <a:ext uri="{FF2B5EF4-FFF2-40B4-BE49-F238E27FC236}">
                <a16:creationId xmlns:a16="http://schemas.microsoft.com/office/drawing/2014/main" id="{3361D540-3E18-4C1D-9AA7-21AD2FD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9" name="andor-body-42">
            <a:extLst xmlns:a="http://schemas.openxmlformats.org/drawingml/2006/main">
              <a:ext uri="{FF2B5EF4-FFF2-40B4-BE49-F238E27FC236}">
                <a16:creationId xmlns:a16="http://schemas.microsoft.com/office/drawing/2014/main" id="{A88C7EC0-2B00-4EBF-9F02-447769B2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s=(x,r,p)</a:t>
            </a:r>
          </a:p>
        </p:txBody>
      </p:sp>
      <p:sp>
        <p:nvSpPr>
          <p:cNvPr id="10" name="andor-node-368">
            <a:extLst xmlns:a="http://schemas.openxmlformats.org/drawingml/2006/main">
              <a:ext uri="{FF2B5EF4-FFF2-40B4-BE49-F238E27FC236}">
                <a16:creationId xmlns:a16="http://schemas.microsoft.com/office/drawing/2014/main" id="{C7BAF40A-06A0-44FC-A939-06BE907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ndor-tag-368">
            <a:extLst xmlns:a="http://schemas.openxmlformats.org/drawingml/2006/main">
              <a:ext uri="{FF2B5EF4-FFF2-40B4-BE49-F238E27FC236}">
                <a16:creationId xmlns:a16="http://schemas.microsoft.com/office/drawing/2014/main" id="{87662FB4-52AE-4F0E-A4A7-25F1BCA4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12" name="andor-body-368">
            <a:extLst xmlns:a="http://schemas.openxmlformats.org/drawingml/2006/main">
              <a:ext uri="{FF2B5EF4-FFF2-40B4-BE49-F238E27FC236}">
                <a16:creationId xmlns:a16="http://schemas.microsoft.com/office/drawing/2014/main" id="{67FB46E1-2C99-44AD-A58A-26F6B8D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U</a:t>
            </a:r>
          </a:p>
        </p:txBody>
      </p:sp>
      <p:sp>
        <p:nvSpPr>
          <p:cNvPr id="13" name="andor-node-694">
            <a:extLst xmlns:a="http://schemas.openxmlformats.org/drawingml/2006/main">
              <a:ext uri="{FF2B5EF4-FFF2-40B4-BE49-F238E27FC236}">
                <a16:creationId xmlns:a16="http://schemas.microsoft.com/office/drawing/2014/main" id="{39CE72AD-0C29-40D4-8EB1-0FFD84C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ndor-tag-694">
            <a:extLst xmlns:a="http://schemas.openxmlformats.org/drawingml/2006/main">
              <a:ext uri="{FF2B5EF4-FFF2-40B4-BE49-F238E27FC236}">
                <a16:creationId xmlns:a16="http://schemas.microsoft.com/office/drawing/2014/main" id="{EE778506-E144-4326-A2D3-FFE92F8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/ chance</a:t>
            </a:r>
          </a:p>
        </p:txBody>
      </p:sp>
      <p:sp>
        <p:nvSpPr>
          <p:cNvPr id="15" name="andor-body-694">
            <a:extLst xmlns:a="http://schemas.openxmlformats.org/drawingml/2006/main">
              <a:ext uri="{FF2B5EF4-FFF2-40B4-BE49-F238E27FC236}">
                <a16:creationId xmlns:a16="http://schemas.microsoft.com/office/drawing/2014/main" id="{2135B39F-A707-4C28-B865-76F2716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Stochastic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outcomes</a:t>
            </a:r>
          </a:p>
        </p:txBody>
      </p:sp>
      <p:sp>
        <p:nvSpPr>
          <p:cNvPr id="16" name="andor-node-1020">
            <a:extLst xmlns:a="http://schemas.openxmlformats.org/drawingml/2006/main">
              <a:ext uri="{FF2B5EF4-FFF2-40B4-BE49-F238E27FC236}">
                <a16:creationId xmlns:a16="http://schemas.microsoft.com/office/drawing/2014/main" id="{4DDC3CCF-A547-4E27-AEB4-8151FC29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ndor-tag-1020">
            <a:extLst xmlns:a="http://schemas.openxmlformats.org/drawingml/2006/main">
              <a:ext uri="{FF2B5EF4-FFF2-40B4-BE49-F238E27FC236}">
                <a16:creationId xmlns:a16="http://schemas.microsoft.com/office/drawing/2014/main" id="{2FD35836-769E-4974-857F-D43D28A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18" name="andor-body-1020">
            <a:extLst xmlns:a="http://schemas.openxmlformats.org/drawingml/2006/main">
              <a:ext uri="{FF2B5EF4-FFF2-40B4-BE49-F238E27FC236}">
                <a16:creationId xmlns:a16="http://schemas.microsoft.com/office/drawing/2014/main" id="{7FCFC934-70F7-4097-BBD2-C25D8CF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state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s′</a:t>
            </a:r>
          </a:p>
        </p:txBody>
      </p:sp>
      <p:sp>
        <p:nvSpPr>
          <p:cNvPr id="19" name="markov-result">
            <a:extLst xmlns:a="http://schemas.openxmlformats.org/drawingml/2006/main">
              <a:ext uri="{FF2B5EF4-FFF2-40B4-BE49-F238E27FC236}">
                <a16:creationId xmlns:a16="http://schemas.microsoft.com/office/drawing/2014/main" id="{334AAC39-0EF8-4338-9E83-C9410C0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markov-result-title">
            <a:extLst xmlns:a="http://schemas.openxmlformats.org/drawingml/2006/main">
              <a:ext uri="{FF2B5EF4-FFF2-40B4-BE49-F238E27FC236}">
                <a16:creationId xmlns:a16="http://schemas.microsoft.com/office/drawing/2014/main" id="{7523280E-1205-4132-BDD9-502A9DA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cases</a:t>
            </a:r>
          </a:p>
        </p:txBody>
      </p:sp>
      <p:sp>
        <p:nvSpPr>
          <p:cNvPr id="21" name="markov-result-body">
            <a:extLst xmlns:a="http://schemas.openxmlformats.org/drawingml/2006/main">
              <a:ext uri="{FF2B5EF4-FFF2-40B4-BE49-F238E27FC236}">
                <a16:creationId xmlns:a16="http://schemas.microsoft.com/office/drawing/2014/main" id="{6F99F7B5-C422-4B08-A36A-FA1BD049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4838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 ⊆ x  ⇒  V(s) = 1   (absorbing success)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= ∅, G ⊄ x  ⇒  Q(s, ∅) = 0   (waiting cannot change the state)</a:t>
            </a:r>
          </a:p>
        </p:txBody>
      </p:sp>
      <p:sp>
        <p:nvSpPr>
          <p:cNvPr id="22" name="proof-obligation">
            <a:extLst xmlns:a="http://schemas.openxmlformats.org/drawingml/2006/main">
              <a:ext uri="{FF2B5EF4-FFF2-40B4-BE49-F238E27FC236}">
                <a16:creationId xmlns:a16="http://schemas.microsoft.com/office/drawing/2014/main" id="{EC3B23C4-BC6B-41D9-A089-8ED6FF5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573405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proof-obligation-title">
            <a:extLst xmlns:a="http://schemas.openxmlformats.org/drawingml/2006/main">
              <a:ext uri="{FF2B5EF4-FFF2-40B4-BE49-F238E27FC236}">
                <a16:creationId xmlns:a16="http://schemas.microsoft.com/office/drawing/2014/main" id="{2A8B8FA4-ED4B-41D5-95BA-11A5FA2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status</a:t>
            </a:r>
          </a:p>
        </p:txBody>
      </p:sp>
      <p:sp>
        <p:nvSpPr>
          <p:cNvPr id="24" name="proof-obligation-body">
            <a:extLst xmlns:a="http://schemas.openxmlformats.org/drawingml/2006/main">
              <a:ext uri="{FF2B5EF4-FFF2-40B4-BE49-F238E27FC236}">
                <a16:creationId xmlns:a16="http://schemas.microsoft.com/office/drawing/2014/main" id="{B790BD83-C6DA-40FA-AFF7-F99CDCC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 / SMDP: one step consumes variable Δ.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r in the state, Bellman DP applies to the finite model.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Still to prove: event-only starts preserve the optimal value.</a:t>
            </a:r>
          </a:p>
        </p:txBody>
      </p:sp>
    </p:spTree>
    <p:extLst>
      <p:ext uri="{BB962C8B-B14F-4D97-AF65-F5344CB8AC3E}">
        <p14:creationId xmlns:p14="http://schemas.microsoft.com/office/powerpoint/2010/main" val="39199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2026-08-25T08:46:35.6020000Z</dcterms:created>
  <dcterms:modified xsi:type="dcterms:W3CDTF">2026-08-25T08:46:35.6020000Z</dcterms:modified>
</coreProperties>
</file>
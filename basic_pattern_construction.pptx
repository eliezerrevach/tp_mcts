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b481319714a4a" /><Relationship Type="http://schemas.openxmlformats.org/officeDocument/2006/relationships/extended-properties" Target="/docProps/app.xml" Id="Rf5c2f2621a2a4edb" /><Relationship Type="http://schemas.openxmlformats.org/officeDocument/2006/relationships/officeDocument" Target="/ppt/presentation.xml" Id="R9d4426a38bb941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6fbe576bee429b"/>
  </p:sldMasterIdLst>
  <p:notesMasterIdLst>
    <p:notesMasterId xmlns:r="http://schemas.openxmlformats.org/officeDocument/2006/relationships" r:id="Rb8a65a565d9848ad"/>
  </p:notesMasterIdLst>
  <p:sldIdLst>
    <p:sldId xmlns:r="http://schemas.openxmlformats.org/officeDocument/2006/relationships" id="256" r:id="R816364a9794d468a"/>
    <p:sldId xmlns:r="http://schemas.openxmlformats.org/officeDocument/2006/relationships" id="257" r:id="R942b4ffc9cb64102"/>
    <p:sldId xmlns:r="http://schemas.openxmlformats.org/officeDocument/2006/relationships" id="258" r:id="Rff75e697383641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027185d5e4188" /><Relationship Type="http://schemas.openxmlformats.org/officeDocument/2006/relationships/slideMaster" Target="/ppt/slideMasters/slideMaster1.xml" Id="Rda6fbe576bee429b" /><Relationship Type="http://schemas.openxmlformats.org/officeDocument/2006/relationships/notesMaster" Target="/ppt/notesMasters/notesMaster1.xml" Id="Rb8a65a565d9848ad" /><Relationship Type="http://schemas.openxmlformats.org/officeDocument/2006/relationships/presProps" Target="/ppt/presProps.xml" Id="Rb583f53b31664601" /><Relationship Type="http://schemas.openxmlformats.org/officeDocument/2006/relationships/tableStyles" Target="/ppt/tableStyles.xml" Id="Rf14ffa6dcb9e4c94" /><Relationship Type="http://schemas.openxmlformats.org/officeDocument/2006/relationships/slide" Target="/ppt/slides/slide1.xml" Id="R816364a9794d468a" /><Relationship Type="http://schemas.openxmlformats.org/officeDocument/2006/relationships/slide" Target="/ppt/slides/slide2.xml" Id="R942b4ffc9cb64102" /><Relationship Type="http://schemas.openxmlformats.org/officeDocument/2006/relationships/slide" Target="/ppt/slides/slide3.xml" Id="Rff75e6973836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b401977eb64b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0e8d60e6f743f5" /><Relationship Type="http://schemas.openxmlformats.org/officeDocument/2006/relationships/notesMaster" Target="/ppt/notesMasters/notesMaster1.xml" Id="R9ff1c986a7eb43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4fbb9b31f4af1" /><Relationship Type="http://schemas.openxmlformats.org/officeDocument/2006/relationships/notesMaster" Target="/ppt/notesMasters/notesMaster1.xml" Id="R9b3fec346b224d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a33a3302f24256" /><Relationship Type="http://schemas.openxmlformats.org/officeDocument/2006/relationships/notesMaster" Target="/ppt/notesMasters/notesMaster1.xml" Id="Red1c0599cb9d4b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Phi denotes the pattern facts; p remains the set of running actions.</a:t>
            </a:r>
          </a:p>
          <a:p xmlns:a="http://schemas.openxmlformats.org/drawingml/2006/main">
            <a:r>
              <a:t>Keeping all of p is the simple safe first formulation. A later abstraction may remove irrelevant running records only with a separate correctness argument.</a:t>
            </a:r>
          </a:p>
          <a:p xmlns:a="http://schemas.openxmlformats.org/drawingml/2006/main">
            <a:r>
              <a:t>If G' is only part of a conjunctive goal, reaching G' is itself a relaxation.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pattern-construction formulation and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should target the current optimal abstract solution; the existence of some unrelated concrete plan is not enough to explain the abstract value.</a:t>
            </a:r>
          </a:p>
          <a:p xmlns:a="http://schemas.openxmlformats.org/drawingml/2006/main">
            <a:r>
              <a:t>A single abstract path may be used only as a pattern-selection heuristic. Full realizability in a stochastic model concerns the reachable branches of a policy.</a:t>
            </a:r>
          </a:p>
          <a:p xmlns:a="http://schemas.openxmlformats.org/drawingml/2006/main">
            <a:r>
              <a:t>A blocker may also arise from an omitted end condition, invariant, interference condition, or temporal constraint. Such a blocker must have a representable refinement feature.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refinement loop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success-probability maximization, removing conditions enlarges the policy set and therefore yields an optimistic value.</a:t>
            </a:r>
          </a:p>
          <a:p xmlns:a="http://schemas.openxmlformats.org/drawingml/2006/main">
            <a:r>
              <a:t>The guarantee assumes omitted facts do not silently change action probabilities or durations. If they do, those dependencies must be retained or relaxed optimistically.</a:t>
            </a:r>
          </a:p>
          <a:p xmlns:a="http://schemas.openxmlformats.org/drawingml/2006/main">
            <a:r>
              <a:t>Average empirical performance is not an admissibility proof.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admissibility objective and theoretical corrections from this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a9f94d4185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5fb337378641fc" /><Relationship Type="http://schemas.openxmlformats.org/officeDocument/2006/relationships/slideLayout" Target="/ppt/slideLayouts/slideLayout1.xml" Id="R9e7025f38e3d4b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025f38e3d4b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610a1628a47f8" /><Relationship Type="http://schemas.openxmlformats.org/officeDocument/2006/relationships/notesSlide" Target="/ppt/notesSlides/notesSlide1.xml" Id="R75ee80382eb44f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dda1f2ac64180" /><Relationship Type="http://schemas.openxmlformats.org/officeDocument/2006/relationships/notesSlide" Target="/ppt/notesSlides/notesSlide2.xml" Id="Raa0433475a3347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4d91ea4284d55" /><Relationship Type="http://schemas.openxmlformats.org/officeDocument/2006/relationships/notesSlide" Target="/ppt/notesSlides/notesSlide3.xml" Id="R3f92bf97e56945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137BC253-5A99-46D9-907D-E47CDB65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pattern starts with the selected goal</a:t>
            </a:r>
          </a:p>
        </p:txBody>
      </p:sp>
      <p:sp>
        <p:nvSpPr>
          <p:cNvPr id="2" name="slide-1-title-rule">
            <a:extLst xmlns:a="http://schemas.openxmlformats.org/drawingml/2006/main">
              <a:ext uri="{FF2B5EF4-FFF2-40B4-BE49-F238E27FC236}">
                <a16:creationId xmlns:a16="http://schemas.microsoft.com/office/drawing/2014/main" id="{C21E8241-01CB-4E51-872F-4DFDD8CF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D3FCB1FF-3B7E-40A3-AC8C-3FD8597D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initialize-to-project-arrow">
            <a:extLst xmlns:a="http://schemas.openxmlformats.org/drawingml/2006/main">
              <a:ext uri="{FF2B5EF4-FFF2-40B4-BE49-F238E27FC236}">
                <a16:creationId xmlns:a16="http://schemas.microsoft.com/office/drawing/2014/main" id="{E25B75A0-21D0-4848-91F1-5FC6F3A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14675"/>
            <a:ext cx="8763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goal-initialization">
            <a:extLst xmlns:a="http://schemas.openxmlformats.org/drawingml/2006/main">
              <a:ext uri="{FF2B5EF4-FFF2-40B4-BE49-F238E27FC236}">
                <a16:creationId xmlns:a16="http://schemas.microsoft.com/office/drawing/2014/main" id="{EAD91399-8A5A-46F0-A8DA-0A61F526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5433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6" name="goal-step">
            <a:extLst xmlns:a="http://schemas.openxmlformats.org/drawingml/2006/main">
              <a:ext uri="{FF2B5EF4-FFF2-40B4-BE49-F238E27FC236}">
                <a16:creationId xmlns:a16="http://schemas.microsoft.com/office/drawing/2014/main" id="{B70567FC-FBCD-4596-B6BC-C1FE23A1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  Choose a goal</a:t>
            </a:r>
          </a:p>
        </p:txBody>
      </p:sp>
      <p:sp>
        <p:nvSpPr>
          <p:cNvPr id="7" name="goal-symbol">
            <a:extLst xmlns:a="http://schemas.openxmlformats.org/drawingml/2006/main">
              <a:ext uri="{FF2B5EF4-FFF2-40B4-BE49-F238E27FC236}">
                <a16:creationId xmlns:a16="http://schemas.microsoft.com/office/drawing/2014/main" id="{48A5C568-0122-4FA2-9D94-3EAADBA2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209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G′</a:t>
            </a:r>
          </a:p>
        </p:txBody>
      </p:sp>
      <p:sp>
        <p:nvSpPr>
          <p:cNvPr id="8" name="pattern-initialization">
            <a:extLst xmlns:a="http://schemas.openxmlformats.org/drawingml/2006/main">
              <a:ext uri="{FF2B5EF4-FFF2-40B4-BE49-F238E27FC236}">
                <a16:creationId xmlns:a16="http://schemas.microsoft.com/office/drawing/2014/main" id="{45F7E7C1-26F3-4860-9939-D21BF158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781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Φ₀ = G′</a:t>
            </a:r>
          </a:p>
        </p:txBody>
      </p:sp>
      <p:sp>
        <p:nvSpPr>
          <p:cNvPr id="9" name="pattern-not-empty">
            <a:extLst xmlns:a="http://schemas.openxmlformats.org/drawingml/2006/main">
              <a:ext uri="{FF2B5EF4-FFF2-40B4-BE49-F238E27FC236}">
                <a16:creationId xmlns:a16="http://schemas.microsoft.com/office/drawing/2014/main" id="{1DF8081B-B363-4F0C-8D91-FEE5B8EF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95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The pattern is not empty: it must recognize the goal</a:t>
            </a:r>
          </a:p>
        </p:txBody>
      </p:sp>
      <p:sp>
        <p:nvSpPr>
          <p:cNvPr id="10" name="compile-label">
            <a:extLst xmlns:a="http://schemas.openxmlformats.org/drawingml/2006/main">
              <a:ext uri="{FF2B5EF4-FFF2-40B4-BE49-F238E27FC236}">
                <a16:creationId xmlns:a16="http://schemas.microsoft.com/office/drawing/2014/main" id="{7C4F7A3D-97C4-4D45-8671-B8858574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619250"/>
            <a:ext cx="678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 Compile CoMDP+ once, then project it onto Φ</a:t>
            </a:r>
          </a:p>
        </p:txBody>
      </p:sp>
      <p:sp>
        <p:nvSpPr>
          <p:cNvPr id="11" name="projection-area">
            <a:extLst xmlns:a="http://schemas.openxmlformats.org/drawingml/2006/main">
              <a:ext uri="{FF2B5EF4-FFF2-40B4-BE49-F238E27FC236}">
                <a16:creationId xmlns:a16="http://schemas.microsoft.com/office/drawing/2014/main" id="{45DA1DAA-57C3-49CB-93D8-8CD51C3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76475"/>
            <a:ext cx="6781800" cy="2981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tate-projection">
            <a:extLst xmlns:a="http://schemas.openxmlformats.org/drawingml/2006/main">
              <a:ext uri="{FF2B5EF4-FFF2-40B4-BE49-F238E27FC236}">
                <a16:creationId xmlns:a16="http://schemas.microsoft.com/office/drawing/2014/main" id="{59C6D26F-2391-4626-BA34-1CE08A3A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5943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αΦ(x, r, p) = (x ∩ Φ, r, p)</a:t>
            </a:r>
          </a:p>
        </p:txBody>
      </p:sp>
      <p:sp>
        <p:nvSpPr>
          <p:cNvPr id="13" name="projection-divider">
            <a:extLst xmlns:a="http://schemas.openxmlformats.org/drawingml/2006/main">
              <a:ext uri="{FF2B5EF4-FFF2-40B4-BE49-F238E27FC236}">
                <a16:creationId xmlns:a16="http://schemas.microsoft.com/office/drawing/2014/main" id="{0A59E1A9-D0DF-4177-B27B-562FD178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05175"/>
            <a:ext cx="594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re-projection">
            <a:extLst xmlns:a="http://schemas.openxmlformats.org/drawingml/2006/main">
              <a:ext uri="{FF2B5EF4-FFF2-40B4-BE49-F238E27FC236}">
                <a16:creationId xmlns:a16="http://schemas.microsoft.com/office/drawing/2014/main" id="{A2056DA0-D727-4121-8463-ABF024F1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33775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preΦ(a) = pre(a) ∩ Φ</a:t>
            </a:r>
          </a:p>
        </p:txBody>
      </p:sp>
      <p:sp>
        <p:nvSpPr>
          <p:cNvPr id="15" name="effect-projection">
            <a:extLst xmlns:a="http://schemas.openxmlformats.org/drawingml/2006/main">
              <a:ext uri="{FF2B5EF4-FFF2-40B4-BE49-F238E27FC236}">
                <a16:creationId xmlns:a16="http://schemas.microsoft.com/office/drawing/2014/main" id="{6FCAAAAB-8F17-45E1-B99C-5C50B9BC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76700"/>
            <a:ext cx="579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effΦ(a,o) = eff(a,o) ∩ Φ</a:t>
            </a:r>
          </a:p>
        </p:txBody>
      </p:sp>
      <p:sp>
        <p:nvSpPr>
          <p:cNvPr id="16" name="keep-semantics">
            <a:extLst xmlns:a="http://schemas.openxmlformats.org/drawingml/2006/main">
              <a:ext uri="{FF2B5EF4-FFF2-40B4-BE49-F238E27FC236}">
                <a16:creationId xmlns:a16="http://schemas.microsoft.com/office/drawing/2014/main" id="{6868D7B6-D88D-46C7-906A-F7BDF7DD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579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Keep durations, probabilities, r, and p unchanged</a:t>
            </a:r>
          </a:p>
        </p:txBody>
      </p:sp>
      <p:sp>
        <p:nvSpPr>
          <p:cNvPr id="17" name="terminal-value-band">
            <a:extLst xmlns:a="http://schemas.openxmlformats.org/drawingml/2006/main">
              <a:ext uri="{FF2B5EF4-FFF2-40B4-BE49-F238E27FC236}">
                <a16:creationId xmlns:a16="http://schemas.microsoft.com/office/drawing/2014/main" id="{236CE66B-8FC7-4468-84BF-E74C6CD7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629275"/>
            <a:ext cx="91630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18" name="terminal-value">
            <a:extLst xmlns:a="http://schemas.openxmlformats.org/drawingml/2006/main">
              <a:ext uri="{FF2B5EF4-FFF2-40B4-BE49-F238E27FC236}">
                <a16:creationId xmlns:a16="http://schemas.microsoft.com/office/drawing/2014/main" id="{C66E4A10-7FB4-4DBB-ACEE-E4C313EB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5753100"/>
            <a:ext cx="859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Terminal value: 1 if G′ is reached before the deadline; otherwise 0</a:t>
            </a:r>
          </a:p>
        </p:txBody>
      </p:sp>
    </p:spTree>
    <p:extLst>
      <p:ext uri="{BB962C8B-B14F-4D97-AF65-F5344CB8AC3E}">
        <p14:creationId xmlns:p14="http://schemas.microsoft.com/office/powerpoint/2010/main" val="1329125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B5BDAD18-7CC5-4A06-B7C9-65B39652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the abstraction, test it, and add one missing fact</a:t>
            </a:r>
          </a:p>
        </p:txBody>
      </p:sp>
      <p:sp>
        <p:nvSpPr>
          <p:cNvPr id="2" name="slide-2-title-rule">
            <a:extLst xmlns:a="http://schemas.openxmlformats.org/drawingml/2006/main">
              <a:ext uri="{FF2B5EF4-FFF2-40B4-BE49-F238E27FC236}">
                <a16:creationId xmlns:a16="http://schemas.microsoft.com/office/drawing/2014/main" id="{7D1E4E2E-094E-4FD0-A485-63D18557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B9718C1-39F8-4CBE-B621-A435B7E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loop-forward-arrow-286">
            <a:extLst xmlns:a="http://schemas.openxmlformats.org/drawingml/2006/main">
              <a:ext uri="{FF2B5EF4-FFF2-40B4-BE49-F238E27FC236}">
                <a16:creationId xmlns:a16="http://schemas.microsoft.com/office/drawing/2014/main" id="{9E90A48B-442C-4037-AABC-A3774C22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5" name="loop-forward-arrow-592">
            <a:extLst xmlns:a="http://schemas.openxmlformats.org/drawingml/2006/main">
              <a:ext uri="{FF2B5EF4-FFF2-40B4-BE49-F238E27FC236}">
                <a16:creationId xmlns:a16="http://schemas.microsoft.com/office/drawing/2014/main" id="{08277BC5-B97D-4469-82A1-8FF0E490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6" name="loop-forward-arrow-898">
            <a:extLst xmlns:a="http://schemas.openxmlformats.org/drawingml/2006/main">
              <a:ext uri="{FF2B5EF4-FFF2-40B4-BE49-F238E27FC236}">
                <a16:creationId xmlns:a16="http://schemas.microsoft.com/office/drawing/2014/main" id="{C4A3C908-706A-4E57-BFDA-63AB4D199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609600" cy="3714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7" name="loop-return-arrow">
            <a:extLst xmlns:a="http://schemas.openxmlformats.org/drawingml/2006/main">
              <a:ext uri="{FF2B5EF4-FFF2-40B4-BE49-F238E27FC236}">
                <a16:creationId xmlns:a16="http://schemas.microsoft.com/office/drawing/2014/main" id="{86BCCD59-71F9-4C1C-A098-0349C3D4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286375"/>
            <a:ext cx="8248650" cy="3238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8" name="loop-step-1">
            <a:extLst xmlns:a="http://schemas.openxmlformats.org/drawingml/2006/main">
              <a:ext uri="{FF2B5EF4-FFF2-40B4-BE49-F238E27FC236}">
                <a16:creationId xmlns:a16="http://schemas.microsoft.com/office/drawing/2014/main" id="{9E788CC7-5EDC-4FB1-BF14-B4AE8688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oop-number-1">
            <a:extLst xmlns:a="http://schemas.openxmlformats.org/drawingml/2006/main">
              <a:ext uri="{FF2B5EF4-FFF2-40B4-BE49-F238E27FC236}">
                <a16:creationId xmlns:a16="http://schemas.microsoft.com/office/drawing/2014/main" id="{96B3F9B8-9236-4021-B26C-6DD6023A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46A7328A-E929-4BD0-B69B-EDE30B61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Build MΦ</a:t>
            </a:r>
          </a:p>
        </p:txBody>
      </p:sp>
      <p:sp>
        <p:nvSpPr>
          <p:cNvPr id="11" name="loop-body-1">
            <a:extLst xmlns:a="http://schemas.openxmlformats.org/drawingml/2006/main">
              <a:ext uri="{FF2B5EF4-FFF2-40B4-BE49-F238E27FC236}">
                <a16:creationId xmlns:a16="http://schemas.microsoft.com/office/drawing/2014/main" id="{6C06D8B4-44DF-489F-A0A1-1D2D3CD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Project the current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pattern Φ</a:t>
            </a:r>
          </a:p>
        </p:txBody>
      </p:sp>
      <p:sp>
        <p:nvSpPr>
          <p:cNvPr id="12" name="loop-step-2">
            <a:extLst xmlns:a="http://schemas.openxmlformats.org/drawingml/2006/main">
              <a:ext uri="{FF2B5EF4-FFF2-40B4-BE49-F238E27FC236}">
                <a16:creationId xmlns:a16="http://schemas.microsoft.com/office/drawing/2014/main" id="{EBDDDEDD-7AE2-43E2-84FC-C17BECC4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loop-number-2">
            <a:extLst xmlns:a="http://schemas.openxmlformats.org/drawingml/2006/main">
              <a:ext uri="{FF2B5EF4-FFF2-40B4-BE49-F238E27FC236}">
                <a16:creationId xmlns:a16="http://schemas.microsoft.com/office/drawing/2014/main" id="{470E6F55-474F-4247-8A85-FA0377B8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2E304DCD-958A-4399-922D-33FF8857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Solve exactly</a:t>
            </a:r>
          </a:p>
        </p:txBody>
      </p:sp>
      <p:sp>
        <p:nvSpPr>
          <p:cNvPr id="15" name="loop-body-2">
            <a:extLst xmlns:a="http://schemas.openxmlformats.org/drawingml/2006/main">
              <a:ext uri="{FF2B5EF4-FFF2-40B4-BE49-F238E27FC236}">
                <a16:creationId xmlns:a16="http://schemas.microsoft.com/office/drawing/2014/main" id="{D11BF175-3C56-4B72-8B39-C8DB12F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Finite VI or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backward DP</a:t>
            </a:r>
          </a:p>
        </p:txBody>
      </p:sp>
      <p:sp>
        <p:nvSpPr>
          <p:cNvPr id="16" name="loop-step-3">
            <a:extLst xmlns:a="http://schemas.openxmlformats.org/drawingml/2006/main">
              <a:ext uri="{FF2B5EF4-FFF2-40B4-BE49-F238E27FC236}">
                <a16:creationId xmlns:a16="http://schemas.microsoft.com/office/drawing/2014/main" id="{1DD881C7-1848-435C-801A-53C13767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loop-number-3">
            <a:extLst xmlns:a="http://schemas.openxmlformats.org/drawingml/2006/main">
              <a:ext uri="{FF2B5EF4-FFF2-40B4-BE49-F238E27FC236}">
                <a16:creationId xmlns:a16="http://schemas.microsoft.com/office/drawing/2014/main" id="{36C28DE5-CC4B-473D-84EC-8E0DC55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0B8CA6F-0352-4BCE-B29C-FB4E886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9" name="loop-body-3">
            <a:extLst xmlns:a="http://schemas.openxmlformats.org/drawingml/2006/main">
              <a:ext uri="{FF2B5EF4-FFF2-40B4-BE49-F238E27FC236}">
                <a16:creationId xmlns:a16="http://schemas.microsoft.com/office/drawing/2014/main" id="{18AF2DDA-4D7F-46B4-AE0C-FDE20256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Optimal abstract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policy / solution</a:t>
            </a:r>
          </a:p>
        </p:txBody>
      </p:sp>
      <p:sp>
        <p:nvSpPr>
          <p:cNvPr id="20" name="loop-step-4">
            <a:extLst xmlns:a="http://schemas.openxmlformats.org/drawingml/2006/main">
              <a:ext uri="{FF2B5EF4-FFF2-40B4-BE49-F238E27FC236}">
                <a16:creationId xmlns:a16="http://schemas.microsoft.com/office/drawing/2014/main" id="{6ACE8512-E572-453D-8CF5-DF7FB3E8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47875"/>
            <a:ext cx="26479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1FC"/>
          </a:solidFill>
          <a:ln xmlns:a="http://schemas.openxmlformats.org/drawingml/2006/main" w="19050">
            <a:solidFill>
              <a:srgbClr val="3187F5"/>
            </a:solidFill>
            <a:prstDash val="solid"/>
          </a:ln>
        </p:spPr>
      </p:sp>
      <p:sp>
        <p:nvSpPr>
          <p:cNvPr id="21" name="loop-number-4">
            <a:extLst xmlns:a="http://schemas.openxmlformats.org/drawingml/2006/main">
              <a:ext uri="{FF2B5EF4-FFF2-40B4-BE49-F238E27FC236}">
                <a16:creationId xmlns:a16="http://schemas.microsoft.com/office/drawing/2014/main" id="{8E2282B3-8B6E-4F64-BCF6-1946E4B1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193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187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87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DFEB36E5-AE1D-48AD-8F75-58021251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23" name="loop-body-4">
            <a:extLst xmlns:a="http://schemas.openxmlformats.org/drawingml/2006/main">
              <a:ext uri="{FF2B5EF4-FFF2-40B4-BE49-F238E27FC236}">
                <a16:creationId xmlns:a16="http://schemas.microsoft.com/office/drawing/2014/main" id="{72EE301F-2AA6-4649-8B0B-7B468293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432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Test it in the</a:t>
            </a:r>
          </a:p>
          <a:p xmlns:a="http://schemas.openxmlformats.org/drawingml/2006/main">
            <a:pPr algn="ctr">
              <a:defRPr sz="142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original CoMDP+</a:t>
            </a:r>
          </a:p>
        </p:txBody>
      </p:sp>
      <p:sp>
        <p:nvSpPr>
          <p:cNvPr id="24" name="blocked-refinement">
            <a:extLst xmlns:a="http://schemas.openxmlformats.org/drawingml/2006/main">
              <a:ext uri="{FF2B5EF4-FFF2-40B4-BE49-F238E27FC236}">
                <a16:creationId xmlns:a16="http://schemas.microsoft.com/office/drawing/2014/main" id="{5EBC33A3-15A8-4918-AB00-3F7426C5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765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5" name="blocked-label">
            <a:extLst xmlns:a="http://schemas.openxmlformats.org/drawingml/2006/main">
              <a:ext uri="{FF2B5EF4-FFF2-40B4-BE49-F238E27FC236}">
                <a16:creationId xmlns:a16="http://schemas.microsoft.com/office/drawing/2014/main" id="{5EBABA0E-25E4-4C55-ABEB-9C55CB80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33900"/>
            <a:ext cx="224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If blocked at action a</a:t>
            </a:r>
          </a:p>
        </p:txBody>
      </p:sp>
      <p:sp>
        <p:nvSpPr>
          <p:cNvPr id="26" name="blocked-fact">
            <a:extLst xmlns:a="http://schemas.openxmlformats.org/drawingml/2006/main">
              <a:ext uri="{FF2B5EF4-FFF2-40B4-BE49-F238E27FC236}">
                <a16:creationId xmlns:a16="http://schemas.microsoft.com/office/drawing/2014/main" id="{2E133B02-B322-4934-B788-079C0636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339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choose  f ∈ pre(a) − Φ</a:t>
            </a:r>
          </a:p>
        </p:txBody>
      </p:sp>
      <p:sp>
        <p:nvSpPr>
          <p:cNvPr id="27" name="blocked-update">
            <a:extLst xmlns:a="http://schemas.openxmlformats.org/drawingml/2006/main">
              <a:ext uri="{FF2B5EF4-FFF2-40B4-BE49-F238E27FC236}">
                <a16:creationId xmlns:a16="http://schemas.microsoft.com/office/drawing/2014/main" id="{EDC08ADB-CE3F-499C-AFE9-D761D549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339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Φ ← Φ ∪ {f}</a:t>
            </a:r>
          </a:p>
        </p:txBody>
      </p:sp>
      <p:sp>
        <p:nvSpPr>
          <p:cNvPr id="28" name="policy-note">
            <a:extLst xmlns:a="http://schemas.openxmlformats.org/drawingml/2006/main">
              <a:ext uri="{FF2B5EF4-FFF2-40B4-BE49-F238E27FC236}">
                <a16:creationId xmlns:a16="http://schemas.microsoft.com/office/drawing/2014/main" id="{B94B68AA-1946-4378-BE08-B69C0142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15025"/>
            <a:ext cx="872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In a stochastic model the solution is a policy, not only one action sequence</a:t>
            </a:r>
          </a:p>
        </p:txBody>
      </p:sp>
    </p:spTree>
    <p:extLst>
      <p:ext uri="{BB962C8B-B14F-4D97-AF65-F5344CB8AC3E}">
        <p14:creationId xmlns:p14="http://schemas.microsoft.com/office/powerpoint/2010/main" val="1536329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E15FC0A-630B-46AF-B3A7-D622ADF4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solution of the relaxed MDP gives an upper bound</a:t>
            </a:r>
          </a:p>
        </p:txBody>
      </p:sp>
      <p:sp>
        <p:nvSpPr>
          <p:cNvPr id="2" name="slide-3-title-rule">
            <a:extLst xmlns:a="http://schemas.openxmlformats.org/drawingml/2006/main">
              <a:ext uri="{FF2B5EF4-FFF2-40B4-BE49-F238E27FC236}">
                <a16:creationId xmlns:a16="http://schemas.microsoft.com/office/drawing/2014/main" id="{EC8343FF-DDD5-4DCF-9329-36E85F15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715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6AA9F7AD-E5FC-4419-B65E-D303695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627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65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065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admissibility-equation">
            <a:extLst xmlns:a="http://schemas.openxmlformats.org/drawingml/2006/main">
              <a:ext uri="{FF2B5EF4-FFF2-40B4-BE49-F238E27FC236}">
                <a16:creationId xmlns:a16="http://schemas.microsoft.com/office/drawing/2014/main" id="{EE88C93B-478D-42DE-9EBF-7264B841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621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VΦ(αΦ(s))  ≥  V*(s)</a:t>
            </a:r>
          </a:p>
        </p:txBody>
      </p:sp>
      <p:sp>
        <p:nvSpPr>
          <p:cNvPr id="5" name="admissibility-accent-rule">
            <a:extLst xmlns:a="http://schemas.openxmlformats.org/drawingml/2006/main">
              <a:ext uri="{FF2B5EF4-FFF2-40B4-BE49-F238E27FC236}">
                <a16:creationId xmlns:a16="http://schemas.microsoft.com/office/drawing/2014/main" id="{20F21DCF-FEDE-48D6-B025-1D775EFB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187F5"/>
            </a:solidFill>
            <a:prstDash val="solid"/>
          </a:ln>
        </p:spPr>
      </p:sp>
      <p:sp>
        <p:nvSpPr>
          <p:cNvPr id="6" name="stop-heading">
            <a:extLst xmlns:a="http://schemas.openxmlformats.org/drawingml/2006/main">
              <a:ext uri="{FF2B5EF4-FFF2-40B4-BE49-F238E27FC236}">
                <a16:creationId xmlns:a16="http://schemas.microsoft.com/office/drawing/2014/main" id="{3E6BC51E-DFA0-46D5-883F-719A922F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Stop when</a:t>
            </a:r>
          </a:p>
        </p:txBody>
      </p:sp>
      <p:sp>
        <p:nvSpPr>
          <p:cNvPr id="7" name="stop-realizable-dot">
            <a:extLst xmlns:a="http://schemas.openxmlformats.org/drawingml/2006/main">
              <a:ext uri="{FF2B5EF4-FFF2-40B4-BE49-F238E27FC236}">
                <a16:creationId xmlns:a16="http://schemas.microsoft.com/office/drawing/2014/main" id="{5DE6E7E0-3FA5-4821-808C-F9933B9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8" name="stop-realizable">
            <a:extLst xmlns:a="http://schemas.openxmlformats.org/drawingml/2006/main">
              <a:ext uri="{FF2B5EF4-FFF2-40B4-BE49-F238E27FC236}">
                <a16:creationId xmlns:a16="http://schemas.microsoft.com/office/drawing/2014/main" id="{F3606883-04F9-4B65-9B5B-BCCF4144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3377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selected abstract solution is realizable</a:t>
            </a:r>
          </a:p>
        </p:txBody>
      </p:sp>
      <p:sp>
        <p:nvSpPr>
          <p:cNvPr id="9" name="stop-budget-dot">
            <a:extLst xmlns:a="http://schemas.openxmlformats.org/drawingml/2006/main">
              <a:ext uri="{FF2B5EF4-FFF2-40B4-BE49-F238E27FC236}">
                <a16:creationId xmlns:a16="http://schemas.microsoft.com/office/drawing/2014/main" id="{B6DE4A22-FAD0-4CED-A039-561E0549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0" name="stop-budget">
            <a:extLst xmlns:a="http://schemas.openxmlformats.org/drawingml/2006/main">
              <a:ext uri="{FF2B5EF4-FFF2-40B4-BE49-F238E27FC236}">
                <a16:creationId xmlns:a16="http://schemas.microsoft.com/office/drawing/2014/main" id="{59AA6CDB-23C9-477F-BB24-E58D6601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fact budget is full</a:t>
            </a:r>
          </a:p>
        </p:txBody>
      </p:sp>
      <p:sp>
        <p:nvSpPr>
          <p:cNvPr id="11" name="stop-no-refinement-dot">
            <a:extLst xmlns:a="http://schemas.openxmlformats.org/drawingml/2006/main">
              <a:ext uri="{FF2B5EF4-FFF2-40B4-BE49-F238E27FC236}">
                <a16:creationId xmlns:a16="http://schemas.microsoft.com/office/drawing/2014/main" id="{49CDCF31-A0D9-40EA-AB00-1D3F97E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2" name="stop-no-refinement">
            <a:extLst xmlns:a="http://schemas.openxmlformats.org/drawingml/2006/main">
              <a:ext uri="{FF2B5EF4-FFF2-40B4-BE49-F238E27FC236}">
                <a16:creationId xmlns:a16="http://schemas.microsoft.com/office/drawing/2014/main" id="{D9815CBD-3D58-405F-AA6E-32C047F8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81525"/>
            <a:ext cx="449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useful missing fact remains</a:t>
            </a:r>
          </a:p>
        </p:txBody>
      </p:sp>
      <p:sp>
        <p:nvSpPr>
          <p:cNvPr id="13" name="admissibility-column-divider">
            <a:extLst xmlns:a="http://schemas.openxmlformats.org/drawingml/2006/main">
              <a:ext uri="{FF2B5EF4-FFF2-40B4-BE49-F238E27FC236}">
                <a16:creationId xmlns:a16="http://schemas.microsoft.com/office/drawing/2014/main" id="{2924F96E-AD6E-41F7-8A4D-CB2B730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62275"/>
            <a:ext cx="0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guarantee-heading">
            <a:extLst xmlns:a="http://schemas.openxmlformats.org/drawingml/2006/main">
              <a:ext uri="{FF2B5EF4-FFF2-40B4-BE49-F238E27FC236}">
                <a16:creationId xmlns:a16="http://schemas.microsoft.com/office/drawing/2014/main" id="{1B7BE430-8D92-4DF5-9EE5-FAF2C40E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43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bound requires</a:t>
            </a:r>
          </a:p>
        </p:txBody>
      </p:sp>
      <p:sp>
        <p:nvSpPr>
          <p:cNvPr id="15" name="guarantee-relaxation-dot">
            <a:extLst xmlns:a="http://schemas.openxmlformats.org/drawingml/2006/main">
              <a:ext uri="{FF2B5EF4-FFF2-40B4-BE49-F238E27FC236}">
                <a16:creationId xmlns:a16="http://schemas.microsoft.com/office/drawing/2014/main" id="{D85CA3F7-8BBC-47F2-AD37-3A8FEB09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6" name="guarantee-relaxation">
            <a:extLst xmlns:a="http://schemas.openxmlformats.org/drawingml/2006/main">
              <a:ext uri="{FF2B5EF4-FFF2-40B4-BE49-F238E27FC236}">
                <a16:creationId xmlns:a16="http://schemas.microsoft.com/office/drawing/2014/main" id="{B58A7501-FCB3-4033-954B-AD6EC85F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concrete transition is represented abstractly</a:t>
            </a:r>
          </a:p>
        </p:txBody>
      </p:sp>
      <p:sp>
        <p:nvSpPr>
          <p:cNvPr id="17" name="guarantee-semantics-dot">
            <a:extLst xmlns:a="http://schemas.openxmlformats.org/drawingml/2006/main">
              <a:ext uri="{FF2B5EF4-FFF2-40B4-BE49-F238E27FC236}">
                <a16:creationId xmlns:a16="http://schemas.microsoft.com/office/drawing/2014/main" id="{8A5C5642-43D4-4FF8-A3A6-0287444A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52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18" name="guarantee-semantics">
            <a:extLst xmlns:a="http://schemas.openxmlformats.org/drawingml/2006/main">
              <a:ext uri="{FF2B5EF4-FFF2-40B4-BE49-F238E27FC236}">
                <a16:creationId xmlns:a16="http://schemas.microsoft.com/office/drawing/2014/main" id="{DD185E52-B92E-4445-84FA-FBDD905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Durations and probabilities are projected consistently</a:t>
            </a:r>
          </a:p>
        </p:txBody>
      </p:sp>
      <p:sp>
        <p:nvSpPr>
          <p:cNvPr id="19" name="guarantee-exact-dot">
            <a:extLst xmlns:a="http://schemas.openxmlformats.org/drawingml/2006/main">
              <a:ext uri="{FF2B5EF4-FFF2-40B4-BE49-F238E27FC236}">
                <a16:creationId xmlns:a16="http://schemas.microsoft.com/office/drawing/2014/main" id="{DF8A69B9-C8C7-4704-BF95-E211477B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7F5"/>
          </a:solidFill>
          <a:ln xmlns:a="http://schemas.openxmlformats.org/drawingml/2006/main" w="0">
            <a:solidFill>
              <a:srgbClr val="3187F5"/>
            </a:solidFill>
            <a:prstDash val="solid"/>
          </a:ln>
        </p:spPr>
      </p:sp>
      <p:sp>
        <p:nvSpPr>
          <p:cNvPr id="20" name="guarantee-exact">
            <a:extLst xmlns:a="http://schemas.openxmlformats.org/drawingml/2006/main">
              <a:ext uri="{FF2B5EF4-FFF2-40B4-BE49-F238E27FC236}">
                <a16:creationId xmlns:a16="http://schemas.microsoft.com/office/drawing/2014/main" id="{94A95387-43C3-413D-A438-4DC68C0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81525"/>
            <a:ext cx="4743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abstract finite MDP is solved exactly</a:t>
            </a:r>
          </a:p>
        </p:txBody>
      </p:sp>
      <p:sp>
        <p:nvSpPr>
          <p:cNvPr id="21" name="refinement-takeaway">
            <a:extLst xmlns:a="http://schemas.openxmlformats.org/drawingml/2006/main">
              <a:ext uri="{FF2B5EF4-FFF2-40B4-BE49-F238E27FC236}">
                <a16:creationId xmlns:a16="http://schemas.microsoft.com/office/drawing/2014/main" id="{7974A7B9-7BB3-4A27-94AA-FE076551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94869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3187F5"/>
            </a:solidFill>
            <a:prstDash val="solid"/>
          </a:ln>
        </p:spPr>
      </p:sp>
      <p:sp>
        <p:nvSpPr>
          <p:cNvPr id="22" name="refinement-takeaway-text">
            <a:extLst xmlns:a="http://schemas.openxmlformats.org/drawingml/2006/main">
              <a:ext uri="{FF2B5EF4-FFF2-40B4-BE49-F238E27FC236}">
                <a16:creationId xmlns:a16="http://schemas.microsoft.com/office/drawing/2014/main" id="{0EFFC1B8-A311-4728-AF56-06CC9CDB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705475"/>
            <a:ext cx="891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Refinement tightens the upper bound; it does not create admissibility</a:t>
            </a:r>
          </a:p>
        </p:txBody>
      </p:sp>
    </p:spTree>
    <p:extLst>
      <p:ext uri="{BB962C8B-B14F-4D97-AF65-F5344CB8AC3E}">
        <p14:creationId xmlns:p14="http://schemas.microsoft.com/office/powerpoint/2010/main" val="1767737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2026-08-25T09:46:55.4300000Z</dcterms:created>
  <dcterms:modified xsi:type="dcterms:W3CDTF">2026-08-25T09:46:55.4300000Z</dcterms:modified>
</coreProperties>
</file>
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bfcb20db6d4bd5" /><Relationship Type="http://schemas.openxmlformats.org/officeDocument/2006/relationships/extended-properties" Target="/docProps/app.xml" Id="Rf139844e3b7a4f20" /><Relationship Type="http://schemas.openxmlformats.org/officeDocument/2006/relationships/officeDocument" Target="/ppt/presentation.xml" Id="R93d2565af5dc44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42dc7fd3414da2"/>
  </p:sldMasterIdLst>
  <p:notesMasterIdLst>
    <p:notesMasterId xmlns:r="http://schemas.openxmlformats.org/officeDocument/2006/relationships" r:id="R198ce576925a44b0"/>
  </p:notesMasterIdLst>
  <p:sldIdLst>
    <p:sldId xmlns:r="http://schemas.openxmlformats.org/officeDocument/2006/relationships" id="256" r:id="R0a2f772b86144caa"/>
    <p:sldId xmlns:r="http://schemas.openxmlformats.org/officeDocument/2006/relationships" id="257" r:id="Rbeeaa6643bc746f1"/>
    <p:sldId xmlns:r="http://schemas.openxmlformats.org/officeDocument/2006/relationships" id="258" r:id="R8214a29275e84089"/>
    <p:sldId xmlns:r="http://schemas.openxmlformats.org/officeDocument/2006/relationships" id="259" r:id="R21eb1d783de842ac"/>
    <p:sldId xmlns:r="http://schemas.openxmlformats.org/officeDocument/2006/relationships" id="260" r:id="Re303d8d8701f43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abef655adb4bcf" /><Relationship Type="http://schemas.openxmlformats.org/officeDocument/2006/relationships/slideMaster" Target="/ppt/slideMasters/slideMaster1.xml" Id="Rdd42dc7fd3414da2" /><Relationship Type="http://schemas.openxmlformats.org/officeDocument/2006/relationships/notesMaster" Target="/ppt/notesMasters/notesMaster1.xml" Id="R198ce576925a44b0" /><Relationship Type="http://schemas.openxmlformats.org/officeDocument/2006/relationships/presProps" Target="/ppt/presProps.xml" Id="R52c7e5dad5ff4684" /><Relationship Type="http://schemas.openxmlformats.org/officeDocument/2006/relationships/tableStyles" Target="/ppt/tableStyles.xml" Id="R3182cae74af245e2" /><Relationship Type="http://schemas.openxmlformats.org/officeDocument/2006/relationships/slide" Target="/ppt/slides/slide1.xml" Id="R0a2f772b86144caa" /><Relationship Type="http://schemas.openxmlformats.org/officeDocument/2006/relationships/slide" Target="/ppt/slides/slide2.xml" Id="Rbeeaa6643bc746f1" /><Relationship Type="http://schemas.openxmlformats.org/officeDocument/2006/relationships/slide" Target="/ppt/slides/slide3.xml" Id="R8214a29275e84089" /><Relationship Type="http://schemas.openxmlformats.org/officeDocument/2006/relationships/slide" Target="/ppt/slides/slide4.xml" Id="R21eb1d783de842ac" /><Relationship Type="http://schemas.openxmlformats.org/officeDocument/2006/relationships/slide" Target="/ppt/slides/slide5.xml" Id="Re303d8d8701f43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b234176faf45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6f021ab64840eb" /><Relationship Type="http://schemas.openxmlformats.org/officeDocument/2006/relationships/notesMaster" Target="/ppt/notesMasters/notesMaster1.xml" Id="R97ca3b0331784b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e0440983a4dc4" /><Relationship Type="http://schemas.openxmlformats.org/officeDocument/2006/relationships/notesMaster" Target="/ppt/notesMasters/notesMaster1.xml" Id="R025c48c969e74e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88dd0ffa3b4905" /><Relationship Type="http://schemas.openxmlformats.org/officeDocument/2006/relationships/notesMaster" Target="/ppt/notesMasters/notesMaster1.xml" Id="R0286c11a45f943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13075e641b4fa6" /><Relationship Type="http://schemas.openxmlformats.org/officeDocument/2006/relationships/notesMaster" Target="/ppt/notesMasters/notesMaster1.xml" Id="Rc5e7d480fb3048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e9f8851ed14106" /><Relationship Type="http://schemas.openxmlformats.org/officeDocument/2006/relationships/notesMaster" Target="/ppt/notesMasters/notesMaster1.xml" Id="R9d137a5a311346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only the reformulation from CoMDP+ to an event-driven finite-state control model.</a:t>
            </a:r>
          </a:p>
          <a:p xmlns:a="http://schemas.openxmlformats.org/drawingml/2006/main">
            <a:r>
              <a:t>The pattern abstraction and its solution method are deliberately outside this short deck.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CoMDP+ to event-driven MDP formulation,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 is the set of facts that currently hold.</a:t>
            </a:r>
          </a:p>
          <a:p xmlns:a="http://schemas.openxmlformats.org/drawingml/2006/main">
            <a:r>
              <a:t>r is the remaining time before the deadline.</a:t>
            </a:r>
          </a:p>
          <a:p xmlns:a="http://schemas.openxmlformats.org/drawingml/2006/main">
            <a:r>
              <a:t>p stores every running action instance a together with lambda_a, its remaining time until completion.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state representation,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an OR state, the policy chooses one dispatch set U.</a:t>
            </a:r>
          </a:p>
          <a:p xmlns:a="http://schemas.openxmlformats.org/drawingml/2006/main">
            <a:r>
              <a:t>All actions in U begin at the same decision time.</a:t>
            </a:r>
          </a:p>
          <a:p xmlns:a="http://schemas.openxmlformats.org/drawingml/2006/main">
            <a:r>
              <a:t>The empty set is the waiting choice. Treating noop as the empty set prevents it from being dispatched together with real actions.</a:t>
            </a:r>
          </a:p>
          <a:p xmlns:a="http://schemas.openxmlformats.org/drawingml/2006/main">
            <a:r>
              <a:t>Under the current fixed-duration, plan-completion deadline semantics, every dispatched action must satisfy d(a) &lt;= r.</a:t>
            </a:r>
          </a:p>
          <a:p xmlns:a="http://schemas.openxmlformats.org/drawingml/2006/main">
            <a:r>
              <a:t>Running states should likewise maintain lambda_a &lt;= r for every action already in 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group-action and deadline semantics,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add the newly dispatched actions to the running set with their full durations.</a:t>
            </a:r>
          </a:p>
          <a:p xmlns:a="http://schemas.openxmlformats.org/drawingml/2006/main">
            <a:r>
              <a:t>Delta is the smaller of the remaining deadline and the earliest remaining action duration.</a:t>
            </a:r>
          </a:p>
          <a:p xmlns:a="http://schemas.openxmlformats.org/drawingml/2006/main">
            <a:r>
              <a:t>The new running set removes all actions finishing at Delta and decreases every surviving remaining duration by Delta.</a:t>
            </a:r>
          </a:p>
          <a:p xmlns:a="http://schemas.openxmlformats.org/drawingml/2006/main">
            <a:r>
              <a:t>x-prime includes the sampled start outcomes of U and the sampled end outcomes of actions completing at Delta.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earliest-event transition,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 nodes choose U; AND/chance nodes branch over stochastic start and end outcomes; every branch reaches the next event state.</a:t>
            </a:r>
          </a:p>
          <a:p xmlns:a="http://schemas.openxmlformats.org/drawingml/2006/main">
            <a:r>
              <a:t>Terminal success has priority: if the goal is present in x, the value is one.</a:t>
            </a:r>
          </a:p>
          <a:p xmlns:a="http://schemas.openxmlformats.org/drawingml/2006/main">
            <a:r>
              <a:t>Terminal failure occurs only when the goal is absent and no time remains.</a:t>
            </a:r>
          </a:p>
          <a:p xmlns:a="http://schemas.openxmlformats.org/drawingml/2006/main">
            <a:r>
              <a:t>p being empty is not terminal because a non-empty dispatch U may still be legal.</a:t>
            </a:r>
          </a:p>
          <a:p xmlns:a="http://schemas.openxmlformats.org/drawingml/2006/main">
            <a:r>
              <a:t>If p is empty and the policy chooses noop, the deadline is the next event; this is an action consequence, not a terminal-state definition.</a:t>
            </a:r>
          </a:p>
          <a:p xmlns:a="http://schemas.openxmlformats.org/drawingml/2006/main">
            <a:r>
              <a:t>The event-only start restriction remains a proof obligation.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goal and deadline terminal semantics,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a3db3ffc54f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6bfbd98b464012" /><Relationship Type="http://schemas.openxmlformats.org/officeDocument/2006/relationships/slideLayout" Target="/ppt/slideLayouts/slideLayout1.xml" Id="R9b18d7e1cbe645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18d7e1cbe645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098e96a4940b6" /><Relationship Type="http://schemas.openxmlformats.org/officeDocument/2006/relationships/notesSlide" Target="/ppt/notesSlides/notesSlide1.xml" Id="Re3bf976896a844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7cd743e044308" /><Relationship Type="http://schemas.openxmlformats.org/officeDocument/2006/relationships/notesSlide" Target="/ppt/notesSlides/notesSlide2.xml" Id="R1ae864cedddd42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4fa3db3cc4f27" /><Relationship Type="http://schemas.openxmlformats.org/officeDocument/2006/relationships/notesSlide" Target="/ppt/notesSlides/notesSlide3.xml" Id="Rad39eea675c345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225d055454dd4" /><Relationship Type="http://schemas.openxmlformats.org/officeDocument/2006/relationships/notesSlide" Target="/ppt/notesSlides/notesSlide4.xml" Id="R484c38a5d57c45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afb448aac4758" /><Relationship Type="http://schemas.openxmlformats.org/officeDocument/2006/relationships/notesSlide" Target="/ppt/notesSlides/notesSlide5.xml" Id="R9f3d4288d45c4f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5652959-4ED8-4946-AF35-4D8B8975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TEMPORAL STOCHASTIC PLANNING</a:t>
            </a:r>
          </a:p>
        </p:txBody>
      </p:sp>
      <p:sp>
        <p:nvSpPr>
          <p:cNvPr id="2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4A308D8E-F2EA-417C-A7A9-5FA9019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THEORETICAL MODEL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964A31-A1A7-4B3A-98B9-9A9F3373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95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CECBF1-236F-4CAD-BBD1-CB0EAAF8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CoMDP+ to an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event-driven MDP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59CBB85-1A25-4C04-BDD7-995E6A86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State, dispatch decisions, and stochastic transitions at completion events</a:t>
            </a:r>
          </a:p>
        </p:txBody>
      </p:sp>
    </p:spTree>
    <p:extLst>
      <p:ext uri="{BB962C8B-B14F-4D97-AF65-F5344CB8AC3E}">
        <p14:creationId xmlns:p14="http://schemas.microsoft.com/office/powerpoint/2010/main" val="1996321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B004E17-9749-48C8-9FF3-388FD15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state stores facts, time, and running actions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0DA4CEB9-7E61-4766-A875-30EB3BD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D82F412-7FCF-4306-B6C7-1326ADD3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tate-equation">
            <a:extLst xmlns:a="http://schemas.openxmlformats.org/drawingml/2006/main">
              <a:ext uri="{FF2B5EF4-FFF2-40B4-BE49-F238E27FC236}">
                <a16:creationId xmlns:a16="http://schemas.microsoft.com/office/drawing/2014/main" id="{5D7206F8-774C-45CF-8CB1-8866D0A9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 = (x, r, p)</a:t>
            </a:r>
          </a:p>
        </p:txBody>
      </p:sp>
      <p:sp>
        <p:nvSpPr>
          <p:cNvPr id="5" name="state-accent-rule">
            <a:extLst xmlns:a="http://schemas.openxmlformats.org/drawingml/2006/main">
              <a:ext uri="{FF2B5EF4-FFF2-40B4-BE49-F238E27FC236}">
                <a16:creationId xmlns:a16="http://schemas.microsoft.com/office/drawing/2014/main" id="{6EF52518-2AA4-4714-803C-D8EDD7B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526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state-panel-1">
            <a:extLst xmlns:a="http://schemas.openxmlformats.org/drawingml/2006/main">
              <a:ext uri="{FF2B5EF4-FFF2-40B4-BE49-F238E27FC236}">
                <a16:creationId xmlns:a16="http://schemas.microsoft.com/office/drawing/2014/main" id="{DF6B31CA-FD2E-4DF4-9F31-DD510DD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05075"/>
            <a:ext cx="35623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tate-label-1">
            <a:extLst xmlns:a="http://schemas.openxmlformats.org/drawingml/2006/main">
              <a:ext uri="{FF2B5EF4-FFF2-40B4-BE49-F238E27FC236}">
                <a16:creationId xmlns:a16="http://schemas.microsoft.com/office/drawing/2014/main" id="{664E9234-1265-435A-81F0-F8A6397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x — facts</a:t>
            </a:r>
          </a:p>
        </p:txBody>
      </p:sp>
      <p:sp>
        <p:nvSpPr>
          <p:cNvPr id="9" name="state-panel-2">
            <a:extLst xmlns:a="http://schemas.openxmlformats.org/drawingml/2006/main">
              <a:ext uri="{FF2B5EF4-FFF2-40B4-BE49-F238E27FC236}">
                <a16:creationId xmlns:a16="http://schemas.microsoft.com/office/drawing/2014/main" id="{2ED689B8-147B-4669-A606-1B5F246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05075"/>
            <a:ext cx="35623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tate-label-2">
            <a:extLst xmlns:a="http://schemas.openxmlformats.org/drawingml/2006/main">
              <a:ext uri="{FF2B5EF4-FFF2-40B4-BE49-F238E27FC236}">
                <a16:creationId xmlns:a16="http://schemas.microsoft.com/office/drawing/2014/main" id="{CECE195D-0213-48EF-A4B3-60BAF30F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 — remaining time</a:t>
            </a:r>
          </a:p>
        </p:txBody>
      </p:sp>
      <p:sp>
        <p:nvSpPr>
          <p:cNvPr id="12" name="state-panel-3">
            <a:extLst xmlns:a="http://schemas.openxmlformats.org/drawingml/2006/main">
              <a:ext uri="{FF2B5EF4-FFF2-40B4-BE49-F238E27FC236}">
                <a16:creationId xmlns:a16="http://schemas.microsoft.com/office/drawing/2014/main" id="{8D7C6F22-05F4-4AAF-9C70-0912864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35623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ate-label-3">
            <a:extLst xmlns:a="http://schemas.openxmlformats.org/drawingml/2006/main">
              <a:ext uri="{FF2B5EF4-FFF2-40B4-BE49-F238E27FC236}">
                <a16:creationId xmlns:a16="http://schemas.microsoft.com/office/drawing/2014/main" id="{18D4458A-1BDE-4FEC-953F-AB54F7C4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574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— running actions</a:t>
            </a:r>
          </a:p>
        </p:txBody>
      </p:sp>
      <p:sp>
        <p:nvSpPr>
          <p:cNvPr id="17" name="state-dispatch-panel">
            <a:extLst xmlns:a="http://schemas.openxmlformats.org/drawingml/2006/main">
              <a:ext uri="{FF2B5EF4-FFF2-40B4-BE49-F238E27FC236}">
                <a16:creationId xmlns:a16="http://schemas.microsoft.com/office/drawing/2014/main" id="{EA31F9E2-EDD1-4DBD-8E22-4F91177F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9052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state-dispatch-title">
            <a:extLst xmlns:a="http://schemas.openxmlformats.org/drawingml/2006/main">
              <a:ext uri="{FF2B5EF4-FFF2-40B4-BE49-F238E27FC236}">
                <a16:creationId xmlns:a16="http://schemas.microsoft.com/office/drawing/2014/main" id="{49150695-79A3-41EB-A8E9-CF621EE9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 = {(a, λₐ)}</a:t>
            </a:r>
          </a:p>
        </p:txBody>
      </p:sp>
      <p:sp>
        <p:nvSpPr>
          <p:cNvPr id="19" name="state-dispatch-equation">
            <a:extLst xmlns:a="http://schemas.openxmlformats.org/drawingml/2006/main">
              <a:ext uri="{FF2B5EF4-FFF2-40B4-BE49-F238E27FC236}">
                <a16:creationId xmlns:a16="http://schemas.microsoft.com/office/drawing/2014/main" id="{F6D1B656-058F-495B-9952-732F4D4D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— running action instance</a:t>
            </a:r>
          </a:p>
        </p:txBody>
      </p:sp>
      <p:sp>
        <p:nvSpPr>
          <p:cNvPr id="20" name="state-dispatch-body">
            <a:extLst xmlns:a="http://schemas.openxmlformats.org/drawingml/2006/main">
              <a:ext uri="{FF2B5EF4-FFF2-40B4-BE49-F238E27FC236}">
                <a16:creationId xmlns:a16="http://schemas.microsoft.com/office/drawing/2014/main" id="{5F6125C5-20D3-41B2-93BA-0FF387E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34099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" name="state-feasible-panel">
            <a:extLst xmlns:a="http://schemas.openxmlformats.org/drawingml/2006/main">
              <a:ext uri="{FF2B5EF4-FFF2-40B4-BE49-F238E27FC236}">
                <a16:creationId xmlns:a16="http://schemas.microsoft.com/office/drawing/2014/main" id="{FFBF75C1-B5E8-4AA7-93D7-8D5402E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72199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tate-feasible-title">
            <a:extLst xmlns:a="http://schemas.openxmlformats.org/drawingml/2006/main">
              <a:ext uri="{FF2B5EF4-FFF2-40B4-BE49-F238E27FC236}">
                <a16:creationId xmlns:a16="http://schemas.microsoft.com/office/drawing/2014/main" id="{7BD5E4B7-8A0A-4B40-A6BD-A345121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664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λₐ</a:t>
            </a:r>
          </a:p>
        </p:txBody>
      </p:sp>
      <p:sp>
        <p:nvSpPr>
          <p:cNvPr id="23" name="state-feasible-pre">
            <a:extLst xmlns:a="http://schemas.openxmlformats.org/drawingml/2006/main">
              <a:ext uri="{FF2B5EF4-FFF2-40B4-BE49-F238E27FC236}">
                <a16:creationId xmlns:a16="http://schemas.microsoft.com/office/drawing/2014/main" id="{C5512F58-EF15-48EA-8AA3-7A1E207D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863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time until action a finishes</a:t>
            </a:r>
          </a:p>
        </p:txBody>
      </p:sp>
    </p:spTree>
    <p:extLst>
      <p:ext uri="{BB962C8B-B14F-4D97-AF65-F5344CB8AC3E}">
        <p14:creationId xmlns:p14="http://schemas.microsoft.com/office/powerpoint/2010/main" val="19716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DB97487-CF19-4B2B-8992-75F0362A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MDP action is a dispatch set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0113F707-620C-40D5-859A-97B9D858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1822D3F1-D5FA-4B60-A34F-78CEEFF0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dispatch-equation">
            <a:extLst xmlns:a="http://schemas.openxmlformats.org/drawingml/2006/main">
              <a:ext uri="{FF2B5EF4-FFF2-40B4-BE49-F238E27FC236}">
                <a16:creationId xmlns:a16="http://schemas.microsoft.com/office/drawing/2014/main" id="{FAED118E-775F-4683-B3A1-35D69066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 = (x,r,p)   →   choose U</a:t>
            </a:r>
          </a:p>
        </p:txBody>
      </p:sp>
      <p:sp>
        <p:nvSpPr>
          <p:cNvPr id="5" name="dispatch-explanation">
            <a:extLst xmlns:a="http://schemas.openxmlformats.org/drawingml/2006/main">
              <a:ext uri="{FF2B5EF4-FFF2-40B4-BE49-F238E27FC236}">
                <a16:creationId xmlns:a16="http://schemas.microsoft.com/office/drawing/2014/main" id="{7F242E46-2397-4A86-A013-D40465C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 ⊆ A: actions started together</a:t>
            </a:r>
          </a:p>
        </p:txBody>
      </p:sp>
      <p:sp>
        <p:nvSpPr>
          <p:cNvPr id="6" name="dispatch-wait-panel">
            <a:extLst xmlns:a="http://schemas.openxmlformats.org/drawingml/2006/main">
              <a:ext uri="{FF2B5EF4-FFF2-40B4-BE49-F238E27FC236}">
                <a16:creationId xmlns:a16="http://schemas.microsoft.com/office/drawing/2014/main" id="{B1178580-19B3-44EE-B039-2D642D9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914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dispatch-wait">
            <a:extLst xmlns:a="http://schemas.openxmlformats.org/drawingml/2006/main">
              <a:ext uri="{FF2B5EF4-FFF2-40B4-BE49-F238E27FC236}">
                <a16:creationId xmlns:a16="http://schemas.microsoft.com/office/drawing/2014/main" id="{D973DE01-DA2B-42C6-BF31-2EA276A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457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 = ∅   ≡   noop / wait</a:t>
            </a:r>
          </a:p>
        </p:txBody>
      </p:sp>
      <p:sp>
        <p:nvSpPr>
          <p:cNvPr id="8" name="dispatch-conditions-panel">
            <a:extLst xmlns:a="http://schemas.openxmlformats.org/drawingml/2006/main">
              <a:ext uri="{FF2B5EF4-FFF2-40B4-BE49-F238E27FC236}">
                <a16:creationId xmlns:a16="http://schemas.microsoft.com/office/drawing/2014/main" id="{D3850B65-76A8-4B80-B51E-449F26B4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38300"/>
            <a:ext cx="56578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dispatch-conditions-title">
            <a:extLst xmlns:a="http://schemas.openxmlformats.org/drawingml/2006/main">
              <a:ext uri="{FF2B5EF4-FFF2-40B4-BE49-F238E27FC236}">
                <a16:creationId xmlns:a16="http://schemas.microsoft.com/office/drawing/2014/main" id="{6813AE75-7260-4D5B-8039-7FFC9A0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 is legal when</a:t>
            </a:r>
          </a:p>
        </p:txBody>
      </p:sp>
      <p:sp>
        <p:nvSpPr>
          <p:cNvPr id="10" name="dispatch-dot-1">
            <a:extLst xmlns:a="http://schemas.openxmlformats.org/drawingml/2006/main">
              <a:ext uri="{FF2B5EF4-FFF2-40B4-BE49-F238E27FC236}">
                <a16:creationId xmlns:a16="http://schemas.microsoft.com/office/drawing/2014/main" id="{EABD0CAF-7374-44F6-8D69-93A3038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dispatch-condition-1">
            <a:extLst xmlns:a="http://schemas.openxmlformats.org/drawingml/2006/main">
              <a:ext uri="{FF2B5EF4-FFF2-40B4-BE49-F238E27FC236}">
                <a16:creationId xmlns:a16="http://schemas.microsoft.com/office/drawing/2014/main" id="{85DBFCBE-CA3B-4C9D-AF17-1DA7945C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384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conditions hold in x</a:t>
            </a:r>
          </a:p>
        </p:txBody>
      </p:sp>
      <p:sp>
        <p:nvSpPr>
          <p:cNvPr id="12" name="dispatch-dot-2">
            <a:extLst xmlns:a="http://schemas.openxmlformats.org/drawingml/2006/main">
              <a:ext uri="{FF2B5EF4-FFF2-40B4-BE49-F238E27FC236}">
                <a16:creationId xmlns:a16="http://schemas.microsoft.com/office/drawing/2014/main" id="{4FD3D898-D3A5-4CDD-829C-DFDAD479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9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dispatch-condition-2">
            <a:extLst xmlns:a="http://schemas.openxmlformats.org/drawingml/2006/main">
              <a:ext uri="{FF2B5EF4-FFF2-40B4-BE49-F238E27FC236}">
                <a16:creationId xmlns:a16="http://schemas.microsoft.com/office/drawing/2014/main" id="{8282663B-A9A1-4131-B80D-2FD27BED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194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 inside U are mutually compatible</a:t>
            </a:r>
          </a:p>
        </p:txBody>
      </p:sp>
      <p:sp>
        <p:nvSpPr>
          <p:cNvPr id="14" name="dispatch-dot-3">
            <a:extLst xmlns:a="http://schemas.openxmlformats.org/drawingml/2006/main">
              <a:ext uri="{FF2B5EF4-FFF2-40B4-BE49-F238E27FC236}">
                <a16:creationId xmlns:a16="http://schemas.microsoft.com/office/drawing/2014/main" id="{CAAB34A0-4729-477E-A58B-8C48F91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dispatch-condition-3">
            <a:extLst xmlns:a="http://schemas.openxmlformats.org/drawingml/2006/main">
              <a:ext uri="{FF2B5EF4-FFF2-40B4-BE49-F238E27FC236}">
                <a16:creationId xmlns:a16="http://schemas.microsoft.com/office/drawing/2014/main" id="{1E9E28E6-016E-49C6-B388-68A0C05E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005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Compatible with p; d(a) ≤ r for every a ∈ U</a:t>
            </a:r>
          </a:p>
        </p:txBody>
      </p:sp>
    </p:spTree>
    <p:extLst>
      <p:ext uri="{BB962C8B-B14F-4D97-AF65-F5344CB8AC3E}">
        <p14:creationId xmlns:p14="http://schemas.microsoft.com/office/powerpoint/2010/main" val="1286996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3F95B0C-FDDC-4DF8-BBB4-376DD57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 U produces the next event state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4FABA070-E527-42D8-98D1-C4C3A37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88BA6162-6BEF-409D-84D2-B5B3E30B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transition-delta">
            <a:extLst xmlns:a="http://schemas.openxmlformats.org/drawingml/2006/main">
              <a:ext uri="{FF2B5EF4-FFF2-40B4-BE49-F238E27FC236}">
                <a16:creationId xmlns:a16="http://schemas.microsoft.com/office/drawing/2014/main" id="{8BAB8039-8102-4BFA-9E14-F4ED95ED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4287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Δ = min ( r,  min{λₐ : (a,λₐ) ∈ p⁺} )</a:t>
            </a:r>
          </a:p>
        </p:txBody>
      </p:sp>
      <p:sp>
        <p:nvSpPr>
          <p:cNvPr id="5" name="transition-arrow-291">
            <a:extLst xmlns:a="http://schemas.openxmlformats.org/drawingml/2006/main">
              <a:ext uri="{FF2B5EF4-FFF2-40B4-BE49-F238E27FC236}">
                <a16:creationId xmlns:a16="http://schemas.microsoft.com/office/drawing/2014/main" id="{DA54544E-46EE-4A16-9A45-D228DF4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ransition-arrow-601">
            <a:extLst xmlns:a="http://schemas.openxmlformats.org/drawingml/2006/main">
              <a:ext uri="{FF2B5EF4-FFF2-40B4-BE49-F238E27FC236}">
                <a16:creationId xmlns:a16="http://schemas.microsoft.com/office/drawing/2014/main" id="{64F7CEE6-0763-4F0F-BB83-22507CE7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ransition-arrow-911">
            <a:extLst xmlns:a="http://schemas.openxmlformats.org/drawingml/2006/main">
              <a:ext uri="{FF2B5EF4-FFF2-40B4-BE49-F238E27FC236}">
                <a16:creationId xmlns:a16="http://schemas.microsoft.com/office/drawing/2014/main" id="{3402D4AD-1516-4A0E-9BE9-CDD7B06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ransition-node-1">
            <a:extLst xmlns:a="http://schemas.openxmlformats.org/drawingml/2006/main">
              <a:ext uri="{FF2B5EF4-FFF2-40B4-BE49-F238E27FC236}">
                <a16:creationId xmlns:a16="http://schemas.microsoft.com/office/drawing/2014/main" id="{5AD7E802-70AE-4A89-AD51-74641C3C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ransition-num-1">
            <a:extLst xmlns:a="http://schemas.openxmlformats.org/drawingml/2006/main">
              <a:ext uri="{FF2B5EF4-FFF2-40B4-BE49-F238E27FC236}">
                <a16:creationId xmlns:a16="http://schemas.microsoft.com/office/drawing/2014/main" id="{D900757F-DA94-4922-9710-61C5A7B7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ransition-heading-1">
            <a:extLst xmlns:a="http://schemas.openxmlformats.org/drawingml/2006/main">
              <a:ext uri="{FF2B5EF4-FFF2-40B4-BE49-F238E27FC236}">
                <a16:creationId xmlns:a16="http://schemas.microsoft.com/office/drawing/2014/main" id="{1BC0590C-D462-413C-BBFA-5E9168D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U</a:t>
            </a:r>
          </a:p>
        </p:txBody>
      </p:sp>
      <p:sp>
        <p:nvSpPr>
          <p:cNvPr id="11" name="transition-body-1">
            <a:extLst xmlns:a="http://schemas.openxmlformats.org/drawingml/2006/main">
              <a:ext uri="{FF2B5EF4-FFF2-40B4-BE49-F238E27FC236}">
                <a16:creationId xmlns:a16="http://schemas.microsoft.com/office/drawing/2014/main" id="{5A15C095-9C78-4CD8-BAB1-3C46143E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p⁺ = p ∪ {(a,d(a)) :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∈ U}</a:t>
            </a:r>
          </a:p>
        </p:txBody>
      </p:sp>
      <p:sp>
        <p:nvSpPr>
          <p:cNvPr id="12" name="transition-node-2">
            <a:extLst xmlns:a="http://schemas.openxmlformats.org/drawingml/2006/main">
              <a:ext uri="{FF2B5EF4-FFF2-40B4-BE49-F238E27FC236}">
                <a16:creationId xmlns:a16="http://schemas.microsoft.com/office/drawing/2014/main" id="{FB2C8A1D-D68E-44D8-BC34-71E83A2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ransition-num-2">
            <a:extLst xmlns:a="http://schemas.openxmlformats.org/drawingml/2006/main">
              <a:ext uri="{FF2B5EF4-FFF2-40B4-BE49-F238E27FC236}">
                <a16:creationId xmlns:a16="http://schemas.microsoft.com/office/drawing/2014/main" id="{F9883F09-163B-45B2-9E71-6AE41A8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ransition-heading-2">
            <a:extLst xmlns:a="http://schemas.openxmlformats.org/drawingml/2006/main">
              <a:ext uri="{FF2B5EF4-FFF2-40B4-BE49-F238E27FC236}">
                <a16:creationId xmlns:a16="http://schemas.microsoft.com/office/drawing/2014/main" id="{7924D7A4-BE56-4AC4-9CE8-7F2182A0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Advance Δ</a:t>
            </a:r>
          </a:p>
        </p:txBody>
      </p:sp>
      <p:sp>
        <p:nvSpPr>
          <p:cNvPr id="15" name="transition-body-2">
            <a:extLst xmlns:a="http://schemas.openxmlformats.org/drawingml/2006/main">
              <a:ext uri="{FF2B5EF4-FFF2-40B4-BE49-F238E27FC236}">
                <a16:creationId xmlns:a16="http://schemas.microsoft.com/office/drawing/2014/main" id="{EDA5FD72-A45E-4E05-9658-08B3CB3F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r′ = r − Δ</a:t>
            </a:r>
          </a:p>
        </p:txBody>
      </p:sp>
      <p:sp>
        <p:nvSpPr>
          <p:cNvPr id="16" name="transition-node-3">
            <a:extLst xmlns:a="http://schemas.openxmlformats.org/drawingml/2006/main">
              <a:ext uri="{FF2B5EF4-FFF2-40B4-BE49-F238E27FC236}">
                <a16:creationId xmlns:a16="http://schemas.microsoft.com/office/drawing/2014/main" id="{FE5047B4-C1C0-48A6-B12E-1EFA4955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ransition-num-3">
            <a:extLst xmlns:a="http://schemas.openxmlformats.org/drawingml/2006/main">
              <a:ext uri="{FF2B5EF4-FFF2-40B4-BE49-F238E27FC236}">
                <a16:creationId xmlns:a16="http://schemas.microsoft.com/office/drawing/2014/main" id="{267E73C8-3FFE-4F13-911F-C87AA39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transition-heading-3">
            <a:extLst xmlns:a="http://schemas.openxmlformats.org/drawingml/2006/main">
              <a:ext uri="{FF2B5EF4-FFF2-40B4-BE49-F238E27FC236}">
                <a16:creationId xmlns:a16="http://schemas.microsoft.com/office/drawing/2014/main" id="{075371F2-8F12-46EC-8531-0B14EA93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p</a:t>
            </a:r>
          </a:p>
        </p:txBody>
      </p:sp>
      <p:sp>
        <p:nvSpPr>
          <p:cNvPr id="19" name="transition-body-3">
            <a:extLst xmlns:a="http://schemas.openxmlformats.org/drawingml/2006/main">
              <a:ext uri="{FF2B5EF4-FFF2-40B4-BE49-F238E27FC236}">
                <a16:creationId xmlns:a16="http://schemas.microsoft.com/office/drawing/2014/main" id="{B06E935B-DBEC-4599-B4BB-982B027B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Subtract Δ and remove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actions that finish</a:t>
            </a:r>
          </a:p>
        </p:txBody>
      </p:sp>
      <p:sp>
        <p:nvSpPr>
          <p:cNvPr id="20" name="transition-node-4">
            <a:extLst xmlns:a="http://schemas.openxmlformats.org/drawingml/2006/main">
              <a:ext uri="{FF2B5EF4-FFF2-40B4-BE49-F238E27FC236}">
                <a16:creationId xmlns:a16="http://schemas.microsoft.com/office/drawing/2014/main" id="{CFB46FEC-6B4D-4FCE-BD4F-7A181C7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ransition-num-4">
            <a:extLst xmlns:a="http://schemas.openxmlformats.org/drawingml/2006/main">
              <a:ext uri="{FF2B5EF4-FFF2-40B4-BE49-F238E27FC236}">
                <a16:creationId xmlns:a16="http://schemas.microsoft.com/office/drawing/2014/main" id="{D9AFBE9B-6AB4-4EE6-AA2A-112F3EB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ransition-heading-4">
            <a:extLst xmlns:a="http://schemas.openxmlformats.org/drawingml/2006/main">
              <a:ext uri="{FF2B5EF4-FFF2-40B4-BE49-F238E27FC236}">
                <a16:creationId xmlns:a16="http://schemas.microsoft.com/office/drawing/2014/main" id="{D8426B75-012A-4A05-B556-04E8BF85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x</a:t>
            </a:r>
          </a:p>
        </p:txBody>
      </p:sp>
      <p:sp>
        <p:nvSpPr>
          <p:cNvPr id="23" name="transition-body-4">
            <a:extLst xmlns:a="http://schemas.openxmlformats.org/drawingml/2006/main">
              <a:ext uri="{FF2B5EF4-FFF2-40B4-BE49-F238E27FC236}">
                <a16:creationId xmlns:a16="http://schemas.microsoft.com/office/drawing/2014/main" id="{8DE65361-5D77-4538-B42E-E237AAF0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Apply the outcomes of actions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that start or finish</a:t>
            </a:r>
          </a:p>
        </p:txBody>
      </p:sp>
      <p:sp>
        <p:nvSpPr>
          <p:cNvPr id="24" name="transition-rho-plus">
            <a:extLst xmlns:a="http://schemas.openxmlformats.org/drawingml/2006/main">
              <a:ext uri="{FF2B5EF4-FFF2-40B4-BE49-F238E27FC236}">
                <a16:creationId xmlns:a16="http://schemas.microsoft.com/office/drawing/2014/main" id="{2E1E52DB-DA6B-4893-9EC0-F4F5372E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r′ = r − Δ</a:t>
            </a:r>
          </a:p>
        </p:txBody>
      </p:sp>
      <p:sp>
        <p:nvSpPr>
          <p:cNvPr id="25" name="transition-next-state">
            <a:extLst xmlns:a="http://schemas.openxmlformats.org/drawingml/2006/main">
              <a:ext uri="{FF2B5EF4-FFF2-40B4-BE49-F238E27FC236}">
                <a16:creationId xmlns:a16="http://schemas.microsoft.com/office/drawing/2014/main" id="{730FB791-D7B4-4348-B05E-BE34317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0062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s′ = (x′, r′, p′)</a:t>
            </a:r>
          </a:p>
        </p:txBody>
      </p:sp>
      <p:sp>
        <p:nvSpPr>
          <p:cNvPr id="26" name="transition-deadline">
            <a:extLst xmlns:a="http://schemas.openxmlformats.org/drawingml/2006/main">
              <a:ext uri="{FF2B5EF4-FFF2-40B4-BE49-F238E27FC236}">
                <a16:creationId xmlns:a16="http://schemas.microsoft.com/office/drawing/2014/main" id="{E216243B-30E2-42C1-98C4-1B1A9D47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p′ = {(a, λₐ−Δ) : (a,λₐ) ∈ p⁺, λₐ &gt; Δ}</a:t>
            </a:r>
          </a:p>
        </p:txBody>
      </p:sp>
    </p:spTree>
    <p:extLst>
      <p:ext uri="{BB962C8B-B14F-4D97-AF65-F5344CB8AC3E}">
        <p14:creationId xmlns:p14="http://schemas.microsoft.com/office/powerpoint/2010/main" val="255475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D443DBBC-2FCD-473C-832F-03BE4D66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states and model status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B8DCE35F-FC0C-49DF-8CAE-192C2710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6DAD5C3C-52AE-44D4-92B6-0350ACC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andor-arrow-1">
            <a:extLst xmlns:a="http://schemas.openxmlformats.org/drawingml/2006/main">
              <a:ext uri="{FF2B5EF4-FFF2-40B4-BE49-F238E27FC236}">
                <a16:creationId xmlns:a16="http://schemas.microsoft.com/office/drawing/2014/main" id="{05CF06AE-27BA-4B5F-BD15-2E4DB852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81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ndor-arrow-2">
            <a:extLst xmlns:a="http://schemas.openxmlformats.org/drawingml/2006/main">
              <a:ext uri="{FF2B5EF4-FFF2-40B4-BE49-F238E27FC236}">
                <a16:creationId xmlns:a16="http://schemas.microsoft.com/office/drawing/2014/main" id="{F423953C-00A0-44CC-BC6B-E445D3DD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81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ndor-arrow-3">
            <a:extLst xmlns:a="http://schemas.openxmlformats.org/drawingml/2006/main">
              <a:ext uri="{FF2B5EF4-FFF2-40B4-BE49-F238E27FC236}">
                <a16:creationId xmlns:a16="http://schemas.microsoft.com/office/drawing/2014/main" id="{FBAC8BFE-F788-408F-B678-B5F0886E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ndor-node-42">
            <a:extLst xmlns:a="http://schemas.openxmlformats.org/drawingml/2006/main">
              <a:ext uri="{FF2B5EF4-FFF2-40B4-BE49-F238E27FC236}">
                <a16:creationId xmlns:a16="http://schemas.microsoft.com/office/drawing/2014/main" id="{F23DB39D-FAF7-4A79-B6AA-7B0B2094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ndor-tag-42">
            <a:extLst xmlns:a="http://schemas.openxmlformats.org/drawingml/2006/main">
              <a:ext uri="{FF2B5EF4-FFF2-40B4-BE49-F238E27FC236}">
                <a16:creationId xmlns:a16="http://schemas.microsoft.com/office/drawing/2014/main" id="{3361D540-3E18-4C1D-9AA7-21AD2FD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9" name="andor-body-42">
            <a:extLst xmlns:a="http://schemas.openxmlformats.org/drawingml/2006/main">
              <a:ext uri="{FF2B5EF4-FFF2-40B4-BE49-F238E27FC236}">
                <a16:creationId xmlns:a16="http://schemas.microsoft.com/office/drawing/2014/main" id="{A88C7EC0-2B00-4EBF-9F02-447769B2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s=(x,r,p)</a:t>
            </a:r>
          </a:p>
        </p:txBody>
      </p:sp>
      <p:sp>
        <p:nvSpPr>
          <p:cNvPr id="10" name="andor-node-368">
            <a:extLst xmlns:a="http://schemas.openxmlformats.org/drawingml/2006/main">
              <a:ext uri="{FF2B5EF4-FFF2-40B4-BE49-F238E27FC236}">
                <a16:creationId xmlns:a16="http://schemas.microsoft.com/office/drawing/2014/main" id="{C7BAF40A-06A0-44FC-A939-06BE907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ndor-tag-368">
            <a:extLst xmlns:a="http://schemas.openxmlformats.org/drawingml/2006/main">
              <a:ext uri="{FF2B5EF4-FFF2-40B4-BE49-F238E27FC236}">
                <a16:creationId xmlns:a16="http://schemas.microsoft.com/office/drawing/2014/main" id="{87662FB4-52AE-4F0E-A4A7-25F1BCA4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12" name="andor-body-368">
            <a:extLst xmlns:a="http://schemas.openxmlformats.org/drawingml/2006/main">
              <a:ext uri="{FF2B5EF4-FFF2-40B4-BE49-F238E27FC236}">
                <a16:creationId xmlns:a16="http://schemas.microsoft.com/office/drawing/2014/main" id="{67FB46E1-2C99-44AD-A58A-26F6B8D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U</a:t>
            </a:r>
          </a:p>
        </p:txBody>
      </p:sp>
      <p:sp>
        <p:nvSpPr>
          <p:cNvPr id="13" name="andor-node-694">
            <a:extLst xmlns:a="http://schemas.openxmlformats.org/drawingml/2006/main">
              <a:ext uri="{FF2B5EF4-FFF2-40B4-BE49-F238E27FC236}">
                <a16:creationId xmlns:a16="http://schemas.microsoft.com/office/drawing/2014/main" id="{39CE72AD-0C29-40D4-8EB1-0FFD84C5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ndor-tag-694">
            <a:extLst xmlns:a="http://schemas.openxmlformats.org/drawingml/2006/main">
              <a:ext uri="{FF2B5EF4-FFF2-40B4-BE49-F238E27FC236}">
                <a16:creationId xmlns:a16="http://schemas.microsoft.com/office/drawing/2014/main" id="{EE778506-E144-4326-A2D3-FFE92F8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/ chance</a:t>
            </a:r>
          </a:p>
        </p:txBody>
      </p:sp>
      <p:sp>
        <p:nvSpPr>
          <p:cNvPr id="15" name="andor-body-694">
            <a:extLst xmlns:a="http://schemas.openxmlformats.org/drawingml/2006/main">
              <a:ext uri="{FF2B5EF4-FFF2-40B4-BE49-F238E27FC236}">
                <a16:creationId xmlns:a16="http://schemas.microsoft.com/office/drawing/2014/main" id="{2135B39F-A707-4C28-B865-76F2716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Stochastic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outcomes</a:t>
            </a:r>
          </a:p>
        </p:txBody>
      </p:sp>
      <p:sp>
        <p:nvSpPr>
          <p:cNvPr id="16" name="andor-node-1020">
            <a:extLst xmlns:a="http://schemas.openxmlformats.org/drawingml/2006/main">
              <a:ext uri="{FF2B5EF4-FFF2-40B4-BE49-F238E27FC236}">
                <a16:creationId xmlns:a16="http://schemas.microsoft.com/office/drawing/2014/main" id="{4DDC3CCF-A547-4E27-AEB4-8151FC29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ndor-tag-1020">
            <a:extLst xmlns:a="http://schemas.openxmlformats.org/drawingml/2006/main">
              <a:ext uri="{FF2B5EF4-FFF2-40B4-BE49-F238E27FC236}">
                <a16:creationId xmlns:a16="http://schemas.microsoft.com/office/drawing/2014/main" id="{2FD35836-769E-4974-857F-D43D28AE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57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event</a:t>
            </a:r>
          </a:p>
        </p:txBody>
      </p:sp>
      <p:sp>
        <p:nvSpPr>
          <p:cNvPr id="18" name="andor-body-1020">
            <a:extLst xmlns:a="http://schemas.openxmlformats.org/drawingml/2006/main">
              <a:ext uri="{FF2B5EF4-FFF2-40B4-BE49-F238E27FC236}">
                <a16:creationId xmlns:a16="http://schemas.microsoft.com/office/drawing/2014/main" id="{7FCFC934-70F7-4097-BBD2-C25D8CF4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38400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state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s′</a:t>
            </a:r>
          </a:p>
        </p:txBody>
      </p:sp>
      <p:sp>
        <p:nvSpPr>
          <p:cNvPr id="19" name="markov-result">
            <a:extLst xmlns:a="http://schemas.openxmlformats.org/drawingml/2006/main">
              <a:ext uri="{FF2B5EF4-FFF2-40B4-BE49-F238E27FC236}">
                <a16:creationId xmlns:a16="http://schemas.microsoft.com/office/drawing/2014/main" id="{334AAC39-0EF8-4338-9E83-C9410C0E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markov-result-title">
            <a:extLst xmlns:a="http://schemas.openxmlformats.org/drawingml/2006/main">
              <a:ext uri="{FF2B5EF4-FFF2-40B4-BE49-F238E27FC236}">
                <a16:creationId xmlns:a16="http://schemas.microsoft.com/office/drawing/2014/main" id="{7523280E-1205-4132-BDD9-502A9DA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cases</a:t>
            </a:r>
          </a:p>
        </p:txBody>
      </p:sp>
      <p:sp>
        <p:nvSpPr>
          <p:cNvPr id="21" name="markov-result-body">
            <a:extLst xmlns:a="http://schemas.openxmlformats.org/drawingml/2006/main">
              <a:ext uri="{FF2B5EF4-FFF2-40B4-BE49-F238E27FC236}">
                <a16:creationId xmlns:a16="http://schemas.microsoft.com/office/drawing/2014/main" id="{6F99F7B5-C422-4B08-A36A-FA1BD049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4838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 ⊆ x  ⇒  V(s) = 1   (success)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 ⊄ x,  r ≤ 0  ⇒  V(s) = 0   (deadline failure)</a:t>
            </a:r>
          </a:p>
        </p:txBody>
      </p:sp>
      <p:sp>
        <p:nvSpPr>
          <p:cNvPr id="22" name="proof-obligation">
            <a:extLst xmlns:a="http://schemas.openxmlformats.org/drawingml/2006/main">
              <a:ext uri="{FF2B5EF4-FFF2-40B4-BE49-F238E27FC236}">
                <a16:creationId xmlns:a16="http://schemas.microsoft.com/office/drawing/2014/main" id="{EC3B23C4-BC6B-41D9-A089-8ED6FF50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573405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proof-obligation-title">
            <a:extLst xmlns:a="http://schemas.openxmlformats.org/drawingml/2006/main">
              <a:ext uri="{FF2B5EF4-FFF2-40B4-BE49-F238E27FC236}">
                <a16:creationId xmlns:a16="http://schemas.microsoft.com/office/drawing/2014/main" id="{2A8B8FA4-ED4B-41D5-95BA-11A5FA2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43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status</a:t>
            </a:r>
          </a:p>
        </p:txBody>
      </p:sp>
      <p:sp>
        <p:nvSpPr>
          <p:cNvPr id="24" name="proof-obligation-body">
            <a:extLst xmlns:a="http://schemas.openxmlformats.org/drawingml/2006/main">
              <a:ext uri="{FF2B5EF4-FFF2-40B4-BE49-F238E27FC236}">
                <a16:creationId xmlns:a16="http://schemas.microsoft.com/office/drawing/2014/main" id="{B790BD83-C6DA-40FA-AFF7-F99CDCC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Event-driven MDP / SMDP: one step consumes variable Δ.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r in the state, Bellman DP applies to the finite model.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Still to prove: event-only starts preserve the optimal value.</a:t>
            </a:r>
          </a:p>
        </p:txBody>
      </p:sp>
    </p:spTree>
    <p:extLst>
      <p:ext uri="{BB962C8B-B14F-4D97-AF65-F5344CB8AC3E}">
        <p14:creationId xmlns:p14="http://schemas.microsoft.com/office/powerpoint/2010/main" val="39199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2026-08-25T09:12:58.3570000Z</dcterms:created>
  <dcterms:modified xsi:type="dcterms:W3CDTF">2026-08-25T09:12:58.3580000Z</dcterms:modified>
</coreProperties>
</file>
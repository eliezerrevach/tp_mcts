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Scope: only the reformulation from CoMDP+ to an event-driven finite-state control model.</a:t>
            </a:r>
          </a:p>
          <a:p>
            <a:r>
              <a:t>The pattern abstraction and its solution method are deliberately outside this short deck.</a:t>
            </a:r>
          </a:p>
          <a:p>
            <a:r>
              <a:t>[Sources]</a:t>
            </a:r>
          </a:p>
          <a:p>
            <a:r>
              <a:t>- User-proposed CoMDP+ to event-driven MDP formulation, this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x is the set of facts that currently hold.</a:t>
            </a:r>
          </a:p>
          <a:p>
            <a:r>
              <a:t>r is the remaining time before the deadline.</a:t>
            </a:r>
          </a:p>
          <a:p>
            <a:r>
              <a:t>p stores every running action instance a together with lambda_a, its remaining time until completion.</a:t>
            </a:r>
          </a:p>
          <a:p>
            <a:r>
              <a:t>[Sources]</a:t>
            </a:r>
          </a:p>
          <a:p>
            <a:r>
              <a:t>- User-proposed state representation, this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 an OR state, the policy chooses one dispatch set U.</a:t>
            </a:r>
          </a:p>
          <a:p>
            <a:r>
              <a:t>All actions in U begin at the same decision time.</a:t>
            </a:r>
          </a:p>
          <a:p>
            <a:r>
              <a:t>The empty set is the waiting choice. Treating noop as the empty set prevents it from being dispatched together with real actions.</a:t>
            </a:r>
          </a:p>
          <a:p>
            <a:r>
              <a:t>Under the current fixed-duration, plan-completion deadline semantics, every dispatched action must satisfy d(a) &lt;= r.</a:t>
            </a:r>
          </a:p>
          <a:p>
            <a:r>
              <a:t>Running states should likewise maintain lambda_a &lt;= r for every action already in p.</a:t>
            </a:r>
          </a:p>
          <a:p>
            <a:r>
              <a:t>[Sources]</a:t>
            </a:r>
          </a:p>
          <a:p>
            <a:r>
              <a:t>- User-proposed group-action and deadline semantics, this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First add the newly dispatched actions to the running set with their full durations.</a:t>
            </a:r>
          </a:p>
          <a:p>
            <a:r>
              <a:t>Delta is the smaller of the remaining deadline and the earliest remaining action duration.</a:t>
            </a:r>
          </a:p>
          <a:p>
            <a:r>
              <a:t>The new running set removes all actions finishing at Delta and decreases every surviving remaining duration by Delta.</a:t>
            </a:r>
          </a:p>
          <a:p>
            <a:r>
              <a:t>x-prime includes the sampled start outcomes of U and the sampled end outcomes of actions completing at Delta.</a:t>
            </a:r>
          </a:p>
          <a:p>
            <a:r>
              <a:t>[Sources]</a:t>
            </a:r>
          </a:p>
          <a:p>
            <a:r>
              <a:t>- User-proposed earliest-event transition, this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 nodes choose U; AND/chance nodes branch over stochastic start and end outcomes; every branch reaches the next event state.</a:t>
            </a:r>
          </a:p>
          <a:p>
            <a:r>
              <a:t>Terminal success has priority: if the goal is present in x, the value is one.</a:t>
            </a:r>
          </a:p>
          <a:p>
            <a:r>
              <a:t>Terminal failure occurs only when the goal is absent and no time remains.</a:t>
            </a:r>
          </a:p>
          <a:p>
            <a:r>
              <a:t>p being empty is not terminal because a non-empty dispatch U may still be legal.</a:t>
            </a:r>
          </a:p>
          <a:p>
            <a:r>
              <a:t>If p is empty and the policy chooses noop, the deadline is the next event; this is an action consequence, not a terminal-state definition.</a:t>
            </a:r>
          </a:p>
          <a:p>
            <a:r>
              <a:t>The event-only start restriction remains a proof obligation.</a:t>
            </a:r>
          </a:p>
          <a:p>
            <a:r>
              <a:t>[Sources]</a:t>
            </a:r>
          </a:p>
          <a:p>
            <a:r>
              <a:t>- User-proposed goal and deadline terminal semantics, this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policy chooses Start(a). Finish(a) is a scheduled event rather than a second freely chosen running action.</a:t>
            </a:r>
          </a:p>
          <a:p>
            <a:r>
              <a:t>The record in p may need an action-instance identifier if overlapping instances are allowed.</a:t>
            </a:r>
          </a:p>
          <a:p>
            <a:r>
              <a:t>[Sources]</a:t>
            </a:r>
          </a:p>
          <a:p>
            <a:r>
              <a:t>- User-provided CoMDP+ compilation description,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Finish(a) is instantaneous. Its conditions are therefore checked as start conditions of that event action.</a:t>
            </a:r>
          </a:p>
          <a:p>
            <a:r>
              <a:t>Overall conditions are not discarded: actions chosen while a is running must preserve them.</a:t>
            </a:r>
          </a:p>
          <a:p>
            <a:r>
              <a:t>Do not automatically undo every start effect at Finish(a); only original end effects may delete those facts.</a:t>
            </a:r>
          </a:p>
          <a:p>
            <a:r>
              <a:t>If an end outcome is sampled at Start(a), store its outcome token in p; otherwise sample it at Finish(a).</a:t>
            </a:r>
          </a:p>
          <a:p>
            <a:r>
              <a:t>The displayed d(a) &lt;= r rule assumes that every started action must complete by the deadline.</a:t>
            </a:r>
          </a:p>
          <a:p>
            <a:r>
              <a:t>[Sources]</a:t>
            </a:r>
          </a:p>
          <a:p>
            <a:r>
              <a:t>- User-provided CoMDP+ compilation description,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Phi denotes the pattern facts; p remains the set of running actions.</a:t>
            </a:r>
          </a:p>
          <a:p>
            <a:r>
              <a:t>Keeping all of p is the simple safe first formulation. A later abstraction may remove irrelevant running records only with a separate correctness argument.</a:t>
            </a:r>
          </a:p>
          <a:p>
            <a:r>
              <a:t>If G' is only part of a conjunctive goal, reaching G' is itself a relaxation.</a:t>
            </a:r>
          </a:p>
          <a:p>
            <a:r>
              <a:t>[Sources]</a:t>
            </a:r>
          </a:p>
          <a:p>
            <a:r>
              <a:t>- User-provided pattern-construction formulation and corrections from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Validation should target the current optimal abstract solution; the existence of some unrelated concrete plan is not enough to explain the abstract value.</a:t>
            </a:r>
          </a:p>
          <a:p>
            <a:r>
              <a:t>A single abstract path may be used only as a pattern-selection heuristic. Full realizability in a stochastic model concerns the reachable branches of a policy.</a:t>
            </a:r>
          </a:p>
          <a:p>
            <a:r>
              <a:t>A blocker may also arise from an omitted end condition, invariant, interference condition, or temporal constraint. Such a blocker must have a representable refinement feature.</a:t>
            </a:r>
          </a:p>
          <a:p>
            <a:r>
              <a:t>[Sources]</a:t>
            </a:r>
          </a:p>
          <a:p>
            <a:r>
              <a:t>- User-provided refinement loop and theoretical corrections from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success-probability maximization, removing conditions enlarges the policy set and therefore yields an optimistic value.</a:t>
            </a:r>
          </a:p>
          <a:p>
            <a:r>
              <a:t>The guarantee assumes omitted facts do not silently change action probabilities or durations. If they do, those dependencies must be retained or relaxed optimistically.</a:t>
            </a:r>
          </a:p>
          <a:p>
            <a:r>
              <a:t>Average empirical performance is not an admissibility proof.</a:t>
            </a:r>
          </a:p>
          <a:p>
            <a:r>
              <a:t>[Sources]</a:t>
            </a:r>
          </a:p>
          <a:p>
            <a:r>
              <a:t>- User-provided admissibility objective and theoretical corrections from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kicker">
            <a:extLst>
              <a:ext uri="{FF2B5EF4-FFF2-40B4-BE49-F238E27FC236}">
                <a16:creationId xmlns:a16="http://schemas.microsoft.com/office/drawing/2014/main" id="{25652959-4ED8-4946-AF35-4D8B89755BE6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571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8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TEMPORAL STOCHASTIC PLANNING</a:t>
            </a:r>
          </a:p>
        </p:txBody>
      </p:sp>
      <p:sp>
        <p:nvSpPr>
          <p:cNvPr id="2" name="cover-context">
            <a:extLst>
              <a:ext uri="{FF2B5EF4-FFF2-40B4-BE49-F238E27FC236}">
                <a16:creationId xmlns:a16="http://schemas.microsoft.com/office/drawing/2014/main" id="{4A308D8E-F2EA-417C-A7A9-5FA9019C5E6F}"/>
              </a:ext>
            </a:extLst>
          </p:cNvPr>
          <p:cNvSpPr>
            <a:spLocks noGrp="1"/>
          </p:cNvSpPr>
          <p:nvPr/>
        </p:nvSpPr>
        <p:spPr>
          <a:xfrm>
            <a:off x="8382000" y="361950"/>
            <a:ext cx="3409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8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THEORETICAL MODEL</a:t>
            </a:r>
          </a:p>
        </p:txBody>
      </p:sp>
      <p:sp>
        <p:nvSpPr>
          <p:cNvPr id="3" name="cover-accent">
            <a:extLst>
              <a:ext uri="{FF2B5EF4-FFF2-40B4-BE49-F238E27FC236}">
                <a16:creationId xmlns:a16="http://schemas.microsoft.com/office/drawing/2014/main" id="{66964A31-A1A7-4B3A-98B9-9A9F33738B9C}"/>
              </a:ext>
            </a:extLst>
          </p:cNvPr>
          <p:cNvSpPr>
            <a:spLocks noGrp="1"/>
          </p:cNvSpPr>
          <p:nvPr/>
        </p:nvSpPr>
        <p:spPr>
          <a:xfrm>
            <a:off x="400050" y="2352675"/>
            <a:ext cx="95250" cy="287655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B8CECBF1-236F-4CAD-BBD1-CB0EAAF8994A}"/>
              </a:ext>
            </a:extLst>
          </p:cNvPr>
          <p:cNvSpPr>
            <a:spLocks noGrp="1"/>
          </p:cNvSpPr>
          <p:nvPr/>
        </p:nvSpPr>
        <p:spPr>
          <a:xfrm>
            <a:off x="800100" y="2238375"/>
            <a:ext cx="102870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CoMDP+ to an</a:t>
            </a:r>
          </a:p>
          <a:p>
            <a:pPr algn="l">
              <a:buNone/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event-driven MDP</a:t>
            </a:r>
          </a:p>
        </p:txBody>
      </p:sp>
      <p:sp>
        <p:nvSpPr>
          <p:cNvPr id="5" name="cover-subtitle">
            <a:extLst>
              <a:ext uri="{FF2B5EF4-FFF2-40B4-BE49-F238E27FC236}">
                <a16:creationId xmlns:a16="http://schemas.microsoft.com/office/drawing/2014/main" id="{D59CBB85-1A25-4C04-BDD7-995E6A865AA0}"/>
              </a:ext>
            </a:extLst>
          </p:cNvPr>
          <p:cNvSpPr>
            <a:spLocks noGrp="1"/>
          </p:cNvSpPr>
          <p:nvPr/>
        </p:nvSpPr>
        <p:spPr>
          <a:xfrm>
            <a:off x="800100" y="5143500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State, dispatch decisions, and stochastic transitions at completion events</a:t>
            </a:r>
          </a:p>
        </p:txBody>
      </p:sp>
    </p:spTree>
    <p:extLst>
      <p:ext uri="{BB962C8B-B14F-4D97-AF65-F5344CB8AC3E}">
        <p14:creationId xmlns:p14="http://schemas.microsoft.com/office/powerpoint/2010/main" val="1996321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2-title">
            <a:extLst>
              <a:ext uri="{FF2B5EF4-FFF2-40B4-BE49-F238E27FC236}">
                <a16:creationId xmlns:a16="http://schemas.microsoft.com/office/drawing/2014/main" id="{EB004E17-9749-48C8-9FF3-388FD154099B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113919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state stores facts, time, and running actions</a:t>
            </a:r>
          </a:p>
        </p:txBody>
      </p:sp>
      <p:sp>
        <p:nvSpPr>
          <p:cNvPr id="2" name="slide-2-title-rule">
            <a:extLst>
              <a:ext uri="{FF2B5EF4-FFF2-40B4-BE49-F238E27FC236}">
                <a16:creationId xmlns:a16="http://schemas.microsoft.com/office/drawing/2014/main" id="{0DA4CEB9-7E61-4766-A875-30EB3BD987DF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lide-2-number">
            <a:extLst>
              <a:ext uri="{FF2B5EF4-FFF2-40B4-BE49-F238E27FC236}">
                <a16:creationId xmlns:a16="http://schemas.microsoft.com/office/drawing/2014/main" id="{AD82F412-7FCF-4306-B6C7-1326ADD3A2A8}"/>
              </a:ext>
            </a:extLst>
          </p:cNvPr>
          <p:cNvSpPr>
            <a:spLocks noGrp="1"/>
          </p:cNvSpPr>
          <p:nvPr/>
        </p:nvSpPr>
        <p:spPr>
          <a:xfrm>
            <a:off x="11277600" y="62960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state-equation">
            <a:extLst>
              <a:ext uri="{FF2B5EF4-FFF2-40B4-BE49-F238E27FC236}">
                <a16:creationId xmlns:a16="http://schemas.microsoft.com/office/drawing/2014/main" id="{5D7206F8-774C-45CF-8CB1-8866D0A96119}"/>
              </a:ext>
            </a:extLst>
          </p:cNvPr>
          <p:cNvSpPr>
            <a:spLocks noGrp="1"/>
          </p:cNvSpPr>
          <p:nvPr/>
        </p:nvSpPr>
        <p:spPr>
          <a:xfrm>
            <a:off x="3143250" y="1381125"/>
            <a:ext cx="5905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 = (x, r, p)</a:t>
            </a:r>
          </a:p>
        </p:txBody>
      </p:sp>
      <p:sp>
        <p:nvSpPr>
          <p:cNvPr id="5" name="state-accent-rule">
            <a:extLst>
              <a:ext uri="{FF2B5EF4-FFF2-40B4-BE49-F238E27FC236}">
                <a16:creationId xmlns:a16="http://schemas.microsoft.com/office/drawing/2014/main" id="{6EF52518-2AA4-4714-803C-D8EDD7B63A01}"/>
              </a:ext>
            </a:extLst>
          </p:cNvPr>
          <p:cNvSpPr>
            <a:spLocks noGrp="1"/>
          </p:cNvSpPr>
          <p:nvPr/>
        </p:nvSpPr>
        <p:spPr>
          <a:xfrm>
            <a:off x="4333875" y="2152650"/>
            <a:ext cx="3524250" cy="0"/>
          </a:xfrm>
          <a:prstGeom prst="line">
            <a:avLst/>
          </a:prstGeom>
          <a:noFill/>
          <a:ln w="476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tate-panel-1">
            <a:extLst>
              <a:ext uri="{FF2B5EF4-FFF2-40B4-BE49-F238E27FC236}">
                <a16:creationId xmlns:a16="http://schemas.microsoft.com/office/drawing/2014/main" id="{DF6B31CA-FD2E-4DF4-9F31-DD510DD14227}"/>
              </a:ext>
            </a:extLst>
          </p:cNvPr>
          <p:cNvSpPr>
            <a:spLocks noGrp="1"/>
          </p:cNvSpPr>
          <p:nvPr/>
        </p:nvSpPr>
        <p:spPr>
          <a:xfrm>
            <a:off x="400050" y="2505075"/>
            <a:ext cx="3562350" cy="98107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tate-label-1">
            <a:extLst>
              <a:ext uri="{FF2B5EF4-FFF2-40B4-BE49-F238E27FC236}">
                <a16:creationId xmlns:a16="http://schemas.microsoft.com/office/drawing/2014/main" id="{664E9234-1265-435A-81F0-F8A63971AB58}"/>
              </a:ext>
            </a:extLst>
          </p:cNvPr>
          <p:cNvSpPr>
            <a:spLocks noGrp="1"/>
          </p:cNvSpPr>
          <p:nvPr/>
        </p:nvSpPr>
        <p:spPr>
          <a:xfrm>
            <a:off x="609600" y="2657475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x — facts</a:t>
            </a:r>
          </a:p>
        </p:txBody>
      </p:sp>
      <p:sp>
        <p:nvSpPr>
          <p:cNvPr id="9" name="state-panel-2">
            <a:extLst>
              <a:ext uri="{FF2B5EF4-FFF2-40B4-BE49-F238E27FC236}">
                <a16:creationId xmlns:a16="http://schemas.microsoft.com/office/drawing/2014/main" id="{2ED689B8-147B-4669-A606-1B5F2461C5A3}"/>
              </a:ext>
            </a:extLst>
          </p:cNvPr>
          <p:cNvSpPr>
            <a:spLocks noGrp="1"/>
          </p:cNvSpPr>
          <p:nvPr/>
        </p:nvSpPr>
        <p:spPr>
          <a:xfrm>
            <a:off x="4314825" y="2505075"/>
            <a:ext cx="3562350" cy="98107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tate-label-2">
            <a:extLst>
              <a:ext uri="{FF2B5EF4-FFF2-40B4-BE49-F238E27FC236}">
                <a16:creationId xmlns:a16="http://schemas.microsoft.com/office/drawing/2014/main" id="{CECE195D-0213-48EF-A4B3-60BAF30FD202}"/>
              </a:ext>
            </a:extLst>
          </p:cNvPr>
          <p:cNvSpPr>
            <a:spLocks noGrp="1"/>
          </p:cNvSpPr>
          <p:nvPr/>
        </p:nvSpPr>
        <p:spPr>
          <a:xfrm>
            <a:off x="4524375" y="2657475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 — remaining time</a:t>
            </a:r>
          </a:p>
        </p:txBody>
      </p:sp>
      <p:sp>
        <p:nvSpPr>
          <p:cNvPr id="12" name="state-panel-3">
            <a:extLst>
              <a:ext uri="{FF2B5EF4-FFF2-40B4-BE49-F238E27FC236}">
                <a16:creationId xmlns:a16="http://schemas.microsoft.com/office/drawing/2014/main" id="{8D7C6F22-05F4-4AAF-9C70-09128642D899}"/>
              </a:ext>
            </a:extLst>
          </p:cNvPr>
          <p:cNvSpPr>
            <a:spLocks noGrp="1"/>
          </p:cNvSpPr>
          <p:nvPr/>
        </p:nvSpPr>
        <p:spPr>
          <a:xfrm>
            <a:off x="8229600" y="2505075"/>
            <a:ext cx="3562350" cy="98107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tate-label-3">
            <a:extLst>
              <a:ext uri="{FF2B5EF4-FFF2-40B4-BE49-F238E27FC236}">
                <a16:creationId xmlns:a16="http://schemas.microsoft.com/office/drawing/2014/main" id="{18D4458A-1BDE-4FEC-953F-AB54F7C456AB}"/>
              </a:ext>
            </a:extLst>
          </p:cNvPr>
          <p:cNvSpPr>
            <a:spLocks noGrp="1"/>
          </p:cNvSpPr>
          <p:nvPr/>
        </p:nvSpPr>
        <p:spPr>
          <a:xfrm>
            <a:off x="8439150" y="2657475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 — running actions</a:t>
            </a:r>
          </a:p>
        </p:txBody>
      </p:sp>
      <p:sp>
        <p:nvSpPr>
          <p:cNvPr id="17" name="state-dispatch-panel">
            <a:extLst>
              <a:ext uri="{FF2B5EF4-FFF2-40B4-BE49-F238E27FC236}">
                <a16:creationId xmlns:a16="http://schemas.microsoft.com/office/drawing/2014/main" id="{EA31F9E2-EDD1-4DBD-8E22-4F91177F5969}"/>
              </a:ext>
            </a:extLst>
          </p:cNvPr>
          <p:cNvSpPr>
            <a:spLocks noGrp="1"/>
          </p:cNvSpPr>
          <p:nvPr/>
        </p:nvSpPr>
        <p:spPr>
          <a:xfrm>
            <a:off x="400050" y="3857625"/>
            <a:ext cx="3905250" cy="1971675"/>
          </a:xfrm>
          <a:prstGeom prst="rect">
            <a:avLst/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tate-dispatch-title">
            <a:extLst>
              <a:ext uri="{FF2B5EF4-FFF2-40B4-BE49-F238E27FC236}">
                <a16:creationId xmlns:a16="http://schemas.microsoft.com/office/drawing/2014/main" id="{49150695-79A3-41EB-A8E9-CF621EE914AE}"/>
              </a:ext>
            </a:extLst>
          </p:cNvPr>
          <p:cNvSpPr>
            <a:spLocks noGrp="1"/>
          </p:cNvSpPr>
          <p:nvPr/>
        </p:nvSpPr>
        <p:spPr>
          <a:xfrm>
            <a:off x="647700" y="4114800"/>
            <a:ext cx="3409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 = {(a, λₐ)}</a:t>
            </a:r>
          </a:p>
        </p:txBody>
      </p:sp>
      <p:sp>
        <p:nvSpPr>
          <p:cNvPr id="19" name="state-dispatch-equation">
            <a:extLst>
              <a:ext uri="{FF2B5EF4-FFF2-40B4-BE49-F238E27FC236}">
                <a16:creationId xmlns:a16="http://schemas.microsoft.com/office/drawing/2014/main" id="{F6D1B656-058F-495B-9952-732F4D4DC1FA}"/>
              </a:ext>
            </a:extLst>
          </p:cNvPr>
          <p:cNvSpPr>
            <a:spLocks noGrp="1"/>
          </p:cNvSpPr>
          <p:nvPr/>
        </p:nvSpPr>
        <p:spPr>
          <a:xfrm>
            <a:off x="647700" y="4810125"/>
            <a:ext cx="3409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— running action instance</a:t>
            </a:r>
          </a:p>
        </p:txBody>
      </p:sp>
      <p:sp>
        <p:nvSpPr>
          <p:cNvPr id="20" name="state-dispatch-body">
            <a:extLst>
              <a:ext uri="{FF2B5EF4-FFF2-40B4-BE49-F238E27FC236}">
                <a16:creationId xmlns:a16="http://schemas.microsoft.com/office/drawing/2014/main" id="{5F6125C5-20D3-41B2-93BA-0FF387EAA697}"/>
              </a:ext>
            </a:extLst>
          </p:cNvPr>
          <p:cNvSpPr>
            <a:spLocks noGrp="1"/>
          </p:cNvSpPr>
          <p:nvPr/>
        </p:nvSpPr>
        <p:spPr>
          <a:xfrm>
            <a:off x="647700" y="5334000"/>
            <a:ext cx="3409950" cy="9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25000" lnSpcReduction="20000"/>
          </a:bodyPr>
          <a:lstStyle/>
          <a:p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1" name="state-feasible-panel">
            <a:extLst>
              <a:ext uri="{FF2B5EF4-FFF2-40B4-BE49-F238E27FC236}">
                <a16:creationId xmlns:a16="http://schemas.microsoft.com/office/drawing/2014/main" id="{FFBF75C1-B5E8-4AA7-93D7-8D5402E0C780}"/>
              </a:ext>
            </a:extLst>
          </p:cNvPr>
          <p:cNvSpPr>
            <a:spLocks noGrp="1"/>
          </p:cNvSpPr>
          <p:nvPr/>
        </p:nvSpPr>
        <p:spPr>
          <a:xfrm>
            <a:off x="4572000" y="3857625"/>
            <a:ext cx="7219950" cy="197167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tate-feasible-title">
            <a:extLst>
              <a:ext uri="{FF2B5EF4-FFF2-40B4-BE49-F238E27FC236}">
                <a16:creationId xmlns:a16="http://schemas.microsoft.com/office/drawing/2014/main" id="{7BD5E4B7-8A0A-4B40-A6BD-A3451216A8E6}"/>
              </a:ext>
            </a:extLst>
          </p:cNvPr>
          <p:cNvSpPr>
            <a:spLocks noGrp="1"/>
          </p:cNvSpPr>
          <p:nvPr/>
        </p:nvSpPr>
        <p:spPr>
          <a:xfrm>
            <a:off x="4857750" y="4267200"/>
            <a:ext cx="6648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λₐ</a:t>
            </a:r>
          </a:p>
        </p:txBody>
      </p:sp>
      <p:sp>
        <p:nvSpPr>
          <p:cNvPr id="23" name="state-feasible-pre">
            <a:extLst>
              <a:ext uri="{FF2B5EF4-FFF2-40B4-BE49-F238E27FC236}">
                <a16:creationId xmlns:a16="http://schemas.microsoft.com/office/drawing/2014/main" id="{C5512F58-EF15-48EA-8AA3-7A1E207DE929}"/>
              </a:ext>
            </a:extLst>
          </p:cNvPr>
          <p:cNvSpPr>
            <a:spLocks noGrp="1"/>
          </p:cNvSpPr>
          <p:nvPr/>
        </p:nvSpPr>
        <p:spPr>
          <a:xfrm>
            <a:off x="4857750" y="4886325"/>
            <a:ext cx="664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time until action a finishes</a:t>
            </a:r>
          </a:p>
        </p:txBody>
      </p:sp>
    </p:spTree>
    <p:extLst>
      <p:ext uri="{BB962C8B-B14F-4D97-AF65-F5344CB8AC3E}">
        <p14:creationId xmlns:p14="http://schemas.microsoft.com/office/powerpoint/2010/main" val="19716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3-title">
            <a:extLst>
              <a:ext uri="{FF2B5EF4-FFF2-40B4-BE49-F238E27FC236}">
                <a16:creationId xmlns:a16="http://schemas.microsoft.com/office/drawing/2014/main" id="{9DB97487-CF19-4B2B-8992-75F0362A2805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113919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MDP action is a dispatch set</a:t>
            </a:r>
          </a:p>
        </p:txBody>
      </p:sp>
      <p:sp>
        <p:nvSpPr>
          <p:cNvPr id="2" name="slide-3-title-rule">
            <a:extLst>
              <a:ext uri="{FF2B5EF4-FFF2-40B4-BE49-F238E27FC236}">
                <a16:creationId xmlns:a16="http://schemas.microsoft.com/office/drawing/2014/main" id="{0113F707-620C-40D5-859A-97B9D858FED8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lide-3-number">
            <a:extLst>
              <a:ext uri="{FF2B5EF4-FFF2-40B4-BE49-F238E27FC236}">
                <a16:creationId xmlns:a16="http://schemas.microsoft.com/office/drawing/2014/main" id="{1822D3F1-D5FA-4B60-A34F-78CEEFF0761D}"/>
              </a:ext>
            </a:extLst>
          </p:cNvPr>
          <p:cNvSpPr>
            <a:spLocks noGrp="1"/>
          </p:cNvSpPr>
          <p:nvPr/>
        </p:nvSpPr>
        <p:spPr>
          <a:xfrm>
            <a:off x="11277600" y="62960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dispatch-equation">
            <a:extLst>
              <a:ext uri="{FF2B5EF4-FFF2-40B4-BE49-F238E27FC236}">
                <a16:creationId xmlns:a16="http://schemas.microsoft.com/office/drawing/2014/main" id="{FAED118E-775F-4683-B3A1-35D69066CDD4}"/>
              </a:ext>
            </a:extLst>
          </p:cNvPr>
          <p:cNvSpPr>
            <a:spLocks noGrp="1"/>
          </p:cNvSpPr>
          <p:nvPr/>
        </p:nvSpPr>
        <p:spPr>
          <a:xfrm>
            <a:off x="590550" y="1733550"/>
            <a:ext cx="514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 = (x,r,p)   →   choose U</a:t>
            </a:r>
          </a:p>
        </p:txBody>
      </p:sp>
      <p:sp>
        <p:nvSpPr>
          <p:cNvPr id="5" name="dispatch-explanation">
            <a:extLst>
              <a:ext uri="{FF2B5EF4-FFF2-40B4-BE49-F238E27FC236}">
                <a16:creationId xmlns:a16="http://schemas.microsoft.com/office/drawing/2014/main" id="{7F242E46-2397-4A86-A013-D40465C02297}"/>
              </a:ext>
            </a:extLst>
          </p:cNvPr>
          <p:cNvSpPr>
            <a:spLocks noGrp="1"/>
          </p:cNvSpPr>
          <p:nvPr/>
        </p:nvSpPr>
        <p:spPr>
          <a:xfrm>
            <a:off x="590550" y="2609850"/>
            <a:ext cx="514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7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 ⊆ A: actions started together</a:t>
            </a:r>
          </a:p>
        </p:txBody>
      </p:sp>
      <p:sp>
        <p:nvSpPr>
          <p:cNvPr id="6" name="dispatch-wait-panel">
            <a:extLst>
              <a:ext uri="{FF2B5EF4-FFF2-40B4-BE49-F238E27FC236}">
                <a16:creationId xmlns:a16="http://schemas.microsoft.com/office/drawing/2014/main" id="{B1178580-19B3-44EE-B039-2D642D9BCEFB}"/>
              </a:ext>
            </a:extLst>
          </p:cNvPr>
          <p:cNvSpPr>
            <a:spLocks noGrp="1"/>
          </p:cNvSpPr>
          <p:nvPr/>
        </p:nvSpPr>
        <p:spPr>
          <a:xfrm>
            <a:off x="704850" y="3429000"/>
            <a:ext cx="4914900" cy="1428750"/>
          </a:xfrm>
          <a:prstGeom prst="rect">
            <a:avLst/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dispatch-wait">
            <a:extLst>
              <a:ext uri="{FF2B5EF4-FFF2-40B4-BE49-F238E27FC236}">
                <a16:creationId xmlns:a16="http://schemas.microsoft.com/office/drawing/2014/main" id="{D973DE01-DA2B-42C6-BF31-2EA276A3DF8F}"/>
              </a:ext>
            </a:extLst>
          </p:cNvPr>
          <p:cNvSpPr>
            <a:spLocks noGrp="1"/>
          </p:cNvSpPr>
          <p:nvPr/>
        </p:nvSpPr>
        <p:spPr>
          <a:xfrm>
            <a:off x="933450" y="3638550"/>
            <a:ext cx="44577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 = ∅   ≡   noop / wait</a:t>
            </a:r>
          </a:p>
        </p:txBody>
      </p:sp>
      <p:sp>
        <p:nvSpPr>
          <p:cNvPr id="8" name="dispatch-conditions-panel">
            <a:extLst>
              <a:ext uri="{FF2B5EF4-FFF2-40B4-BE49-F238E27FC236}">
                <a16:creationId xmlns:a16="http://schemas.microsoft.com/office/drawing/2014/main" id="{D3850B65-76A8-4B80-B51E-449F26B4B9FE}"/>
              </a:ext>
            </a:extLst>
          </p:cNvPr>
          <p:cNvSpPr>
            <a:spLocks noGrp="1"/>
          </p:cNvSpPr>
          <p:nvPr/>
        </p:nvSpPr>
        <p:spPr>
          <a:xfrm>
            <a:off x="6134100" y="1638300"/>
            <a:ext cx="5657850" cy="385762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dispatch-conditions-title">
            <a:extLst>
              <a:ext uri="{FF2B5EF4-FFF2-40B4-BE49-F238E27FC236}">
                <a16:creationId xmlns:a16="http://schemas.microsoft.com/office/drawing/2014/main" id="{6813AE75-7260-4D5B-8039-7FFC9A0F94C4}"/>
              </a:ext>
            </a:extLst>
          </p:cNvPr>
          <p:cNvSpPr>
            <a:spLocks noGrp="1"/>
          </p:cNvSpPr>
          <p:nvPr/>
        </p:nvSpPr>
        <p:spPr>
          <a:xfrm>
            <a:off x="6477000" y="18859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 is legal when</a:t>
            </a:r>
          </a:p>
        </p:txBody>
      </p:sp>
      <p:sp>
        <p:nvSpPr>
          <p:cNvPr id="10" name="dispatch-dot-1">
            <a:extLst>
              <a:ext uri="{FF2B5EF4-FFF2-40B4-BE49-F238E27FC236}">
                <a16:creationId xmlns:a16="http://schemas.microsoft.com/office/drawing/2014/main" id="{EABD0CAF-7374-44F6-8D69-93A303831D8F}"/>
              </a:ext>
            </a:extLst>
          </p:cNvPr>
          <p:cNvSpPr>
            <a:spLocks noGrp="1"/>
          </p:cNvSpPr>
          <p:nvPr/>
        </p:nvSpPr>
        <p:spPr>
          <a:xfrm>
            <a:off x="6477000" y="2828925"/>
            <a:ext cx="114300" cy="1143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dispatch-condition-1">
            <a:extLst>
              <a:ext uri="{FF2B5EF4-FFF2-40B4-BE49-F238E27FC236}">
                <a16:creationId xmlns:a16="http://schemas.microsoft.com/office/drawing/2014/main" id="{85DBFCBE-CA3B-4C9D-AF17-1DA7945CA90C}"/>
              </a:ext>
            </a:extLst>
          </p:cNvPr>
          <p:cNvSpPr>
            <a:spLocks noGrp="1"/>
          </p:cNvSpPr>
          <p:nvPr/>
        </p:nvSpPr>
        <p:spPr>
          <a:xfrm>
            <a:off x="6762750" y="2638425"/>
            <a:ext cx="457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 conditions hold in x</a:t>
            </a:r>
          </a:p>
        </p:txBody>
      </p:sp>
      <p:sp>
        <p:nvSpPr>
          <p:cNvPr id="12" name="dispatch-dot-2">
            <a:extLst>
              <a:ext uri="{FF2B5EF4-FFF2-40B4-BE49-F238E27FC236}">
                <a16:creationId xmlns:a16="http://schemas.microsoft.com/office/drawing/2014/main" id="{4FD3D898-D3A5-4CDD-829C-DFDAD479A2CA}"/>
              </a:ext>
            </a:extLst>
          </p:cNvPr>
          <p:cNvSpPr>
            <a:spLocks noGrp="1"/>
          </p:cNvSpPr>
          <p:nvPr/>
        </p:nvSpPr>
        <p:spPr>
          <a:xfrm>
            <a:off x="6477000" y="3609975"/>
            <a:ext cx="114300" cy="1143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dispatch-condition-2">
            <a:extLst>
              <a:ext uri="{FF2B5EF4-FFF2-40B4-BE49-F238E27FC236}">
                <a16:creationId xmlns:a16="http://schemas.microsoft.com/office/drawing/2014/main" id="{8282663B-A9A1-4131-B80D-2FD27BED96A4}"/>
              </a:ext>
            </a:extLst>
          </p:cNvPr>
          <p:cNvSpPr>
            <a:spLocks noGrp="1"/>
          </p:cNvSpPr>
          <p:nvPr/>
        </p:nvSpPr>
        <p:spPr>
          <a:xfrm>
            <a:off x="6762750" y="3419475"/>
            <a:ext cx="457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Actions inside U are mutually compatible</a:t>
            </a:r>
          </a:p>
        </p:txBody>
      </p:sp>
      <p:sp>
        <p:nvSpPr>
          <p:cNvPr id="14" name="dispatch-dot-3">
            <a:extLst>
              <a:ext uri="{FF2B5EF4-FFF2-40B4-BE49-F238E27FC236}">
                <a16:creationId xmlns:a16="http://schemas.microsoft.com/office/drawing/2014/main" id="{CAAB34A0-4729-477E-A58B-8C48F91B45BE}"/>
              </a:ext>
            </a:extLst>
          </p:cNvPr>
          <p:cNvSpPr>
            <a:spLocks noGrp="1"/>
          </p:cNvSpPr>
          <p:nvPr/>
        </p:nvSpPr>
        <p:spPr>
          <a:xfrm>
            <a:off x="6477000" y="4391025"/>
            <a:ext cx="114300" cy="1143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dispatch-condition-3">
            <a:extLst>
              <a:ext uri="{FF2B5EF4-FFF2-40B4-BE49-F238E27FC236}">
                <a16:creationId xmlns:a16="http://schemas.microsoft.com/office/drawing/2014/main" id="{1E9E28E6-016E-49C6-B388-68A0C05EE9D3}"/>
              </a:ext>
            </a:extLst>
          </p:cNvPr>
          <p:cNvSpPr>
            <a:spLocks noGrp="1"/>
          </p:cNvSpPr>
          <p:nvPr/>
        </p:nvSpPr>
        <p:spPr>
          <a:xfrm>
            <a:off x="6762750" y="4200525"/>
            <a:ext cx="457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Compatible with p; d(a) ≤ r for every a ∈ U</a:t>
            </a:r>
          </a:p>
        </p:txBody>
      </p:sp>
    </p:spTree>
    <p:extLst>
      <p:ext uri="{BB962C8B-B14F-4D97-AF65-F5344CB8AC3E}">
        <p14:creationId xmlns:p14="http://schemas.microsoft.com/office/powerpoint/2010/main" val="1286996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4-title">
            <a:extLst>
              <a:ext uri="{FF2B5EF4-FFF2-40B4-BE49-F238E27FC236}">
                <a16:creationId xmlns:a16="http://schemas.microsoft.com/office/drawing/2014/main" id="{03F95B0C-FDDC-4DF8-BBB4-376DD57D87F8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113919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Dispatch U produces the next event state</a:t>
            </a:r>
          </a:p>
        </p:txBody>
      </p:sp>
      <p:sp>
        <p:nvSpPr>
          <p:cNvPr id="2" name="slide-4-title-rule">
            <a:extLst>
              <a:ext uri="{FF2B5EF4-FFF2-40B4-BE49-F238E27FC236}">
                <a16:creationId xmlns:a16="http://schemas.microsoft.com/office/drawing/2014/main" id="{4FABA070-E527-42D8-98D1-C4C3A3713167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lide-4-number">
            <a:extLst>
              <a:ext uri="{FF2B5EF4-FFF2-40B4-BE49-F238E27FC236}">
                <a16:creationId xmlns:a16="http://schemas.microsoft.com/office/drawing/2014/main" id="{88BA6162-6BEF-409D-84D2-B5B3E30BDED2}"/>
              </a:ext>
            </a:extLst>
          </p:cNvPr>
          <p:cNvSpPr>
            <a:spLocks noGrp="1"/>
          </p:cNvSpPr>
          <p:nvPr/>
        </p:nvSpPr>
        <p:spPr>
          <a:xfrm>
            <a:off x="11277600" y="62960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transition-delta">
            <a:extLst>
              <a:ext uri="{FF2B5EF4-FFF2-40B4-BE49-F238E27FC236}">
                <a16:creationId xmlns:a16="http://schemas.microsoft.com/office/drawing/2014/main" id="{8BAB8039-8102-4BFA-9E14-F4ED95ED90E5}"/>
              </a:ext>
            </a:extLst>
          </p:cNvPr>
          <p:cNvSpPr>
            <a:spLocks noGrp="1"/>
          </p:cNvSpPr>
          <p:nvPr/>
        </p:nvSpPr>
        <p:spPr>
          <a:xfrm>
            <a:off x="1866900" y="1428750"/>
            <a:ext cx="8458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Δ = min ( r,  min{λₐ : (a,λₐ) ∈ p⁺} )</a:t>
            </a:r>
          </a:p>
        </p:txBody>
      </p:sp>
      <p:sp>
        <p:nvSpPr>
          <p:cNvPr id="5" name="transition-arrow-291">
            <a:extLst>
              <a:ext uri="{FF2B5EF4-FFF2-40B4-BE49-F238E27FC236}">
                <a16:creationId xmlns:a16="http://schemas.microsoft.com/office/drawing/2014/main" id="{DA54544E-46EE-4A16-9A45-D228DF40D5B7}"/>
              </a:ext>
            </a:extLst>
          </p:cNvPr>
          <p:cNvSpPr>
            <a:spLocks noGrp="1"/>
          </p:cNvSpPr>
          <p:nvPr/>
        </p:nvSpPr>
        <p:spPr>
          <a:xfrm>
            <a:off x="2771775" y="3257550"/>
            <a:ext cx="609600" cy="40005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ransition-arrow-601">
            <a:extLst>
              <a:ext uri="{FF2B5EF4-FFF2-40B4-BE49-F238E27FC236}">
                <a16:creationId xmlns:a16="http://schemas.microsoft.com/office/drawing/2014/main" id="{64F7CEE6-0763-4F0F-BB83-22507CE7C55C}"/>
              </a:ext>
            </a:extLst>
          </p:cNvPr>
          <p:cNvSpPr>
            <a:spLocks noGrp="1"/>
          </p:cNvSpPr>
          <p:nvPr/>
        </p:nvSpPr>
        <p:spPr>
          <a:xfrm>
            <a:off x="5724525" y="3257550"/>
            <a:ext cx="609600" cy="40005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ransition-arrow-911">
            <a:extLst>
              <a:ext uri="{FF2B5EF4-FFF2-40B4-BE49-F238E27FC236}">
                <a16:creationId xmlns:a16="http://schemas.microsoft.com/office/drawing/2014/main" id="{3402D4AD-1516-4A0E-9BE9-CDD7B061DD8A}"/>
              </a:ext>
            </a:extLst>
          </p:cNvPr>
          <p:cNvSpPr>
            <a:spLocks noGrp="1"/>
          </p:cNvSpPr>
          <p:nvPr/>
        </p:nvSpPr>
        <p:spPr>
          <a:xfrm>
            <a:off x="8677275" y="3257550"/>
            <a:ext cx="609600" cy="40005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ransition-node-1">
            <a:extLst>
              <a:ext uri="{FF2B5EF4-FFF2-40B4-BE49-F238E27FC236}">
                <a16:creationId xmlns:a16="http://schemas.microsoft.com/office/drawing/2014/main" id="{5AD7E802-70AE-4A89-AD51-74641C3CC9E1}"/>
              </a:ext>
            </a:extLst>
          </p:cNvPr>
          <p:cNvSpPr>
            <a:spLocks noGrp="1"/>
          </p:cNvSpPr>
          <p:nvPr/>
        </p:nvSpPr>
        <p:spPr>
          <a:xfrm>
            <a:off x="400050" y="2638425"/>
            <a:ext cx="2533650" cy="20383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ransition-num-1">
            <a:extLst>
              <a:ext uri="{FF2B5EF4-FFF2-40B4-BE49-F238E27FC236}">
                <a16:creationId xmlns:a16="http://schemas.microsoft.com/office/drawing/2014/main" id="{D900757F-DA94-4922-9710-61C5A7B79C81}"/>
              </a:ext>
            </a:extLst>
          </p:cNvPr>
          <p:cNvSpPr>
            <a:spLocks noGrp="1"/>
          </p:cNvSpPr>
          <p:nvPr/>
        </p:nvSpPr>
        <p:spPr>
          <a:xfrm>
            <a:off x="590550" y="28003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transition-heading-1">
            <a:extLst>
              <a:ext uri="{FF2B5EF4-FFF2-40B4-BE49-F238E27FC236}">
                <a16:creationId xmlns:a16="http://schemas.microsoft.com/office/drawing/2014/main" id="{1BC0590C-D462-413C-BBFA-5E9168D72CB6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Add U</a:t>
            </a:r>
          </a:p>
        </p:txBody>
      </p:sp>
      <p:sp>
        <p:nvSpPr>
          <p:cNvPr id="11" name="transition-body-1">
            <a:extLst>
              <a:ext uri="{FF2B5EF4-FFF2-40B4-BE49-F238E27FC236}">
                <a16:creationId xmlns:a16="http://schemas.microsoft.com/office/drawing/2014/main" id="{5A15C095-9C78-4CD8-BAB1-3C46143ECCC1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2114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p⁺ = p ∪ {(a,d(a)) :</a:t>
            </a:r>
          </a:p>
          <a:p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 ∈ U}</a:t>
            </a:r>
          </a:p>
        </p:txBody>
      </p:sp>
      <p:sp>
        <p:nvSpPr>
          <p:cNvPr id="12" name="transition-node-2">
            <a:extLst>
              <a:ext uri="{FF2B5EF4-FFF2-40B4-BE49-F238E27FC236}">
                <a16:creationId xmlns:a16="http://schemas.microsoft.com/office/drawing/2014/main" id="{FB2C8A1D-D68E-44D8-BC34-71E83A26AD64}"/>
              </a:ext>
            </a:extLst>
          </p:cNvPr>
          <p:cNvSpPr>
            <a:spLocks noGrp="1"/>
          </p:cNvSpPr>
          <p:nvPr/>
        </p:nvSpPr>
        <p:spPr>
          <a:xfrm>
            <a:off x="3352800" y="2638425"/>
            <a:ext cx="2533650" cy="20383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ransition-num-2">
            <a:extLst>
              <a:ext uri="{FF2B5EF4-FFF2-40B4-BE49-F238E27FC236}">
                <a16:creationId xmlns:a16="http://schemas.microsoft.com/office/drawing/2014/main" id="{F9883F09-163B-45B2-9E71-6AE41A8CF1C1}"/>
              </a:ext>
            </a:extLst>
          </p:cNvPr>
          <p:cNvSpPr>
            <a:spLocks noGrp="1"/>
          </p:cNvSpPr>
          <p:nvPr/>
        </p:nvSpPr>
        <p:spPr>
          <a:xfrm>
            <a:off x="3543300" y="28003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transition-heading-2">
            <a:extLst>
              <a:ext uri="{FF2B5EF4-FFF2-40B4-BE49-F238E27FC236}">
                <a16:creationId xmlns:a16="http://schemas.microsoft.com/office/drawing/2014/main" id="{7924D7A4-BE56-4AC4-9CE8-7F2182A0E9B4}"/>
              </a:ext>
            </a:extLst>
          </p:cNvPr>
          <p:cNvSpPr>
            <a:spLocks noGrp="1"/>
          </p:cNvSpPr>
          <p:nvPr/>
        </p:nvSpPr>
        <p:spPr>
          <a:xfrm>
            <a:off x="3619500" y="3190875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Advance Δ</a:t>
            </a:r>
          </a:p>
        </p:txBody>
      </p:sp>
      <p:sp>
        <p:nvSpPr>
          <p:cNvPr id="15" name="transition-body-2">
            <a:extLst>
              <a:ext uri="{FF2B5EF4-FFF2-40B4-BE49-F238E27FC236}">
                <a16:creationId xmlns:a16="http://schemas.microsoft.com/office/drawing/2014/main" id="{EDA5FD72-A45E-4E05-9658-08B3CB3F9845}"/>
              </a:ext>
            </a:extLst>
          </p:cNvPr>
          <p:cNvSpPr>
            <a:spLocks noGrp="1"/>
          </p:cNvSpPr>
          <p:nvPr/>
        </p:nvSpPr>
        <p:spPr>
          <a:xfrm>
            <a:off x="3562350" y="3705225"/>
            <a:ext cx="2114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r′ = r − Δ</a:t>
            </a:r>
          </a:p>
        </p:txBody>
      </p:sp>
      <p:sp>
        <p:nvSpPr>
          <p:cNvPr id="16" name="transition-node-3">
            <a:extLst>
              <a:ext uri="{FF2B5EF4-FFF2-40B4-BE49-F238E27FC236}">
                <a16:creationId xmlns:a16="http://schemas.microsoft.com/office/drawing/2014/main" id="{FE5047B4-C1C0-48A6-B12E-1EFA49557985}"/>
              </a:ext>
            </a:extLst>
          </p:cNvPr>
          <p:cNvSpPr>
            <a:spLocks noGrp="1"/>
          </p:cNvSpPr>
          <p:nvPr/>
        </p:nvSpPr>
        <p:spPr>
          <a:xfrm>
            <a:off x="6305550" y="2638425"/>
            <a:ext cx="2533650" cy="20383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ransition-num-3">
            <a:extLst>
              <a:ext uri="{FF2B5EF4-FFF2-40B4-BE49-F238E27FC236}">
                <a16:creationId xmlns:a16="http://schemas.microsoft.com/office/drawing/2014/main" id="{267E73C8-3FFE-4F13-911F-C87AA394AAEC}"/>
              </a:ext>
            </a:extLst>
          </p:cNvPr>
          <p:cNvSpPr>
            <a:spLocks noGrp="1"/>
          </p:cNvSpPr>
          <p:nvPr/>
        </p:nvSpPr>
        <p:spPr>
          <a:xfrm>
            <a:off x="6496050" y="28003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transition-heading-3">
            <a:extLst>
              <a:ext uri="{FF2B5EF4-FFF2-40B4-BE49-F238E27FC236}">
                <a16:creationId xmlns:a16="http://schemas.microsoft.com/office/drawing/2014/main" id="{075371F2-8F12-46EC-8531-0B14EA934DA9}"/>
              </a:ext>
            </a:extLst>
          </p:cNvPr>
          <p:cNvSpPr>
            <a:spLocks noGrp="1"/>
          </p:cNvSpPr>
          <p:nvPr/>
        </p:nvSpPr>
        <p:spPr>
          <a:xfrm>
            <a:off x="6572250" y="3190875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 p</a:t>
            </a:r>
          </a:p>
        </p:txBody>
      </p:sp>
      <p:sp>
        <p:nvSpPr>
          <p:cNvPr id="19" name="transition-body-3">
            <a:extLst>
              <a:ext uri="{FF2B5EF4-FFF2-40B4-BE49-F238E27FC236}">
                <a16:creationId xmlns:a16="http://schemas.microsoft.com/office/drawing/2014/main" id="{B06E935B-DBEC-4599-B4BB-982B027B2D37}"/>
              </a:ext>
            </a:extLst>
          </p:cNvPr>
          <p:cNvSpPr>
            <a:spLocks noGrp="1"/>
          </p:cNvSpPr>
          <p:nvPr/>
        </p:nvSpPr>
        <p:spPr>
          <a:xfrm>
            <a:off x="6515100" y="3705225"/>
            <a:ext cx="2114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Subtract Δ and remove</a:t>
            </a:r>
          </a:p>
          <a:p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actions that finish</a:t>
            </a:r>
          </a:p>
        </p:txBody>
      </p:sp>
      <p:sp>
        <p:nvSpPr>
          <p:cNvPr id="20" name="transition-node-4">
            <a:extLst>
              <a:ext uri="{FF2B5EF4-FFF2-40B4-BE49-F238E27FC236}">
                <a16:creationId xmlns:a16="http://schemas.microsoft.com/office/drawing/2014/main" id="{CFB46FEC-6B4D-4FCE-BD4F-7A181C716C2C}"/>
              </a:ext>
            </a:extLst>
          </p:cNvPr>
          <p:cNvSpPr>
            <a:spLocks noGrp="1"/>
          </p:cNvSpPr>
          <p:nvPr/>
        </p:nvSpPr>
        <p:spPr>
          <a:xfrm>
            <a:off x="9258300" y="2638425"/>
            <a:ext cx="2533650" cy="20383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ransition-num-4">
            <a:extLst>
              <a:ext uri="{FF2B5EF4-FFF2-40B4-BE49-F238E27FC236}">
                <a16:creationId xmlns:a16="http://schemas.microsoft.com/office/drawing/2014/main" id="{D9AFBE9B-6AB4-4EE6-AA2A-112F3EB15B3C}"/>
              </a:ext>
            </a:extLst>
          </p:cNvPr>
          <p:cNvSpPr>
            <a:spLocks noGrp="1"/>
          </p:cNvSpPr>
          <p:nvPr/>
        </p:nvSpPr>
        <p:spPr>
          <a:xfrm>
            <a:off x="9448800" y="28003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transition-heading-4">
            <a:extLst>
              <a:ext uri="{FF2B5EF4-FFF2-40B4-BE49-F238E27FC236}">
                <a16:creationId xmlns:a16="http://schemas.microsoft.com/office/drawing/2014/main" id="{D8426B75-012A-4A05-B556-04E8BF850F8A}"/>
              </a:ext>
            </a:extLst>
          </p:cNvPr>
          <p:cNvSpPr>
            <a:spLocks noGrp="1"/>
          </p:cNvSpPr>
          <p:nvPr/>
        </p:nvSpPr>
        <p:spPr>
          <a:xfrm>
            <a:off x="9525000" y="3190875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 x</a:t>
            </a:r>
          </a:p>
        </p:txBody>
      </p:sp>
      <p:sp>
        <p:nvSpPr>
          <p:cNvPr id="23" name="transition-body-4">
            <a:extLst>
              <a:ext uri="{FF2B5EF4-FFF2-40B4-BE49-F238E27FC236}">
                <a16:creationId xmlns:a16="http://schemas.microsoft.com/office/drawing/2014/main" id="{8DE65361-5D77-4538-B42E-E237AAF0A03A}"/>
              </a:ext>
            </a:extLst>
          </p:cNvPr>
          <p:cNvSpPr>
            <a:spLocks noGrp="1"/>
          </p:cNvSpPr>
          <p:nvPr/>
        </p:nvSpPr>
        <p:spPr>
          <a:xfrm>
            <a:off x="9467850" y="3705225"/>
            <a:ext cx="2114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Apply the outcomes of actions</a:t>
            </a:r>
          </a:p>
          <a:p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that start or finish</a:t>
            </a:r>
          </a:p>
        </p:txBody>
      </p:sp>
      <p:sp>
        <p:nvSpPr>
          <p:cNvPr id="24" name="transition-rho-plus">
            <a:extLst>
              <a:ext uri="{FF2B5EF4-FFF2-40B4-BE49-F238E27FC236}">
                <a16:creationId xmlns:a16="http://schemas.microsoft.com/office/drawing/2014/main" id="{2E1E52DB-DA6B-4893-9EC0-F4F5372E4E8F}"/>
              </a:ext>
            </a:extLst>
          </p:cNvPr>
          <p:cNvSpPr>
            <a:spLocks noGrp="1"/>
          </p:cNvSpPr>
          <p:nvPr/>
        </p:nvSpPr>
        <p:spPr>
          <a:xfrm>
            <a:off x="933450" y="5000625"/>
            <a:ext cx="485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r′ = r − Δ</a:t>
            </a:r>
          </a:p>
        </p:txBody>
      </p:sp>
      <p:sp>
        <p:nvSpPr>
          <p:cNvPr id="25" name="transition-next-state">
            <a:extLst>
              <a:ext uri="{FF2B5EF4-FFF2-40B4-BE49-F238E27FC236}">
                <a16:creationId xmlns:a16="http://schemas.microsoft.com/office/drawing/2014/main" id="{730FB791-D7B4-4348-B05E-BE34317C748F}"/>
              </a:ext>
            </a:extLst>
          </p:cNvPr>
          <p:cNvSpPr>
            <a:spLocks noGrp="1"/>
          </p:cNvSpPr>
          <p:nvPr/>
        </p:nvSpPr>
        <p:spPr>
          <a:xfrm>
            <a:off x="6591300" y="5000625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s′ = (x′, r′, p′)</a:t>
            </a:r>
          </a:p>
        </p:txBody>
      </p:sp>
      <p:sp>
        <p:nvSpPr>
          <p:cNvPr id="26" name="transition-deadline">
            <a:extLst>
              <a:ext uri="{FF2B5EF4-FFF2-40B4-BE49-F238E27FC236}">
                <a16:creationId xmlns:a16="http://schemas.microsoft.com/office/drawing/2014/main" id="{E216243B-30E2-42C1-98C4-1B1A9D4794F1}"/>
              </a:ext>
            </a:extLst>
          </p:cNvPr>
          <p:cNvSpPr>
            <a:spLocks noGrp="1"/>
          </p:cNvSpPr>
          <p:nvPr/>
        </p:nvSpPr>
        <p:spPr>
          <a:xfrm>
            <a:off x="1752600" y="5791200"/>
            <a:ext cx="8686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p′ = {(a, λₐ−Δ) : (a,λₐ) ∈ p⁺, λₐ &gt; Δ}</a:t>
            </a:r>
          </a:p>
        </p:txBody>
      </p:sp>
    </p:spTree>
    <p:extLst>
      <p:ext uri="{BB962C8B-B14F-4D97-AF65-F5344CB8AC3E}">
        <p14:creationId xmlns:p14="http://schemas.microsoft.com/office/powerpoint/2010/main" val="255475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5-title">
            <a:extLst>
              <a:ext uri="{FF2B5EF4-FFF2-40B4-BE49-F238E27FC236}">
                <a16:creationId xmlns:a16="http://schemas.microsoft.com/office/drawing/2014/main" id="{D443DBBC-2FCD-473C-832F-03BE4D667A26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113919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 states and model status</a:t>
            </a:r>
          </a:p>
        </p:txBody>
      </p:sp>
      <p:sp>
        <p:nvSpPr>
          <p:cNvPr id="2" name="slide-5-title-rule">
            <a:extLst>
              <a:ext uri="{FF2B5EF4-FFF2-40B4-BE49-F238E27FC236}">
                <a16:creationId xmlns:a16="http://schemas.microsoft.com/office/drawing/2014/main" id="{B8DCE35F-FC0C-49DF-8CAE-192C2710020E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lide-5-number">
            <a:extLst>
              <a:ext uri="{FF2B5EF4-FFF2-40B4-BE49-F238E27FC236}">
                <a16:creationId xmlns:a16="http://schemas.microsoft.com/office/drawing/2014/main" id="{6DAD5C3C-52AE-44D4-92B6-0350ACCCAFC5}"/>
              </a:ext>
            </a:extLst>
          </p:cNvPr>
          <p:cNvSpPr>
            <a:spLocks noGrp="1"/>
          </p:cNvSpPr>
          <p:nvPr/>
        </p:nvSpPr>
        <p:spPr>
          <a:xfrm>
            <a:off x="11277600" y="62960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andor-arrow-1">
            <a:extLst>
              <a:ext uri="{FF2B5EF4-FFF2-40B4-BE49-F238E27FC236}">
                <a16:creationId xmlns:a16="http://schemas.microsoft.com/office/drawing/2014/main" id="{05CF06AE-27BA-4B5F-BD15-2E4DB852F083}"/>
              </a:ext>
            </a:extLst>
          </p:cNvPr>
          <p:cNvSpPr>
            <a:spLocks noGrp="1"/>
          </p:cNvSpPr>
          <p:nvPr/>
        </p:nvSpPr>
        <p:spPr>
          <a:xfrm>
            <a:off x="2733675" y="2381250"/>
            <a:ext cx="685800" cy="38100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andor-arrow-2">
            <a:extLst>
              <a:ext uri="{FF2B5EF4-FFF2-40B4-BE49-F238E27FC236}">
                <a16:creationId xmlns:a16="http://schemas.microsoft.com/office/drawing/2014/main" id="{F423953C-00A0-44CC-BC6B-E445D3DDB315}"/>
              </a:ext>
            </a:extLst>
          </p:cNvPr>
          <p:cNvSpPr>
            <a:spLocks noGrp="1"/>
          </p:cNvSpPr>
          <p:nvPr/>
        </p:nvSpPr>
        <p:spPr>
          <a:xfrm>
            <a:off x="5838825" y="2381250"/>
            <a:ext cx="685800" cy="38100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andor-arrow-3">
            <a:extLst>
              <a:ext uri="{FF2B5EF4-FFF2-40B4-BE49-F238E27FC236}">
                <a16:creationId xmlns:a16="http://schemas.microsoft.com/office/drawing/2014/main" id="{FBAC8BFE-F788-408F-B678-B5F0886E5B24}"/>
              </a:ext>
            </a:extLst>
          </p:cNvPr>
          <p:cNvSpPr>
            <a:spLocks noGrp="1"/>
          </p:cNvSpPr>
          <p:nvPr/>
        </p:nvSpPr>
        <p:spPr>
          <a:xfrm>
            <a:off x="8934450" y="2381250"/>
            <a:ext cx="685800" cy="38100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andor-node-42">
            <a:extLst>
              <a:ext uri="{FF2B5EF4-FFF2-40B4-BE49-F238E27FC236}">
                <a16:creationId xmlns:a16="http://schemas.microsoft.com/office/drawing/2014/main" id="{F23DB39D-FAF7-4A79-B6AA-7B0B2094DC02}"/>
              </a:ext>
            </a:extLst>
          </p:cNvPr>
          <p:cNvSpPr>
            <a:spLocks noGrp="1"/>
          </p:cNvSpPr>
          <p:nvPr/>
        </p:nvSpPr>
        <p:spPr>
          <a:xfrm>
            <a:off x="400050" y="1905000"/>
            <a:ext cx="2381250" cy="13525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andor-tag-42">
            <a:extLst>
              <a:ext uri="{FF2B5EF4-FFF2-40B4-BE49-F238E27FC236}">
                <a16:creationId xmlns:a16="http://schemas.microsoft.com/office/drawing/2014/main" id="{3361D540-3E18-4C1D-9AA7-21AD2FD35C24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OR</a:t>
            </a:r>
          </a:p>
        </p:txBody>
      </p:sp>
      <p:sp>
        <p:nvSpPr>
          <p:cNvPr id="9" name="andor-body-42">
            <a:extLst>
              <a:ext uri="{FF2B5EF4-FFF2-40B4-BE49-F238E27FC236}">
                <a16:creationId xmlns:a16="http://schemas.microsoft.com/office/drawing/2014/main" id="{A88C7EC0-2B00-4EBF-9F02-447769B2FAD9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19621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</a:t>
            </a:r>
          </a:p>
          <a:p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s=(x,r,p)</a:t>
            </a:r>
          </a:p>
        </p:txBody>
      </p:sp>
      <p:sp>
        <p:nvSpPr>
          <p:cNvPr id="10" name="andor-node-368">
            <a:extLst>
              <a:ext uri="{FF2B5EF4-FFF2-40B4-BE49-F238E27FC236}">
                <a16:creationId xmlns:a16="http://schemas.microsoft.com/office/drawing/2014/main" id="{C7BAF40A-06A0-44FC-A939-06BE90743B47}"/>
              </a:ext>
            </a:extLst>
          </p:cNvPr>
          <p:cNvSpPr>
            <a:spLocks noGrp="1"/>
          </p:cNvSpPr>
          <p:nvPr/>
        </p:nvSpPr>
        <p:spPr>
          <a:xfrm>
            <a:off x="3505200" y="1905000"/>
            <a:ext cx="2381250" cy="13525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andor-tag-368">
            <a:extLst>
              <a:ext uri="{FF2B5EF4-FFF2-40B4-BE49-F238E27FC236}">
                <a16:creationId xmlns:a16="http://schemas.microsoft.com/office/drawing/2014/main" id="{87662FB4-52AE-4F0E-A4A7-25F1BCA40279}"/>
              </a:ext>
            </a:extLst>
          </p:cNvPr>
          <p:cNvSpPr>
            <a:spLocks noGrp="1"/>
          </p:cNvSpPr>
          <p:nvPr/>
        </p:nvSpPr>
        <p:spPr>
          <a:xfrm>
            <a:off x="3714750" y="205740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Choice</a:t>
            </a:r>
          </a:p>
        </p:txBody>
      </p:sp>
      <p:sp>
        <p:nvSpPr>
          <p:cNvPr id="12" name="andor-body-368">
            <a:extLst>
              <a:ext uri="{FF2B5EF4-FFF2-40B4-BE49-F238E27FC236}">
                <a16:creationId xmlns:a16="http://schemas.microsoft.com/office/drawing/2014/main" id="{67FB46E1-2C99-44AD-A58A-26F6B8DA5271}"/>
              </a:ext>
            </a:extLst>
          </p:cNvPr>
          <p:cNvSpPr>
            <a:spLocks noGrp="1"/>
          </p:cNvSpPr>
          <p:nvPr/>
        </p:nvSpPr>
        <p:spPr>
          <a:xfrm>
            <a:off x="3714750" y="2438400"/>
            <a:ext cx="19621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Dispatch</a:t>
            </a:r>
          </a:p>
          <a:p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set U</a:t>
            </a:r>
          </a:p>
        </p:txBody>
      </p:sp>
      <p:sp>
        <p:nvSpPr>
          <p:cNvPr id="13" name="andor-node-694">
            <a:extLst>
              <a:ext uri="{FF2B5EF4-FFF2-40B4-BE49-F238E27FC236}">
                <a16:creationId xmlns:a16="http://schemas.microsoft.com/office/drawing/2014/main" id="{39CE72AD-0C29-40D4-8EB1-0FFD84C5D27D}"/>
              </a:ext>
            </a:extLst>
          </p:cNvPr>
          <p:cNvSpPr>
            <a:spLocks noGrp="1"/>
          </p:cNvSpPr>
          <p:nvPr/>
        </p:nvSpPr>
        <p:spPr>
          <a:xfrm>
            <a:off x="6610350" y="1905000"/>
            <a:ext cx="2381250" cy="1352550"/>
          </a:xfrm>
          <a:prstGeom prst="rect">
            <a:avLst/>
          </a:prstGeom>
          <a:solidFill>
            <a:srgbClr val="6DCB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andor-tag-694">
            <a:extLst>
              <a:ext uri="{FF2B5EF4-FFF2-40B4-BE49-F238E27FC236}">
                <a16:creationId xmlns:a16="http://schemas.microsoft.com/office/drawing/2014/main" id="{EE778506-E144-4326-A2D3-FFE92F8701D1}"/>
              </a:ext>
            </a:extLst>
          </p:cNvPr>
          <p:cNvSpPr>
            <a:spLocks noGrp="1"/>
          </p:cNvSpPr>
          <p:nvPr/>
        </p:nvSpPr>
        <p:spPr>
          <a:xfrm>
            <a:off x="6819900" y="205740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/ chance</a:t>
            </a:r>
          </a:p>
        </p:txBody>
      </p:sp>
      <p:sp>
        <p:nvSpPr>
          <p:cNvPr id="15" name="andor-body-694">
            <a:extLst>
              <a:ext uri="{FF2B5EF4-FFF2-40B4-BE49-F238E27FC236}">
                <a16:creationId xmlns:a16="http://schemas.microsoft.com/office/drawing/2014/main" id="{2135B39F-A707-4C28-B865-76F27164C2A9}"/>
              </a:ext>
            </a:extLst>
          </p:cNvPr>
          <p:cNvSpPr>
            <a:spLocks noGrp="1"/>
          </p:cNvSpPr>
          <p:nvPr/>
        </p:nvSpPr>
        <p:spPr>
          <a:xfrm>
            <a:off x="6819900" y="2438400"/>
            <a:ext cx="19621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Stochastic</a:t>
            </a:r>
          </a:p>
          <a:p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outcomes</a:t>
            </a:r>
          </a:p>
        </p:txBody>
      </p:sp>
      <p:sp>
        <p:nvSpPr>
          <p:cNvPr id="16" name="andor-node-1020">
            <a:extLst>
              <a:ext uri="{FF2B5EF4-FFF2-40B4-BE49-F238E27FC236}">
                <a16:creationId xmlns:a16="http://schemas.microsoft.com/office/drawing/2014/main" id="{4DDC3CCF-A547-4E27-AEB4-8151FC29B518}"/>
              </a:ext>
            </a:extLst>
          </p:cNvPr>
          <p:cNvSpPr>
            <a:spLocks noGrp="1"/>
          </p:cNvSpPr>
          <p:nvPr/>
        </p:nvSpPr>
        <p:spPr>
          <a:xfrm>
            <a:off x="9715500" y="1905000"/>
            <a:ext cx="2381250" cy="13525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andor-tag-1020">
            <a:extLst>
              <a:ext uri="{FF2B5EF4-FFF2-40B4-BE49-F238E27FC236}">
                <a16:creationId xmlns:a16="http://schemas.microsoft.com/office/drawing/2014/main" id="{2FD35836-769E-4974-857F-D43D28AEC6DD}"/>
              </a:ext>
            </a:extLst>
          </p:cNvPr>
          <p:cNvSpPr>
            <a:spLocks noGrp="1"/>
          </p:cNvSpPr>
          <p:nvPr/>
        </p:nvSpPr>
        <p:spPr>
          <a:xfrm>
            <a:off x="9925050" y="205740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 event</a:t>
            </a:r>
          </a:p>
        </p:txBody>
      </p:sp>
      <p:sp>
        <p:nvSpPr>
          <p:cNvPr id="18" name="andor-body-1020">
            <a:extLst>
              <a:ext uri="{FF2B5EF4-FFF2-40B4-BE49-F238E27FC236}">
                <a16:creationId xmlns:a16="http://schemas.microsoft.com/office/drawing/2014/main" id="{7FCFC934-70F7-4097-BBD2-C25D8CF47A65}"/>
              </a:ext>
            </a:extLst>
          </p:cNvPr>
          <p:cNvSpPr>
            <a:spLocks noGrp="1"/>
          </p:cNvSpPr>
          <p:nvPr/>
        </p:nvSpPr>
        <p:spPr>
          <a:xfrm>
            <a:off x="9925050" y="2438400"/>
            <a:ext cx="19621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New state</a:t>
            </a:r>
          </a:p>
          <a:p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s′</a:t>
            </a:r>
          </a:p>
        </p:txBody>
      </p:sp>
      <p:sp>
        <p:nvSpPr>
          <p:cNvPr id="19" name="markov-result">
            <a:extLst>
              <a:ext uri="{FF2B5EF4-FFF2-40B4-BE49-F238E27FC236}">
                <a16:creationId xmlns:a16="http://schemas.microsoft.com/office/drawing/2014/main" id="{334AAC39-0EF8-4338-9E83-C9410C0E96D6}"/>
              </a:ext>
            </a:extLst>
          </p:cNvPr>
          <p:cNvSpPr>
            <a:spLocks noGrp="1"/>
          </p:cNvSpPr>
          <p:nvPr/>
        </p:nvSpPr>
        <p:spPr>
          <a:xfrm>
            <a:off x="400050" y="3714750"/>
            <a:ext cx="5334000" cy="206692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markov-result-title">
            <a:extLst>
              <a:ext uri="{FF2B5EF4-FFF2-40B4-BE49-F238E27FC236}">
                <a16:creationId xmlns:a16="http://schemas.microsoft.com/office/drawing/2014/main" id="{7523280E-1205-4132-BDD9-502A9DA3E0C7}"/>
              </a:ext>
            </a:extLst>
          </p:cNvPr>
          <p:cNvSpPr>
            <a:spLocks noGrp="1"/>
          </p:cNvSpPr>
          <p:nvPr/>
        </p:nvSpPr>
        <p:spPr>
          <a:xfrm>
            <a:off x="647700" y="3924300"/>
            <a:ext cx="4838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 cases</a:t>
            </a:r>
          </a:p>
        </p:txBody>
      </p:sp>
      <p:sp>
        <p:nvSpPr>
          <p:cNvPr id="21" name="markov-result-body">
            <a:extLst>
              <a:ext uri="{FF2B5EF4-FFF2-40B4-BE49-F238E27FC236}">
                <a16:creationId xmlns:a16="http://schemas.microsoft.com/office/drawing/2014/main" id="{6F99F7B5-C422-4B08-A36A-FA1BD0492AA2}"/>
              </a:ext>
            </a:extLst>
          </p:cNvPr>
          <p:cNvSpPr>
            <a:spLocks noGrp="1"/>
          </p:cNvSpPr>
          <p:nvPr/>
        </p:nvSpPr>
        <p:spPr>
          <a:xfrm>
            <a:off x="647700" y="4400550"/>
            <a:ext cx="48387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 ⊆ x  ⇒  V(s) = 1   (success)</a:t>
            </a:r>
          </a:p>
          <a:p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sz="1650" b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 ⊄ x,  r ≤ 0  ⇒  V(s) = 0   (deadline failure)</a:t>
            </a:r>
          </a:p>
        </p:txBody>
      </p:sp>
      <p:sp>
        <p:nvSpPr>
          <p:cNvPr id="22" name="proof-obligation">
            <a:extLst>
              <a:ext uri="{FF2B5EF4-FFF2-40B4-BE49-F238E27FC236}">
                <a16:creationId xmlns:a16="http://schemas.microsoft.com/office/drawing/2014/main" id="{EC3B23C4-BC6B-41D9-A089-8ED6FF50A2A6}"/>
              </a:ext>
            </a:extLst>
          </p:cNvPr>
          <p:cNvSpPr>
            <a:spLocks noGrp="1"/>
          </p:cNvSpPr>
          <p:nvPr/>
        </p:nvSpPr>
        <p:spPr>
          <a:xfrm>
            <a:off x="6057900" y="3714750"/>
            <a:ext cx="5734050" cy="2066925"/>
          </a:xfrm>
          <a:prstGeom prst="rect">
            <a:avLst/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proof-obligation-title">
            <a:extLst>
              <a:ext uri="{FF2B5EF4-FFF2-40B4-BE49-F238E27FC236}">
                <a16:creationId xmlns:a16="http://schemas.microsoft.com/office/drawing/2014/main" id="{2A8B8FA4-ED4B-41D5-95BA-11A5FA205A49}"/>
              </a:ext>
            </a:extLst>
          </p:cNvPr>
          <p:cNvSpPr>
            <a:spLocks noGrp="1"/>
          </p:cNvSpPr>
          <p:nvPr/>
        </p:nvSpPr>
        <p:spPr>
          <a:xfrm>
            <a:off x="6305550" y="3924300"/>
            <a:ext cx="523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status</a:t>
            </a:r>
          </a:p>
        </p:txBody>
      </p:sp>
      <p:sp>
        <p:nvSpPr>
          <p:cNvPr id="24" name="proof-obligation-body">
            <a:extLst>
              <a:ext uri="{FF2B5EF4-FFF2-40B4-BE49-F238E27FC236}">
                <a16:creationId xmlns:a16="http://schemas.microsoft.com/office/drawing/2014/main" id="{B790BD83-C6DA-40FA-AFF7-F99CDCCA353E}"/>
              </a:ext>
            </a:extLst>
          </p:cNvPr>
          <p:cNvSpPr>
            <a:spLocks noGrp="1"/>
          </p:cNvSpPr>
          <p:nvPr/>
        </p:nvSpPr>
        <p:spPr>
          <a:xfrm>
            <a:off x="6305550" y="4343400"/>
            <a:ext cx="52387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Event-driven MDP / SMDP: one step consumes variable Δ.</a:t>
            </a:r>
          </a:p>
          <a:p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r in the state, Bellman DP applies to the finite model.</a:t>
            </a:r>
          </a:p>
          <a:p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Still to prove: event-only starts preserve the optimal value.</a:t>
            </a:r>
          </a:p>
        </p:txBody>
      </p:sp>
    </p:spTree>
    <p:extLst>
      <p:ext uri="{BB962C8B-B14F-4D97-AF65-F5344CB8AC3E}">
        <p14:creationId xmlns:p14="http://schemas.microsoft.com/office/powerpoint/2010/main" val="39199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-1-title">
            <a:extLst>
              <a:ext uri="{FF2B5EF4-FFF2-40B4-BE49-F238E27FC236}">
                <a16:creationId xmlns:a16="http://schemas.microsoft.com/office/drawing/2014/main" id="{46F50528-4115-47F5-AE21-6178D6AB9B38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Compile one durative action into two event actions</a:t>
            </a:r>
          </a:p>
        </p:txBody>
      </p:sp>
      <p:sp>
        <p:nvSpPr>
          <p:cNvPr id="2" name="slide-1-rule">
            <a:extLst>
              <a:ext uri="{FF2B5EF4-FFF2-40B4-BE49-F238E27FC236}">
                <a16:creationId xmlns:a16="http://schemas.microsoft.com/office/drawing/2014/main" id="{241763CF-ABAF-4A29-81D6-180D8CFB6816}"/>
              </a:ext>
            </a:extLst>
          </p:cNvPr>
          <p:cNvSpPr>
            <a:spLocks noGrp="1"/>
          </p:cNvSpPr>
          <p:nvPr/>
        </p:nvSpPr>
        <p:spPr>
          <a:xfrm>
            <a:off x="400050" y="1171575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lide-1-number">
            <a:extLst>
              <a:ext uri="{FF2B5EF4-FFF2-40B4-BE49-F238E27FC236}">
                <a16:creationId xmlns:a16="http://schemas.microsoft.com/office/drawing/2014/main" id="{1ACE471B-1C3D-4906-9A4D-09078FD6068D}"/>
              </a:ext>
            </a:extLst>
          </p:cNvPr>
          <p:cNvSpPr>
            <a:spLocks noGrp="1"/>
          </p:cNvSpPr>
          <p:nvPr/>
        </p:nvSpPr>
        <p:spPr>
          <a:xfrm>
            <a:off x="11287125" y="6362700"/>
            <a:ext cx="504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flow-arrow-1">
            <a:extLst>
              <a:ext uri="{FF2B5EF4-FFF2-40B4-BE49-F238E27FC236}">
                <a16:creationId xmlns:a16="http://schemas.microsoft.com/office/drawing/2014/main" id="{554AE765-1946-4545-8E59-026A36A004EF}"/>
              </a:ext>
            </a:extLst>
          </p:cNvPr>
          <p:cNvSpPr>
            <a:spLocks noGrp="1"/>
          </p:cNvSpPr>
          <p:nvPr/>
        </p:nvSpPr>
        <p:spPr>
          <a:xfrm>
            <a:off x="3629025" y="3057525"/>
            <a:ext cx="762000" cy="419100"/>
          </a:xfrm>
          <a:prstGeom prst="rightArrow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flow-arrow-2">
            <a:extLst>
              <a:ext uri="{FF2B5EF4-FFF2-40B4-BE49-F238E27FC236}">
                <a16:creationId xmlns:a16="http://schemas.microsoft.com/office/drawing/2014/main" id="{AC92530E-F440-4F50-B2E1-A833D73DA9D9}"/>
              </a:ext>
            </a:extLst>
          </p:cNvPr>
          <p:cNvSpPr>
            <a:spLocks noGrp="1"/>
          </p:cNvSpPr>
          <p:nvPr/>
        </p:nvSpPr>
        <p:spPr>
          <a:xfrm>
            <a:off x="7800975" y="3057525"/>
            <a:ext cx="762000" cy="419100"/>
          </a:xfrm>
          <a:prstGeom prst="rightArrow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flow-card-1">
            <a:extLst>
              <a:ext uri="{FF2B5EF4-FFF2-40B4-BE49-F238E27FC236}">
                <a16:creationId xmlns:a16="http://schemas.microsoft.com/office/drawing/2014/main" id="{F559A503-55EF-4EDB-BD35-0568196D5B1C}"/>
              </a:ext>
            </a:extLst>
          </p:cNvPr>
          <p:cNvSpPr>
            <a:spLocks noGrp="1"/>
          </p:cNvSpPr>
          <p:nvPr/>
        </p:nvSpPr>
        <p:spPr>
          <a:xfrm>
            <a:off x="400050" y="1828800"/>
            <a:ext cx="3238500" cy="3209925"/>
          </a:xfrm>
          <a:prstGeom prst="rect">
            <a:avLst/>
          </a:prstGeom>
          <a:solidFill>
            <a:srgbClr val="F0F1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flow-tag-1">
            <a:extLst>
              <a:ext uri="{FF2B5EF4-FFF2-40B4-BE49-F238E27FC236}">
                <a16:creationId xmlns:a16="http://schemas.microsoft.com/office/drawing/2014/main" id="{F5FDA4E9-ABE9-4DE5-8307-2C8E58919EB4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CHOSEN</a:t>
            </a:r>
          </a:p>
        </p:txBody>
      </p:sp>
      <p:sp>
        <p:nvSpPr>
          <p:cNvPr id="8" name="flow-title-1">
            <a:extLst>
              <a:ext uri="{FF2B5EF4-FFF2-40B4-BE49-F238E27FC236}">
                <a16:creationId xmlns:a16="http://schemas.microsoft.com/office/drawing/2014/main" id="{A49228C4-1EF8-4E35-B17E-C3D2932404D7}"/>
              </a:ext>
            </a:extLst>
          </p:cNvPr>
          <p:cNvSpPr>
            <a:spLocks noGrp="1"/>
          </p:cNvSpPr>
          <p:nvPr/>
        </p:nvSpPr>
        <p:spPr>
          <a:xfrm>
            <a:off x="647700" y="2381250"/>
            <a:ext cx="27432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Start(a)</a:t>
            </a:r>
          </a:p>
        </p:txBody>
      </p:sp>
      <p:sp>
        <p:nvSpPr>
          <p:cNvPr id="9" name="flow-card-2">
            <a:extLst>
              <a:ext uri="{FF2B5EF4-FFF2-40B4-BE49-F238E27FC236}">
                <a16:creationId xmlns:a16="http://schemas.microsoft.com/office/drawing/2014/main" id="{C737E655-6501-4121-889C-F0F1F9F48048}"/>
              </a:ext>
            </a:extLst>
          </p:cNvPr>
          <p:cNvSpPr>
            <a:spLocks noGrp="1"/>
          </p:cNvSpPr>
          <p:nvPr/>
        </p:nvSpPr>
        <p:spPr>
          <a:xfrm>
            <a:off x="4391025" y="1828800"/>
            <a:ext cx="3409950" cy="3209925"/>
          </a:xfrm>
          <a:prstGeom prst="rect">
            <a:avLst/>
          </a:prstGeom>
          <a:solidFill>
            <a:srgbClr val="D8F1FC"/>
          </a:solidFill>
          <a:ln w="1905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flow-tag-2">
            <a:extLst>
              <a:ext uri="{FF2B5EF4-FFF2-40B4-BE49-F238E27FC236}">
                <a16:creationId xmlns:a16="http://schemas.microsoft.com/office/drawing/2014/main" id="{423BC740-82F9-44FC-9703-78230DC5D9EE}"/>
              </a:ext>
            </a:extLst>
          </p:cNvPr>
          <p:cNvSpPr>
            <a:spLocks noGrp="1"/>
          </p:cNvSpPr>
          <p:nvPr/>
        </p:nvSpPr>
        <p:spPr>
          <a:xfrm>
            <a:off x="4638675" y="2047875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RUNNING</a:t>
            </a:r>
          </a:p>
        </p:txBody>
      </p:sp>
      <p:sp>
        <p:nvSpPr>
          <p:cNvPr id="11" name="flow-title-2">
            <a:extLst>
              <a:ext uri="{FF2B5EF4-FFF2-40B4-BE49-F238E27FC236}">
                <a16:creationId xmlns:a16="http://schemas.microsoft.com/office/drawing/2014/main" id="{4DA844A6-2598-4B42-A7F2-22F14DE98933}"/>
              </a:ext>
            </a:extLst>
          </p:cNvPr>
          <p:cNvSpPr>
            <a:spLocks noGrp="1"/>
          </p:cNvSpPr>
          <p:nvPr/>
        </p:nvSpPr>
        <p:spPr>
          <a:xfrm>
            <a:off x="4638675" y="2381250"/>
            <a:ext cx="2914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4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(a, λₐ) ∈ p</a:t>
            </a:r>
          </a:p>
        </p:txBody>
      </p:sp>
      <p:sp>
        <p:nvSpPr>
          <p:cNvPr id="12" name="flow-card-3">
            <a:extLst>
              <a:ext uri="{FF2B5EF4-FFF2-40B4-BE49-F238E27FC236}">
                <a16:creationId xmlns:a16="http://schemas.microsoft.com/office/drawing/2014/main" id="{FB1FA9B2-FD2D-44BD-BB71-7F04AE277E60}"/>
              </a:ext>
            </a:extLst>
          </p:cNvPr>
          <p:cNvSpPr>
            <a:spLocks noGrp="1"/>
          </p:cNvSpPr>
          <p:nvPr/>
        </p:nvSpPr>
        <p:spPr>
          <a:xfrm>
            <a:off x="8562975" y="1828800"/>
            <a:ext cx="3228975" cy="3209925"/>
          </a:xfrm>
          <a:prstGeom prst="rect">
            <a:avLst/>
          </a:prstGeom>
          <a:solidFill>
            <a:srgbClr val="F0F1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flow-tag-3">
            <a:extLst>
              <a:ext uri="{FF2B5EF4-FFF2-40B4-BE49-F238E27FC236}">
                <a16:creationId xmlns:a16="http://schemas.microsoft.com/office/drawing/2014/main" id="{921C9730-4495-4F1D-86CF-F69F47164007}"/>
              </a:ext>
            </a:extLst>
          </p:cNvPr>
          <p:cNvSpPr>
            <a:spLocks noGrp="1"/>
          </p:cNvSpPr>
          <p:nvPr/>
        </p:nvSpPr>
        <p:spPr>
          <a:xfrm>
            <a:off x="8810625" y="2047875"/>
            <a:ext cx="27336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FORCED</a:t>
            </a:r>
          </a:p>
        </p:txBody>
      </p:sp>
      <p:sp>
        <p:nvSpPr>
          <p:cNvPr id="14" name="flow-title-3">
            <a:extLst>
              <a:ext uri="{FF2B5EF4-FFF2-40B4-BE49-F238E27FC236}">
                <a16:creationId xmlns:a16="http://schemas.microsoft.com/office/drawing/2014/main" id="{DD492464-883B-4E50-AB82-134F2B569F2D}"/>
              </a:ext>
            </a:extLst>
          </p:cNvPr>
          <p:cNvSpPr>
            <a:spLocks noGrp="1"/>
          </p:cNvSpPr>
          <p:nvPr/>
        </p:nvSpPr>
        <p:spPr>
          <a:xfrm>
            <a:off x="8810625" y="2381250"/>
            <a:ext cx="273367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Finish(a)</a:t>
            </a:r>
          </a:p>
        </p:txBody>
      </p:sp>
      <p:sp>
        <p:nvSpPr>
          <p:cNvPr id="15" name="start-bullet-1-dot">
            <a:extLst>
              <a:ext uri="{FF2B5EF4-FFF2-40B4-BE49-F238E27FC236}">
                <a16:creationId xmlns:a16="http://schemas.microsoft.com/office/drawing/2014/main" id="{6CE80F53-D28E-428A-A57E-06A064DE980A}"/>
              </a:ext>
            </a:extLst>
          </p:cNvPr>
          <p:cNvSpPr>
            <a:spLocks noGrp="1"/>
          </p:cNvSpPr>
          <p:nvPr/>
        </p:nvSpPr>
        <p:spPr>
          <a:xfrm>
            <a:off x="666750" y="3390900"/>
            <a:ext cx="85725" cy="85725"/>
          </a:xfrm>
          <a:prstGeom prst="ellipse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tart-bullet-1">
            <a:extLst>
              <a:ext uri="{FF2B5EF4-FFF2-40B4-BE49-F238E27FC236}">
                <a16:creationId xmlns:a16="http://schemas.microsoft.com/office/drawing/2014/main" id="{3F3063A4-AB9A-4240-B881-82C5BA1E985E}"/>
              </a:ext>
            </a:extLst>
          </p:cNvPr>
          <p:cNvSpPr>
            <a:spLocks noGrp="1"/>
          </p:cNvSpPr>
          <p:nvPr/>
        </p:nvSpPr>
        <p:spPr>
          <a:xfrm>
            <a:off x="876300" y="3295650"/>
            <a:ext cx="25050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 start conditions</a:t>
            </a:r>
          </a:p>
        </p:txBody>
      </p:sp>
      <p:sp>
        <p:nvSpPr>
          <p:cNvPr id="17" name="start-bullet-2-dot">
            <a:extLst>
              <a:ext uri="{FF2B5EF4-FFF2-40B4-BE49-F238E27FC236}">
                <a16:creationId xmlns:a16="http://schemas.microsoft.com/office/drawing/2014/main" id="{B63E08F7-F066-4469-9797-E2B1DBF4EEE8}"/>
              </a:ext>
            </a:extLst>
          </p:cNvPr>
          <p:cNvSpPr>
            <a:spLocks noGrp="1"/>
          </p:cNvSpPr>
          <p:nvPr/>
        </p:nvSpPr>
        <p:spPr>
          <a:xfrm>
            <a:off x="666750" y="3876675"/>
            <a:ext cx="85725" cy="85725"/>
          </a:xfrm>
          <a:prstGeom prst="ellipse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tart-bullet-2">
            <a:extLst>
              <a:ext uri="{FF2B5EF4-FFF2-40B4-BE49-F238E27FC236}">
                <a16:creationId xmlns:a16="http://schemas.microsoft.com/office/drawing/2014/main" id="{169A23F2-29A0-4E66-99EC-7F659250BDF2}"/>
              </a:ext>
            </a:extLst>
          </p:cNvPr>
          <p:cNvSpPr>
            <a:spLocks noGrp="1"/>
          </p:cNvSpPr>
          <p:nvPr/>
        </p:nvSpPr>
        <p:spPr>
          <a:xfrm>
            <a:off x="876300" y="3781425"/>
            <a:ext cx="25050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start effects now</a:t>
            </a:r>
          </a:p>
        </p:txBody>
      </p:sp>
      <p:sp>
        <p:nvSpPr>
          <p:cNvPr id="19" name="start-bullet-3-dot">
            <a:extLst>
              <a:ext uri="{FF2B5EF4-FFF2-40B4-BE49-F238E27FC236}">
                <a16:creationId xmlns:a16="http://schemas.microsoft.com/office/drawing/2014/main" id="{D50B8DF5-D438-47B4-8265-67502D52F9EE}"/>
              </a:ext>
            </a:extLst>
          </p:cNvPr>
          <p:cNvSpPr>
            <a:spLocks noGrp="1"/>
          </p:cNvSpPr>
          <p:nvPr/>
        </p:nvSpPr>
        <p:spPr>
          <a:xfrm>
            <a:off x="666750" y="4362450"/>
            <a:ext cx="85725" cy="85725"/>
          </a:xfrm>
          <a:prstGeom prst="ellipse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tart-bullet-3">
            <a:extLst>
              <a:ext uri="{FF2B5EF4-FFF2-40B4-BE49-F238E27FC236}">
                <a16:creationId xmlns:a16="http://schemas.microsoft.com/office/drawing/2014/main" id="{11DF6184-5FEE-455B-BBF9-5DEA8DD0AFB8}"/>
              </a:ext>
            </a:extLst>
          </p:cNvPr>
          <p:cNvSpPr>
            <a:spLocks noGrp="1"/>
          </p:cNvSpPr>
          <p:nvPr/>
        </p:nvSpPr>
        <p:spPr>
          <a:xfrm>
            <a:off x="876300" y="4267200"/>
            <a:ext cx="25050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Add (a, d(a)) to p</a:t>
            </a:r>
          </a:p>
        </p:txBody>
      </p:sp>
      <p:sp>
        <p:nvSpPr>
          <p:cNvPr id="21" name="running-bullet-1-dot">
            <a:extLst>
              <a:ext uri="{FF2B5EF4-FFF2-40B4-BE49-F238E27FC236}">
                <a16:creationId xmlns:a16="http://schemas.microsoft.com/office/drawing/2014/main" id="{91C9D4CA-577E-459B-B907-32C842BD13DC}"/>
              </a:ext>
            </a:extLst>
          </p:cNvPr>
          <p:cNvSpPr>
            <a:spLocks noGrp="1"/>
          </p:cNvSpPr>
          <p:nvPr/>
        </p:nvSpPr>
        <p:spPr>
          <a:xfrm>
            <a:off x="4657725" y="3390900"/>
            <a:ext cx="85725" cy="85725"/>
          </a:xfrm>
          <a:prstGeom prst="ellipse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running-bullet-1">
            <a:extLst>
              <a:ext uri="{FF2B5EF4-FFF2-40B4-BE49-F238E27FC236}">
                <a16:creationId xmlns:a16="http://schemas.microsoft.com/office/drawing/2014/main" id="{EAC7691B-0C46-4A9D-AB6D-6BFF78B23EA6}"/>
              </a:ext>
            </a:extLst>
          </p:cNvPr>
          <p:cNvSpPr>
            <a:spLocks noGrp="1"/>
          </p:cNvSpPr>
          <p:nvPr/>
        </p:nvSpPr>
        <p:spPr>
          <a:xfrm>
            <a:off x="4867275" y="32956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λₐ is time to completion</a:t>
            </a:r>
          </a:p>
        </p:txBody>
      </p:sp>
      <p:sp>
        <p:nvSpPr>
          <p:cNvPr id="23" name="running-bullet-2-dot">
            <a:extLst>
              <a:ext uri="{FF2B5EF4-FFF2-40B4-BE49-F238E27FC236}">
                <a16:creationId xmlns:a16="http://schemas.microsoft.com/office/drawing/2014/main" id="{CD1D88C6-6EFD-4EA4-AA99-064F1F54E89F}"/>
              </a:ext>
            </a:extLst>
          </p:cNvPr>
          <p:cNvSpPr>
            <a:spLocks noGrp="1"/>
          </p:cNvSpPr>
          <p:nvPr/>
        </p:nvSpPr>
        <p:spPr>
          <a:xfrm>
            <a:off x="4657725" y="3876675"/>
            <a:ext cx="85725" cy="85725"/>
          </a:xfrm>
          <a:prstGeom prst="ellipse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running-bullet-2">
            <a:extLst>
              <a:ext uri="{FF2B5EF4-FFF2-40B4-BE49-F238E27FC236}">
                <a16:creationId xmlns:a16="http://schemas.microsoft.com/office/drawing/2014/main" id="{F08D8B0C-CBF2-491E-A3D6-F5D1F24A3EFB}"/>
              </a:ext>
            </a:extLst>
          </p:cNvPr>
          <p:cNvSpPr>
            <a:spLocks noGrp="1"/>
          </p:cNvSpPr>
          <p:nvPr/>
        </p:nvSpPr>
        <p:spPr>
          <a:xfrm>
            <a:off x="4867275" y="37814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Decrease λₐ as time advances</a:t>
            </a:r>
          </a:p>
        </p:txBody>
      </p:sp>
      <p:sp>
        <p:nvSpPr>
          <p:cNvPr id="25" name="running-bullet-3-dot">
            <a:extLst>
              <a:ext uri="{FF2B5EF4-FFF2-40B4-BE49-F238E27FC236}">
                <a16:creationId xmlns:a16="http://schemas.microsoft.com/office/drawing/2014/main" id="{BC874DF8-AB77-4C79-91ED-9F6358B702B5}"/>
              </a:ext>
            </a:extLst>
          </p:cNvPr>
          <p:cNvSpPr>
            <a:spLocks noGrp="1"/>
          </p:cNvSpPr>
          <p:nvPr/>
        </p:nvSpPr>
        <p:spPr>
          <a:xfrm>
            <a:off x="4657725" y="4362450"/>
            <a:ext cx="85725" cy="85725"/>
          </a:xfrm>
          <a:prstGeom prst="ellipse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running-bullet-3">
            <a:extLst>
              <a:ext uri="{FF2B5EF4-FFF2-40B4-BE49-F238E27FC236}">
                <a16:creationId xmlns:a16="http://schemas.microsoft.com/office/drawing/2014/main" id="{06AD8091-D96C-450F-90F3-2E1348F75188}"/>
              </a:ext>
            </a:extLst>
          </p:cNvPr>
          <p:cNvSpPr>
            <a:spLocks noGrp="1"/>
          </p:cNvSpPr>
          <p:nvPr/>
        </p:nvSpPr>
        <p:spPr>
          <a:xfrm>
            <a:off x="4867275" y="42672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Protect overall conditions</a:t>
            </a:r>
          </a:p>
        </p:txBody>
      </p:sp>
      <p:sp>
        <p:nvSpPr>
          <p:cNvPr id="27" name="finish-bullet-1-dot">
            <a:extLst>
              <a:ext uri="{FF2B5EF4-FFF2-40B4-BE49-F238E27FC236}">
                <a16:creationId xmlns:a16="http://schemas.microsoft.com/office/drawing/2014/main" id="{395FE99A-1645-4337-9E58-BBF1DB8E0D07}"/>
              </a:ext>
            </a:extLst>
          </p:cNvPr>
          <p:cNvSpPr>
            <a:spLocks noGrp="1"/>
          </p:cNvSpPr>
          <p:nvPr/>
        </p:nvSpPr>
        <p:spPr>
          <a:xfrm>
            <a:off x="8829675" y="3390900"/>
            <a:ext cx="85725" cy="85725"/>
          </a:xfrm>
          <a:prstGeom prst="ellipse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finish-bullet-1">
            <a:extLst>
              <a:ext uri="{FF2B5EF4-FFF2-40B4-BE49-F238E27FC236}">
                <a16:creationId xmlns:a16="http://schemas.microsoft.com/office/drawing/2014/main" id="{4623B7BA-D09B-4127-9A1C-8E1205B53F2C}"/>
              </a:ext>
            </a:extLst>
          </p:cNvPr>
          <p:cNvSpPr>
            <a:spLocks noGrp="1"/>
          </p:cNvSpPr>
          <p:nvPr/>
        </p:nvSpPr>
        <p:spPr>
          <a:xfrm>
            <a:off x="9039225" y="3295650"/>
            <a:ext cx="25050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Trigger when λₐ = 0</a:t>
            </a:r>
          </a:p>
        </p:txBody>
      </p:sp>
      <p:sp>
        <p:nvSpPr>
          <p:cNvPr id="29" name="finish-bullet-2-dot">
            <a:extLst>
              <a:ext uri="{FF2B5EF4-FFF2-40B4-BE49-F238E27FC236}">
                <a16:creationId xmlns:a16="http://schemas.microsoft.com/office/drawing/2014/main" id="{46FBCE9C-D3CE-445B-A003-807B5EDA8A85}"/>
              </a:ext>
            </a:extLst>
          </p:cNvPr>
          <p:cNvSpPr>
            <a:spLocks noGrp="1"/>
          </p:cNvSpPr>
          <p:nvPr/>
        </p:nvSpPr>
        <p:spPr>
          <a:xfrm>
            <a:off x="8829675" y="3876675"/>
            <a:ext cx="85725" cy="85725"/>
          </a:xfrm>
          <a:prstGeom prst="ellipse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finish-bullet-2">
            <a:extLst>
              <a:ext uri="{FF2B5EF4-FFF2-40B4-BE49-F238E27FC236}">
                <a16:creationId xmlns:a16="http://schemas.microsoft.com/office/drawing/2014/main" id="{5B6C9420-8A38-4A7E-AF6E-AD1B1F70F911}"/>
              </a:ext>
            </a:extLst>
          </p:cNvPr>
          <p:cNvSpPr>
            <a:spLocks noGrp="1"/>
          </p:cNvSpPr>
          <p:nvPr/>
        </p:nvSpPr>
        <p:spPr>
          <a:xfrm>
            <a:off x="9039225" y="3781425"/>
            <a:ext cx="25050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 end conditions</a:t>
            </a:r>
          </a:p>
        </p:txBody>
      </p:sp>
      <p:sp>
        <p:nvSpPr>
          <p:cNvPr id="31" name="finish-bullet-3-dot">
            <a:extLst>
              <a:ext uri="{FF2B5EF4-FFF2-40B4-BE49-F238E27FC236}">
                <a16:creationId xmlns:a16="http://schemas.microsoft.com/office/drawing/2014/main" id="{44E00370-F81A-4058-AE87-CAC3C540432F}"/>
              </a:ext>
            </a:extLst>
          </p:cNvPr>
          <p:cNvSpPr>
            <a:spLocks noGrp="1"/>
          </p:cNvSpPr>
          <p:nvPr/>
        </p:nvSpPr>
        <p:spPr>
          <a:xfrm>
            <a:off x="8829675" y="4362450"/>
            <a:ext cx="85725" cy="85725"/>
          </a:xfrm>
          <a:prstGeom prst="ellipse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finish-bullet-3">
            <a:extLst>
              <a:ext uri="{FF2B5EF4-FFF2-40B4-BE49-F238E27FC236}">
                <a16:creationId xmlns:a16="http://schemas.microsoft.com/office/drawing/2014/main" id="{40269C13-C1ED-4D0B-8295-D30864F8622D}"/>
              </a:ext>
            </a:extLst>
          </p:cNvPr>
          <p:cNvSpPr>
            <a:spLocks noGrp="1"/>
          </p:cNvSpPr>
          <p:nvPr/>
        </p:nvSpPr>
        <p:spPr>
          <a:xfrm>
            <a:off x="9039225" y="4267200"/>
            <a:ext cx="25050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6575"/>
          </a:bodyPr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end effects; remove a from p</a:t>
            </a:r>
          </a:p>
        </p:txBody>
      </p:sp>
      <p:sp>
        <p:nvSpPr>
          <p:cNvPr id="33" name="one-record-callout">
            <a:extLst>
              <a:ext uri="{FF2B5EF4-FFF2-40B4-BE49-F238E27FC236}">
                <a16:creationId xmlns:a16="http://schemas.microsoft.com/office/drawing/2014/main" id="{F51048B2-D5DD-44BC-B486-E3857EF671FD}"/>
              </a:ext>
            </a:extLst>
          </p:cNvPr>
          <p:cNvSpPr>
            <a:spLocks noGrp="1"/>
          </p:cNvSpPr>
          <p:nvPr/>
        </p:nvSpPr>
        <p:spPr>
          <a:xfrm>
            <a:off x="1571625" y="5476875"/>
            <a:ext cx="9048750" cy="638175"/>
          </a:xfrm>
          <a:prstGeom prst="rect">
            <a:avLst/>
          </a:prstGeom>
          <a:solidFill>
            <a:srgbClr val="6DCBF4"/>
          </a:solidFill>
          <a:ln w="9525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one-record-text">
            <a:extLst>
              <a:ext uri="{FF2B5EF4-FFF2-40B4-BE49-F238E27FC236}">
                <a16:creationId xmlns:a16="http://schemas.microsoft.com/office/drawing/2014/main" id="{BEEA9632-97F7-435B-A073-E946EA54D776}"/>
              </a:ext>
            </a:extLst>
          </p:cNvPr>
          <p:cNvSpPr>
            <a:spLocks noGrp="1"/>
          </p:cNvSpPr>
          <p:nvPr/>
        </p:nvSpPr>
        <p:spPr>
          <a:xfrm>
            <a:off x="1857375" y="5610225"/>
            <a:ext cx="8477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durative action = one running record in p — not two running actions</a:t>
            </a:r>
          </a:p>
        </p:txBody>
      </p:sp>
    </p:spTree>
    <p:extLst>
      <p:ext uri="{BB962C8B-B14F-4D97-AF65-F5344CB8AC3E}">
        <p14:creationId xmlns:p14="http://schemas.microsoft.com/office/powerpoint/2010/main" val="724474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2-title">
            <a:extLst>
              <a:ext uri="{FF2B5EF4-FFF2-40B4-BE49-F238E27FC236}">
                <a16:creationId xmlns:a16="http://schemas.microsoft.com/office/drawing/2014/main" id="{C137B4A8-58C5-4C82-B98F-CDC070F16C5F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compiled model uses only event-start conditions</a:t>
            </a:r>
          </a:p>
        </p:txBody>
      </p:sp>
      <p:sp>
        <p:nvSpPr>
          <p:cNvPr id="2" name="slide-2-rule">
            <a:extLst>
              <a:ext uri="{FF2B5EF4-FFF2-40B4-BE49-F238E27FC236}">
                <a16:creationId xmlns:a16="http://schemas.microsoft.com/office/drawing/2014/main" id="{DBB8CE76-A9E2-459F-8498-BB273923CCF9}"/>
              </a:ext>
            </a:extLst>
          </p:cNvPr>
          <p:cNvSpPr>
            <a:spLocks noGrp="1"/>
          </p:cNvSpPr>
          <p:nvPr/>
        </p:nvSpPr>
        <p:spPr>
          <a:xfrm>
            <a:off x="400050" y="1171575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lide-2-number">
            <a:extLst>
              <a:ext uri="{FF2B5EF4-FFF2-40B4-BE49-F238E27FC236}">
                <a16:creationId xmlns:a16="http://schemas.microsoft.com/office/drawing/2014/main" id="{926EB653-DCEE-4060-A2E4-61D1A6BB9C0E}"/>
              </a:ext>
            </a:extLst>
          </p:cNvPr>
          <p:cNvSpPr>
            <a:spLocks noGrp="1"/>
          </p:cNvSpPr>
          <p:nvPr/>
        </p:nvSpPr>
        <p:spPr>
          <a:xfrm>
            <a:off x="11287125" y="6362700"/>
            <a:ext cx="504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start-definition-panel">
            <a:extLst>
              <a:ext uri="{FF2B5EF4-FFF2-40B4-BE49-F238E27FC236}">
                <a16:creationId xmlns:a16="http://schemas.microsoft.com/office/drawing/2014/main" id="{987866F2-DCF6-4A1C-9629-2CE5CACC51C3}"/>
              </a:ext>
            </a:extLst>
          </p:cNvPr>
          <p:cNvSpPr>
            <a:spLocks noGrp="1"/>
          </p:cNvSpPr>
          <p:nvPr/>
        </p:nvSpPr>
        <p:spPr>
          <a:xfrm>
            <a:off x="400050" y="1552575"/>
            <a:ext cx="5391150" cy="2952750"/>
          </a:xfrm>
          <a:prstGeom prst="rect">
            <a:avLst/>
          </a:prstGeom>
          <a:solidFill>
            <a:srgbClr val="F0F1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tart-definition-title">
            <a:extLst>
              <a:ext uri="{FF2B5EF4-FFF2-40B4-BE49-F238E27FC236}">
                <a16:creationId xmlns:a16="http://schemas.microsoft.com/office/drawing/2014/main" id="{944FA7A8-0ABE-4924-AB68-5ED83F6E1D86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48577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Start(a) — selected in U</a:t>
            </a:r>
          </a:p>
        </p:txBody>
      </p:sp>
      <p:sp>
        <p:nvSpPr>
          <p:cNvPr id="6" name="start-pre">
            <a:extLst>
              <a:ext uri="{FF2B5EF4-FFF2-40B4-BE49-F238E27FC236}">
                <a16:creationId xmlns:a16="http://schemas.microsoft.com/office/drawing/2014/main" id="{F3410EC5-BAD1-4C0C-8C2D-794CF53E5CE3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4552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   = startCond(a)</a:t>
            </a:r>
          </a:p>
        </p:txBody>
      </p:sp>
      <p:sp>
        <p:nvSpPr>
          <p:cNvPr id="7" name="start-eff">
            <a:extLst>
              <a:ext uri="{FF2B5EF4-FFF2-40B4-BE49-F238E27FC236}">
                <a16:creationId xmlns:a16="http://schemas.microsoft.com/office/drawing/2014/main" id="{150374C5-B397-4C91-9245-6816375BE74E}"/>
              </a:ext>
            </a:extLst>
          </p:cNvPr>
          <p:cNvSpPr>
            <a:spLocks noGrp="1"/>
          </p:cNvSpPr>
          <p:nvPr/>
        </p:nvSpPr>
        <p:spPr>
          <a:xfrm>
            <a:off x="800100" y="2828925"/>
            <a:ext cx="4552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eff    = startEff(a) ∪ {Running(a)}</a:t>
            </a:r>
          </a:p>
        </p:txBody>
      </p:sp>
      <p:sp>
        <p:nvSpPr>
          <p:cNvPr id="8" name="start-p">
            <a:extLst>
              <a:ext uri="{FF2B5EF4-FFF2-40B4-BE49-F238E27FC236}">
                <a16:creationId xmlns:a16="http://schemas.microsoft.com/office/drawing/2014/main" id="{B8A453BB-7D22-442A-B661-32015A6F2B98}"/>
              </a:ext>
            </a:extLst>
          </p:cNvPr>
          <p:cNvSpPr>
            <a:spLocks noGrp="1"/>
          </p:cNvSpPr>
          <p:nvPr/>
        </p:nvSpPr>
        <p:spPr>
          <a:xfrm>
            <a:off x="800100" y="3314700"/>
            <a:ext cx="4552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  ←  p ∪ {(a, d(a))}</a:t>
            </a:r>
          </a:p>
        </p:txBody>
      </p:sp>
      <p:sp>
        <p:nvSpPr>
          <p:cNvPr id="9" name="start-time">
            <a:extLst>
              <a:ext uri="{FF2B5EF4-FFF2-40B4-BE49-F238E27FC236}">
                <a16:creationId xmlns:a16="http://schemas.microsoft.com/office/drawing/2014/main" id="{C833628F-2A5F-4CFD-8E7B-75E39BBF3F77}"/>
              </a:ext>
            </a:extLst>
          </p:cNvPr>
          <p:cNvSpPr>
            <a:spLocks noGrp="1"/>
          </p:cNvSpPr>
          <p:nvPr/>
        </p:nvSpPr>
        <p:spPr>
          <a:xfrm>
            <a:off x="800100" y="3876675"/>
            <a:ext cx="455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Start effects occur at remaining time r</a:t>
            </a:r>
          </a:p>
        </p:txBody>
      </p:sp>
      <p:sp>
        <p:nvSpPr>
          <p:cNvPr id="10" name="finish-definition-panel">
            <a:extLst>
              <a:ext uri="{FF2B5EF4-FFF2-40B4-BE49-F238E27FC236}">
                <a16:creationId xmlns:a16="http://schemas.microsoft.com/office/drawing/2014/main" id="{E217BEF0-27A1-4EE5-AFBD-22EB6EC169B1}"/>
              </a:ext>
            </a:extLst>
          </p:cNvPr>
          <p:cNvSpPr>
            <a:spLocks noGrp="1"/>
          </p:cNvSpPr>
          <p:nvPr/>
        </p:nvSpPr>
        <p:spPr>
          <a:xfrm>
            <a:off x="6000750" y="1552575"/>
            <a:ext cx="5791200" cy="2952750"/>
          </a:xfrm>
          <a:prstGeom prst="rect">
            <a:avLst/>
          </a:prstGeom>
          <a:solidFill>
            <a:srgbClr val="D8F1FC"/>
          </a:solidFill>
          <a:ln w="1905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finish-definition-title">
            <a:extLst>
              <a:ext uri="{FF2B5EF4-FFF2-40B4-BE49-F238E27FC236}">
                <a16:creationId xmlns:a16="http://schemas.microsoft.com/office/drawing/2014/main" id="{008BE2AF-215F-41AF-8F68-820B4B507B97}"/>
              </a:ext>
            </a:extLst>
          </p:cNvPr>
          <p:cNvSpPr>
            <a:spLocks noGrp="1"/>
          </p:cNvSpPr>
          <p:nvPr/>
        </p:nvSpPr>
        <p:spPr>
          <a:xfrm>
            <a:off x="6267450" y="1743075"/>
            <a:ext cx="52578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Finish(a) — forced when λₐ = 0</a:t>
            </a:r>
          </a:p>
        </p:txBody>
      </p:sp>
      <p:sp>
        <p:nvSpPr>
          <p:cNvPr id="12" name="finish-pre">
            <a:extLst>
              <a:ext uri="{FF2B5EF4-FFF2-40B4-BE49-F238E27FC236}">
                <a16:creationId xmlns:a16="http://schemas.microsoft.com/office/drawing/2014/main" id="{3C54EA43-362E-4941-9F05-F420C2CC6CE1}"/>
              </a:ext>
            </a:extLst>
          </p:cNvPr>
          <p:cNvSpPr>
            <a:spLocks noGrp="1"/>
          </p:cNvSpPr>
          <p:nvPr/>
        </p:nvSpPr>
        <p:spPr>
          <a:xfrm>
            <a:off x="6400800" y="2343150"/>
            <a:ext cx="4991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   = Running(a) ∧ endCond(a)</a:t>
            </a:r>
          </a:p>
        </p:txBody>
      </p:sp>
      <p:sp>
        <p:nvSpPr>
          <p:cNvPr id="13" name="finish-eff">
            <a:extLst>
              <a:ext uri="{FF2B5EF4-FFF2-40B4-BE49-F238E27FC236}">
                <a16:creationId xmlns:a16="http://schemas.microsoft.com/office/drawing/2014/main" id="{0CF86A37-D577-48E7-B933-1E0452EA112C}"/>
              </a:ext>
            </a:extLst>
          </p:cNvPr>
          <p:cNvSpPr>
            <a:spLocks noGrp="1"/>
          </p:cNvSpPr>
          <p:nvPr/>
        </p:nvSpPr>
        <p:spPr>
          <a:xfrm>
            <a:off x="6400800" y="2828925"/>
            <a:ext cx="4991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eff    = endEff(a) ∪ {¬Running(a)}</a:t>
            </a:r>
          </a:p>
        </p:txBody>
      </p:sp>
      <p:sp>
        <p:nvSpPr>
          <p:cNvPr id="14" name="finish-p">
            <a:extLst>
              <a:ext uri="{FF2B5EF4-FFF2-40B4-BE49-F238E27FC236}">
                <a16:creationId xmlns:a16="http://schemas.microsoft.com/office/drawing/2014/main" id="{85F2CF79-834A-44DB-A894-6458911B872E}"/>
              </a:ext>
            </a:extLst>
          </p:cNvPr>
          <p:cNvSpPr>
            <a:spLocks noGrp="1"/>
          </p:cNvSpPr>
          <p:nvPr/>
        </p:nvSpPr>
        <p:spPr>
          <a:xfrm>
            <a:off x="6400800" y="3314700"/>
            <a:ext cx="4991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  ←  p \ {(a, 0)}</a:t>
            </a:r>
          </a:p>
        </p:txBody>
      </p:sp>
      <p:sp>
        <p:nvSpPr>
          <p:cNvPr id="15" name="finish-time">
            <a:extLst>
              <a:ext uri="{FF2B5EF4-FFF2-40B4-BE49-F238E27FC236}">
                <a16:creationId xmlns:a16="http://schemas.microsoft.com/office/drawing/2014/main" id="{16F697C7-93AB-477B-BAF3-E0A4294E1CE8}"/>
              </a:ext>
            </a:extLst>
          </p:cNvPr>
          <p:cNvSpPr>
            <a:spLocks noGrp="1"/>
          </p:cNvSpPr>
          <p:nvPr/>
        </p:nvSpPr>
        <p:spPr>
          <a:xfrm>
            <a:off x="6400800" y="3876675"/>
            <a:ext cx="499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The original end outcome is sampled here</a:t>
            </a:r>
          </a:p>
        </p:txBody>
      </p:sp>
      <p:sp>
        <p:nvSpPr>
          <p:cNvPr id="16" name="remaining-time-line">
            <a:extLst>
              <a:ext uri="{FF2B5EF4-FFF2-40B4-BE49-F238E27FC236}">
                <a16:creationId xmlns:a16="http://schemas.microsoft.com/office/drawing/2014/main" id="{E925ABB3-F3B6-4A92-A0C0-6BD394AFFD16}"/>
              </a:ext>
            </a:extLst>
          </p:cNvPr>
          <p:cNvSpPr>
            <a:spLocks noGrp="1"/>
          </p:cNvSpPr>
          <p:nvPr/>
        </p:nvSpPr>
        <p:spPr>
          <a:xfrm>
            <a:off x="1504950" y="5105400"/>
            <a:ext cx="9172575" cy="171450"/>
          </a:xfrm>
          <a:prstGeom prst="rightArrow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ick-r">
            <a:extLst>
              <a:ext uri="{FF2B5EF4-FFF2-40B4-BE49-F238E27FC236}">
                <a16:creationId xmlns:a16="http://schemas.microsoft.com/office/drawing/2014/main" id="{29D63592-FE1B-4EE5-AC02-6E7041F32F71}"/>
              </a:ext>
            </a:extLst>
          </p:cNvPr>
          <p:cNvSpPr>
            <a:spLocks noGrp="1"/>
          </p:cNvSpPr>
          <p:nvPr/>
        </p:nvSpPr>
        <p:spPr>
          <a:xfrm>
            <a:off x="1800225" y="4933950"/>
            <a:ext cx="0" cy="49530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ick-event">
            <a:extLst>
              <a:ext uri="{FF2B5EF4-FFF2-40B4-BE49-F238E27FC236}">
                <a16:creationId xmlns:a16="http://schemas.microsoft.com/office/drawing/2014/main" id="{9840E642-74B2-4ECF-87BD-F2850AF1BF91}"/>
              </a:ext>
            </a:extLst>
          </p:cNvPr>
          <p:cNvSpPr>
            <a:spLocks noGrp="1"/>
          </p:cNvSpPr>
          <p:nvPr/>
        </p:nvSpPr>
        <p:spPr>
          <a:xfrm>
            <a:off x="5934075" y="4933950"/>
            <a:ext cx="0" cy="49530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ick-finish">
            <a:extLst>
              <a:ext uri="{FF2B5EF4-FFF2-40B4-BE49-F238E27FC236}">
                <a16:creationId xmlns:a16="http://schemas.microsoft.com/office/drawing/2014/main" id="{8C0E790F-4A98-4FA5-A594-5797F2C037B4}"/>
              </a:ext>
            </a:extLst>
          </p:cNvPr>
          <p:cNvSpPr>
            <a:spLocks noGrp="1"/>
          </p:cNvSpPr>
          <p:nvPr/>
        </p:nvSpPr>
        <p:spPr>
          <a:xfrm>
            <a:off x="10172700" y="4933950"/>
            <a:ext cx="0" cy="49530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ime-r">
            <a:extLst>
              <a:ext uri="{FF2B5EF4-FFF2-40B4-BE49-F238E27FC236}">
                <a16:creationId xmlns:a16="http://schemas.microsoft.com/office/drawing/2014/main" id="{2CB83A10-1566-4CAE-B5F3-CBB7548CB6E5}"/>
              </a:ext>
            </a:extLst>
          </p:cNvPr>
          <p:cNvSpPr>
            <a:spLocks noGrp="1"/>
          </p:cNvSpPr>
          <p:nvPr/>
        </p:nvSpPr>
        <p:spPr>
          <a:xfrm>
            <a:off x="1200150" y="5467350"/>
            <a:ext cx="1200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</a:t>
            </a:r>
          </a:p>
          <a:p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Start(a)</a:t>
            </a:r>
          </a:p>
        </p:txBody>
      </p:sp>
      <p:sp>
        <p:nvSpPr>
          <p:cNvPr id="21" name="time-event">
            <a:extLst>
              <a:ext uri="{FF2B5EF4-FFF2-40B4-BE49-F238E27FC236}">
                <a16:creationId xmlns:a16="http://schemas.microsoft.com/office/drawing/2014/main" id="{5D968BE7-5EB3-4C33-A0DB-D1DE2CB1F45E}"/>
              </a:ext>
            </a:extLst>
          </p:cNvPr>
          <p:cNvSpPr>
            <a:spLocks noGrp="1"/>
          </p:cNvSpPr>
          <p:nvPr/>
        </p:nvSpPr>
        <p:spPr>
          <a:xfrm>
            <a:off x="5257800" y="5467350"/>
            <a:ext cx="1371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 − Δ</a:t>
            </a:r>
          </a:p>
          <a:p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next event</a:t>
            </a:r>
          </a:p>
        </p:txBody>
      </p:sp>
      <p:sp>
        <p:nvSpPr>
          <p:cNvPr id="22" name="time-finish">
            <a:extLst>
              <a:ext uri="{FF2B5EF4-FFF2-40B4-BE49-F238E27FC236}">
                <a16:creationId xmlns:a16="http://schemas.microsoft.com/office/drawing/2014/main" id="{9A90F1CC-7C92-4B71-A42E-E4D114EAB8F4}"/>
              </a:ext>
            </a:extLst>
          </p:cNvPr>
          <p:cNvSpPr>
            <a:spLocks noGrp="1"/>
          </p:cNvSpPr>
          <p:nvPr/>
        </p:nvSpPr>
        <p:spPr>
          <a:xfrm>
            <a:off x="9496425" y="5467350"/>
            <a:ext cx="1371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 − d(a)</a:t>
            </a:r>
          </a:p>
          <a:p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Finish(a)</a:t>
            </a:r>
          </a:p>
        </p:txBody>
      </p:sp>
      <p:sp>
        <p:nvSpPr>
          <p:cNvPr id="23" name="time-caption">
            <a:extLst>
              <a:ext uri="{FF2B5EF4-FFF2-40B4-BE49-F238E27FC236}">
                <a16:creationId xmlns:a16="http://schemas.microsoft.com/office/drawing/2014/main" id="{2945BE6D-F284-42B6-BB64-F75883A670D4}"/>
              </a:ext>
            </a:extLst>
          </p:cNvPr>
          <p:cNvSpPr>
            <a:spLocks noGrp="1"/>
          </p:cNvSpPr>
          <p:nvPr/>
        </p:nvSpPr>
        <p:spPr>
          <a:xfrm>
            <a:off x="4781550" y="47625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1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remaining time decreases</a:t>
            </a:r>
          </a:p>
        </p:txBody>
      </p:sp>
      <p:sp>
        <p:nvSpPr>
          <p:cNvPr id="24" name="overall-note">
            <a:extLst>
              <a:ext uri="{FF2B5EF4-FFF2-40B4-BE49-F238E27FC236}">
                <a16:creationId xmlns:a16="http://schemas.microsoft.com/office/drawing/2014/main" id="{9A5E3C92-EBB1-46B1-B9A3-CD6E18596489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7410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While Running(a): every dispatch must preserve overallCond(a)</a:t>
            </a:r>
          </a:p>
        </p:txBody>
      </p:sp>
      <p:sp>
        <p:nvSpPr>
          <p:cNvPr id="25" name="deadline-note">
            <a:extLst>
              <a:ext uri="{FF2B5EF4-FFF2-40B4-BE49-F238E27FC236}">
                <a16:creationId xmlns:a16="http://schemas.microsoft.com/office/drawing/2014/main" id="{86EF07A5-1762-4EA2-ACAB-0E23F4A62AD7}"/>
              </a:ext>
            </a:extLst>
          </p:cNvPr>
          <p:cNvSpPr>
            <a:spLocks noGrp="1"/>
          </p:cNvSpPr>
          <p:nvPr/>
        </p:nvSpPr>
        <p:spPr>
          <a:xfrm>
            <a:off x="8020050" y="6153150"/>
            <a:ext cx="37719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Completion deadline: d(a) ≤ r</a:t>
            </a:r>
          </a:p>
        </p:txBody>
      </p:sp>
    </p:spTree>
    <p:extLst>
      <p:ext uri="{BB962C8B-B14F-4D97-AF65-F5344CB8AC3E}">
        <p14:creationId xmlns:p14="http://schemas.microsoft.com/office/powerpoint/2010/main" val="1617403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1-title">
            <a:extLst>
              <a:ext uri="{FF2B5EF4-FFF2-40B4-BE49-F238E27FC236}">
                <a16:creationId xmlns:a16="http://schemas.microsoft.com/office/drawing/2014/main" id="{F099AD76-4004-476C-A667-C0BA234E1AE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11049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pattern starts with the selected goal</a:t>
            </a:r>
          </a:p>
        </p:txBody>
      </p:sp>
      <p:sp>
        <p:nvSpPr>
          <p:cNvPr id="2" name="slide-1-title-rule">
            <a:extLst>
              <a:ext uri="{FF2B5EF4-FFF2-40B4-BE49-F238E27FC236}">
                <a16:creationId xmlns:a16="http://schemas.microsoft.com/office/drawing/2014/main" id="{86491D9B-E3A6-4961-9367-A8478016A015}"/>
              </a:ext>
            </a:extLst>
          </p:cNvPr>
          <p:cNvSpPr>
            <a:spLocks noGrp="1"/>
          </p:cNvSpPr>
          <p:nvPr/>
        </p:nvSpPr>
        <p:spPr>
          <a:xfrm>
            <a:off x="400050" y="1171575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lide-1-number">
            <a:extLst>
              <a:ext uri="{FF2B5EF4-FFF2-40B4-BE49-F238E27FC236}">
                <a16:creationId xmlns:a16="http://schemas.microsoft.com/office/drawing/2014/main" id="{958E9969-2CEC-4B49-8D26-5736D4D0859C}"/>
              </a:ext>
            </a:extLst>
          </p:cNvPr>
          <p:cNvSpPr>
            <a:spLocks noGrp="1"/>
          </p:cNvSpPr>
          <p:nvPr/>
        </p:nvSpPr>
        <p:spPr>
          <a:xfrm>
            <a:off x="11277600" y="63627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initialize-to-project-arrow">
            <a:extLst>
              <a:ext uri="{FF2B5EF4-FFF2-40B4-BE49-F238E27FC236}">
                <a16:creationId xmlns:a16="http://schemas.microsoft.com/office/drawing/2014/main" id="{BECF99A0-B09F-43FD-98AD-DD7C384C3238}"/>
              </a:ext>
            </a:extLst>
          </p:cNvPr>
          <p:cNvSpPr>
            <a:spLocks noGrp="1"/>
          </p:cNvSpPr>
          <p:nvPr/>
        </p:nvSpPr>
        <p:spPr>
          <a:xfrm>
            <a:off x="3933825" y="3114675"/>
            <a:ext cx="876300" cy="419100"/>
          </a:xfrm>
          <a:prstGeom prst="rightArrow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goal-initialization">
            <a:extLst>
              <a:ext uri="{FF2B5EF4-FFF2-40B4-BE49-F238E27FC236}">
                <a16:creationId xmlns:a16="http://schemas.microsoft.com/office/drawing/2014/main" id="{CF2A0000-E4F5-4ABC-B984-F002873F1DD8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3543300" cy="3581400"/>
          </a:xfrm>
          <a:prstGeom prst="rect">
            <a:avLst/>
          </a:prstGeom>
          <a:solidFill>
            <a:srgbClr val="D8F1FC"/>
          </a:solidFill>
          <a:ln w="1905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goal-step">
            <a:extLst>
              <a:ext uri="{FF2B5EF4-FFF2-40B4-BE49-F238E27FC236}">
                <a16:creationId xmlns:a16="http://schemas.microsoft.com/office/drawing/2014/main" id="{15347135-9E2B-4DAC-A4A8-5364B72886F9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2971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1  Choose a goal</a:t>
            </a:r>
          </a:p>
        </p:txBody>
      </p:sp>
      <p:sp>
        <p:nvSpPr>
          <p:cNvPr id="7" name="goal-symbol">
            <a:extLst>
              <a:ext uri="{FF2B5EF4-FFF2-40B4-BE49-F238E27FC236}">
                <a16:creationId xmlns:a16="http://schemas.microsoft.com/office/drawing/2014/main" id="{AFC8F42D-662B-4D88-A156-7438646470E0}"/>
              </a:ext>
            </a:extLst>
          </p:cNvPr>
          <p:cNvSpPr>
            <a:spLocks noGrp="1"/>
          </p:cNvSpPr>
          <p:nvPr/>
        </p:nvSpPr>
        <p:spPr>
          <a:xfrm>
            <a:off x="1066800" y="2647950"/>
            <a:ext cx="22098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G′</a:t>
            </a:r>
          </a:p>
        </p:txBody>
      </p:sp>
      <p:sp>
        <p:nvSpPr>
          <p:cNvPr id="8" name="pattern-initialization">
            <a:extLst>
              <a:ext uri="{FF2B5EF4-FFF2-40B4-BE49-F238E27FC236}">
                <a16:creationId xmlns:a16="http://schemas.microsoft.com/office/drawing/2014/main" id="{443BF815-4FF5-463A-B457-58A72701F4DE}"/>
              </a:ext>
            </a:extLst>
          </p:cNvPr>
          <p:cNvSpPr>
            <a:spLocks noGrp="1"/>
          </p:cNvSpPr>
          <p:nvPr/>
        </p:nvSpPr>
        <p:spPr>
          <a:xfrm>
            <a:off x="781050" y="3676650"/>
            <a:ext cx="2781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Φ₀ = G′</a:t>
            </a:r>
          </a:p>
        </p:txBody>
      </p:sp>
      <p:sp>
        <p:nvSpPr>
          <p:cNvPr id="9" name="pattern-symbol-key">
            <a:extLst>
              <a:ext uri="{FF2B5EF4-FFF2-40B4-BE49-F238E27FC236}">
                <a16:creationId xmlns:a16="http://schemas.microsoft.com/office/drawing/2014/main" id="{C01A2EEF-4A8F-4DC0-9906-5532527A772B}"/>
              </a:ext>
            </a:extLst>
          </p:cNvPr>
          <p:cNvSpPr>
            <a:spLocks noGrp="1"/>
          </p:cNvSpPr>
          <p:nvPr/>
        </p:nvSpPr>
        <p:spPr>
          <a:xfrm>
            <a:off x="990600" y="4457700"/>
            <a:ext cx="2362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58" lnSpcReduction="10000"/>
          </a:bodyPr>
          <a:lstStyle/>
          <a:p>
            <a:pPr algn="l">
              <a:defRPr sz="120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Φ — selected facts</a:t>
            </a:r>
          </a:p>
          <a:p>
            <a:pPr algn="l">
              <a:defRPr sz="120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αΦ — state projection</a:t>
            </a:r>
          </a:p>
          <a:p>
            <a:pPr algn="l">
              <a:defRPr sz="120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MΦ — abstract MDP</a:t>
            </a:r>
          </a:p>
          <a:p>
            <a:pPr algn="l">
              <a:defRPr sz="120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o — action outcome</a:t>
            </a:r>
          </a:p>
        </p:txBody>
      </p:sp>
      <p:sp>
        <p:nvSpPr>
          <p:cNvPr id="10" name="compile-label">
            <a:extLst>
              <a:ext uri="{FF2B5EF4-FFF2-40B4-BE49-F238E27FC236}">
                <a16:creationId xmlns:a16="http://schemas.microsoft.com/office/drawing/2014/main" id="{626750D4-30BF-4FE7-B5F3-A2103722F240}"/>
              </a:ext>
            </a:extLst>
          </p:cNvPr>
          <p:cNvSpPr>
            <a:spLocks noGrp="1"/>
          </p:cNvSpPr>
          <p:nvPr/>
        </p:nvSpPr>
        <p:spPr>
          <a:xfrm>
            <a:off x="5010150" y="1619250"/>
            <a:ext cx="67818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 Compile CoMDP+ once, then project it onto Φ</a:t>
            </a:r>
          </a:p>
        </p:txBody>
      </p:sp>
      <p:sp>
        <p:nvSpPr>
          <p:cNvPr id="11" name="projection-area">
            <a:extLst>
              <a:ext uri="{FF2B5EF4-FFF2-40B4-BE49-F238E27FC236}">
                <a16:creationId xmlns:a16="http://schemas.microsoft.com/office/drawing/2014/main" id="{75ED563C-A81D-4290-8F4D-C11F49B9A6C2}"/>
              </a:ext>
            </a:extLst>
          </p:cNvPr>
          <p:cNvSpPr>
            <a:spLocks noGrp="1"/>
          </p:cNvSpPr>
          <p:nvPr/>
        </p:nvSpPr>
        <p:spPr>
          <a:xfrm>
            <a:off x="5010150" y="2276475"/>
            <a:ext cx="6781800" cy="2981325"/>
          </a:xfrm>
          <a:prstGeom prst="rect">
            <a:avLst/>
          </a:prstGeom>
          <a:solidFill>
            <a:srgbClr val="F0F1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tate-projection">
            <a:extLst>
              <a:ext uri="{FF2B5EF4-FFF2-40B4-BE49-F238E27FC236}">
                <a16:creationId xmlns:a16="http://schemas.microsoft.com/office/drawing/2014/main" id="{84DDEABB-FBCE-4493-A0D9-0D06A51E8F11}"/>
              </a:ext>
            </a:extLst>
          </p:cNvPr>
          <p:cNvSpPr>
            <a:spLocks noGrp="1"/>
          </p:cNvSpPr>
          <p:nvPr/>
        </p:nvSpPr>
        <p:spPr>
          <a:xfrm>
            <a:off x="5429250" y="2571750"/>
            <a:ext cx="5943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αΦ(x, r, p) = (x ∩ Φ, r, p)</a:t>
            </a:r>
          </a:p>
        </p:txBody>
      </p:sp>
      <p:sp>
        <p:nvSpPr>
          <p:cNvPr id="13" name="projection-divider">
            <a:extLst>
              <a:ext uri="{FF2B5EF4-FFF2-40B4-BE49-F238E27FC236}">
                <a16:creationId xmlns:a16="http://schemas.microsoft.com/office/drawing/2014/main" id="{A3BF4632-1B95-4631-A5F2-ECB631006E28}"/>
              </a:ext>
            </a:extLst>
          </p:cNvPr>
          <p:cNvSpPr>
            <a:spLocks noGrp="1"/>
          </p:cNvSpPr>
          <p:nvPr/>
        </p:nvSpPr>
        <p:spPr>
          <a:xfrm>
            <a:off x="5429250" y="3305175"/>
            <a:ext cx="5943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pre-projection">
            <a:extLst>
              <a:ext uri="{FF2B5EF4-FFF2-40B4-BE49-F238E27FC236}">
                <a16:creationId xmlns:a16="http://schemas.microsoft.com/office/drawing/2014/main" id="{33AB019F-DA9E-41AB-8F06-724C636A0566}"/>
              </a:ext>
            </a:extLst>
          </p:cNvPr>
          <p:cNvSpPr>
            <a:spLocks noGrp="1"/>
          </p:cNvSpPr>
          <p:nvPr/>
        </p:nvSpPr>
        <p:spPr>
          <a:xfrm>
            <a:off x="5505450" y="3533775"/>
            <a:ext cx="579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preΦ(a) = pre(a) ∩ Φ</a:t>
            </a:r>
          </a:p>
        </p:txBody>
      </p:sp>
      <p:sp>
        <p:nvSpPr>
          <p:cNvPr id="15" name="effect-projection">
            <a:extLst>
              <a:ext uri="{FF2B5EF4-FFF2-40B4-BE49-F238E27FC236}">
                <a16:creationId xmlns:a16="http://schemas.microsoft.com/office/drawing/2014/main" id="{BD1C3A7A-9672-4DB8-8B0A-938FB8D40E16}"/>
              </a:ext>
            </a:extLst>
          </p:cNvPr>
          <p:cNvSpPr>
            <a:spLocks noGrp="1"/>
          </p:cNvSpPr>
          <p:nvPr/>
        </p:nvSpPr>
        <p:spPr>
          <a:xfrm>
            <a:off x="5505450" y="4076700"/>
            <a:ext cx="579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effΦ(a,o) = eff(a,o) ∩ Φ</a:t>
            </a:r>
          </a:p>
        </p:txBody>
      </p:sp>
      <p:sp>
        <p:nvSpPr>
          <p:cNvPr id="16" name="keep-semantics">
            <a:extLst>
              <a:ext uri="{FF2B5EF4-FFF2-40B4-BE49-F238E27FC236}">
                <a16:creationId xmlns:a16="http://schemas.microsoft.com/office/drawing/2014/main" id="{646EE766-830F-4339-AF6E-A0A354F1C76D}"/>
              </a:ext>
            </a:extLst>
          </p:cNvPr>
          <p:cNvSpPr>
            <a:spLocks noGrp="1"/>
          </p:cNvSpPr>
          <p:nvPr/>
        </p:nvSpPr>
        <p:spPr>
          <a:xfrm>
            <a:off x="5505450" y="4705350"/>
            <a:ext cx="5791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Keep durations, probabilities, r, and p unchanged</a:t>
            </a:r>
          </a:p>
        </p:txBody>
      </p:sp>
      <p:sp>
        <p:nvSpPr>
          <p:cNvPr id="17" name="terminal-value-band">
            <a:extLst>
              <a:ext uri="{FF2B5EF4-FFF2-40B4-BE49-F238E27FC236}">
                <a16:creationId xmlns:a16="http://schemas.microsoft.com/office/drawing/2014/main" id="{D900CA45-52C0-4F16-B2C5-D5AB09162DFC}"/>
              </a:ext>
            </a:extLst>
          </p:cNvPr>
          <p:cNvSpPr>
            <a:spLocks noGrp="1"/>
          </p:cNvSpPr>
          <p:nvPr/>
        </p:nvSpPr>
        <p:spPr>
          <a:xfrm>
            <a:off x="1514475" y="5629275"/>
            <a:ext cx="9163050" cy="581025"/>
          </a:xfrm>
          <a:prstGeom prst="rect">
            <a:avLst/>
          </a:prstGeom>
          <a:solidFill>
            <a:srgbClr val="6DCBF4"/>
          </a:solidFill>
          <a:ln w="9525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rminal-value">
            <a:extLst>
              <a:ext uri="{FF2B5EF4-FFF2-40B4-BE49-F238E27FC236}">
                <a16:creationId xmlns:a16="http://schemas.microsoft.com/office/drawing/2014/main" id="{EBF86892-1E12-4290-934D-EC3810B17B81}"/>
              </a:ext>
            </a:extLst>
          </p:cNvPr>
          <p:cNvSpPr>
            <a:spLocks noGrp="1"/>
          </p:cNvSpPr>
          <p:nvPr/>
        </p:nvSpPr>
        <p:spPr>
          <a:xfrm>
            <a:off x="1800225" y="5753100"/>
            <a:ext cx="8591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Terminal value: 1 if G′ is reached before the deadline; otherwise 0</a:t>
            </a:r>
          </a:p>
        </p:txBody>
      </p:sp>
    </p:spTree>
    <p:extLst>
      <p:ext uri="{BB962C8B-B14F-4D97-AF65-F5344CB8AC3E}">
        <p14:creationId xmlns:p14="http://schemas.microsoft.com/office/powerpoint/2010/main" val="1874009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-2-title">
            <a:extLst>
              <a:ext uri="{FF2B5EF4-FFF2-40B4-BE49-F238E27FC236}">
                <a16:creationId xmlns:a16="http://schemas.microsoft.com/office/drawing/2014/main" id="{A3425864-FD97-4F32-97D8-756280ABD814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11049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Solve the abstraction, test it, and add one missing fact</a:t>
            </a:r>
          </a:p>
        </p:txBody>
      </p:sp>
      <p:sp>
        <p:nvSpPr>
          <p:cNvPr id="2" name="slide-2-title-rule">
            <a:extLst>
              <a:ext uri="{FF2B5EF4-FFF2-40B4-BE49-F238E27FC236}">
                <a16:creationId xmlns:a16="http://schemas.microsoft.com/office/drawing/2014/main" id="{9ECB9395-5F73-4AC9-A3A3-EAD4FAB3DBF6}"/>
              </a:ext>
            </a:extLst>
          </p:cNvPr>
          <p:cNvSpPr>
            <a:spLocks noGrp="1"/>
          </p:cNvSpPr>
          <p:nvPr/>
        </p:nvSpPr>
        <p:spPr>
          <a:xfrm>
            <a:off x="400050" y="1171575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lide-2-number">
            <a:extLst>
              <a:ext uri="{FF2B5EF4-FFF2-40B4-BE49-F238E27FC236}">
                <a16:creationId xmlns:a16="http://schemas.microsoft.com/office/drawing/2014/main" id="{E421774D-50C3-43B8-BA69-3B01CBA6DCF1}"/>
              </a:ext>
            </a:extLst>
          </p:cNvPr>
          <p:cNvSpPr>
            <a:spLocks noGrp="1"/>
          </p:cNvSpPr>
          <p:nvPr/>
        </p:nvSpPr>
        <p:spPr>
          <a:xfrm>
            <a:off x="11277600" y="63627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loop-forward-arrow-286">
            <a:extLst>
              <a:ext uri="{FF2B5EF4-FFF2-40B4-BE49-F238E27FC236}">
                <a16:creationId xmlns:a16="http://schemas.microsoft.com/office/drawing/2014/main" id="{611C9108-4A9F-483B-ABE6-B6B61FEC353C}"/>
              </a:ext>
            </a:extLst>
          </p:cNvPr>
          <p:cNvSpPr>
            <a:spLocks noGrp="1"/>
          </p:cNvSpPr>
          <p:nvPr/>
        </p:nvSpPr>
        <p:spPr>
          <a:xfrm>
            <a:off x="2724150" y="2781300"/>
            <a:ext cx="609600" cy="371475"/>
          </a:xfrm>
          <a:prstGeom prst="rightArrow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loop-forward-arrow-592">
            <a:extLst>
              <a:ext uri="{FF2B5EF4-FFF2-40B4-BE49-F238E27FC236}">
                <a16:creationId xmlns:a16="http://schemas.microsoft.com/office/drawing/2014/main" id="{2243087F-7BCD-419A-AB1B-7C5F5FB41F8A}"/>
              </a:ext>
            </a:extLst>
          </p:cNvPr>
          <p:cNvSpPr>
            <a:spLocks noGrp="1"/>
          </p:cNvSpPr>
          <p:nvPr/>
        </p:nvSpPr>
        <p:spPr>
          <a:xfrm>
            <a:off x="5638800" y="2781300"/>
            <a:ext cx="609600" cy="371475"/>
          </a:xfrm>
          <a:prstGeom prst="rightArrow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loop-forward-arrow-898">
            <a:extLst>
              <a:ext uri="{FF2B5EF4-FFF2-40B4-BE49-F238E27FC236}">
                <a16:creationId xmlns:a16="http://schemas.microsoft.com/office/drawing/2014/main" id="{4B3FDE46-C519-4F30-80B8-8006168AB63B}"/>
              </a:ext>
            </a:extLst>
          </p:cNvPr>
          <p:cNvSpPr>
            <a:spLocks noGrp="1"/>
          </p:cNvSpPr>
          <p:nvPr/>
        </p:nvSpPr>
        <p:spPr>
          <a:xfrm>
            <a:off x="8553450" y="2781300"/>
            <a:ext cx="609600" cy="371475"/>
          </a:xfrm>
          <a:prstGeom prst="rightArrow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loop-return-arrow">
            <a:extLst>
              <a:ext uri="{FF2B5EF4-FFF2-40B4-BE49-F238E27FC236}">
                <a16:creationId xmlns:a16="http://schemas.microsoft.com/office/drawing/2014/main" id="{4738DFEA-DB15-45DE-ADB1-AB9AECD89AD0}"/>
              </a:ext>
            </a:extLst>
          </p:cNvPr>
          <p:cNvSpPr>
            <a:spLocks noGrp="1"/>
          </p:cNvSpPr>
          <p:nvPr/>
        </p:nvSpPr>
        <p:spPr>
          <a:xfrm>
            <a:off x="1962150" y="5286375"/>
            <a:ext cx="8248650" cy="323850"/>
          </a:xfrm>
          <a:prstGeom prst="leftArrow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loop-step-1">
            <a:extLst>
              <a:ext uri="{FF2B5EF4-FFF2-40B4-BE49-F238E27FC236}">
                <a16:creationId xmlns:a16="http://schemas.microsoft.com/office/drawing/2014/main" id="{21768589-2D15-41D1-8F5D-9BC2203D89E5}"/>
              </a:ext>
            </a:extLst>
          </p:cNvPr>
          <p:cNvSpPr>
            <a:spLocks noGrp="1"/>
          </p:cNvSpPr>
          <p:nvPr/>
        </p:nvSpPr>
        <p:spPr>
          <a:xfrm>
            <a:off x="400050" y="2047875"/>
            <a:ext cx="2647950" cy="2047875"/>
          </a:xfrm>
          <a:prstGeom prst="rect">
            <a:avLst/>
          </a:prstGeom>
          <a:solidFill>
            <a:srgbClr val="F0F1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loop-number-1">
            <a:extLst>
              <a:ext uri="{FF2B5EF4-FFF2-40B4-BE49-F238E27FC236}">
                <a16:creationId xmlns:a16="http://schemas.microsoft.com/office/drawing/2014/main" id="{1673C7E1-2A14-4E17-B793-991F65549627}"/>
              </a:ext>
            </a:extLst>
          </p:cNvPr>
          <p:cNvSpPr>
            <a:spLocks noGrp="1"/>
          </p:cNvSpPr>
          <p:nvPr/>
        </p:nvSpPr>
        <p:spPr>
          <a:xfrm>
            <a:off x="590550" y="221932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loop-title-1">
            <a:extLst>
              <a:ext uri="{FF2B5EF4-FFF2-40B4-BE49-F238E27FC236}">
                <a16:creationId xmlns:a16="http://schemas.microsoft.com/office/drawing/2014/main" id="{469FD826-FDF6-4F8B-A340-26EC2F23BE2A}"/>
              </a:ext>
            </a:extLst>
          </p:cNvPr>
          <p:cNvSpPr>
            <a:spLocks noGrp="1"/>
          </p:cNvSpPr>
          <p:nvPr/>
        </p:nvSpPr>
        <p:spPr>
          <a:xfrm>
            <a:off x="666750" y="2609850"/>
            <a:ext cx="21145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 MΦ</a:t>
            </a:r>
          </a:p>
        </p:txBody>
      </p:sp>
      <p:sp>
        <p:nvSpPr>
          <p:cNvPr id="11" name="loop-body-1">
            <a:extLst>
              <a:ext uri="{FF2B5EF4-FFF2-40B4-BE49-F238E27FC236}">
                <a16:creationId xmlns:a16="http://schemas.microsoft.com/office/drawing/2014/main" id="{A6D4C49D-9E18-439B-8EB4-49E3B3EFF513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2114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Abstract MDP</a:t>
            </a:r>
          </a:p>
          <a:p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for pattern Φ</a:t>
            </a:r>
          </a:p>
        </p:txBody>
      </p:sp>
      <p:sp>
        <p:nvSpPr>
          <p:cNvPr id="12" name="loop-step-2">
            <a:extLst>
              <a:ext uri="{FF2B5EF4-FFF2-40B4-BE49-F238E27FC236}">
                <a16:creationId xmlns:a16="http://schemas.microsoft.com/office/drawing/2014/main" id="{23C609D5-E10A-40CD-A3B8-14EB7E1B025D}"/>
              </a:ext>
            </a:extLst>
          </p:cNvPr>
          <p:cNvSpPr>
            <a:spLocks noGrp="1"/>
          </p:cNvSpPr>
          <p:nvPr/>
        </p:nvSpPr>
        <p:spPr>
          <a:xfrm>
            <a:off x="3314700" y="2047875"/>
            <a:ext cx="2647950" cy="2047875"/>
          </a:xfrm>
          <a:prstGeom prst="rect">
            <a:avLst/>
          </a:prstGeom>
          <a:solidFill>
            <a:srgbClr val="F0F1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loop-number-2">
            <a:extLst>
              <a:ext uri="{FF2B5EF4-FFF2-40B4-BE49-F238E27FC236}">
                <a16:creationId xmlns:a16="http://schemas.microsoft.com/office/drawing/2014/main" id="{C05B0158-839C-4C6C-9F60-47FADFE4FFC3}"/>
              </a:ext>
            </a:extLst>
          </p:cNvPr>
          <p:cNvSpPr>
            <a:spLocks noGrp="1"/>
          </p:cNvSpPr>
          <p:nvPr/>
        </p:nvSpPr>
        <p:spPr>
          <a:xfrm>
            <a:off x="3505200" y="221932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loop-title-2">
            <a:extLst>
              <a:ext uri="{FF2B5EF4-FFF2-40B4-BE49-F238E27FC236}">
                <a16:creationId xmlns:a16="http://schemas.microsoft.com/office/drawing/2014/main" id="{6534D8B3-7D23-4143-BC60-A4D2924B917C}"/>
              </a:ext>
            </a:extLst>
          </p:cNvPr>
          <p:cNvSpPr>
            <a:spLocks noGrp="1"/>
          </p:cNvSpPr>
          <p:nvPr/>
        </p:nvSpPr>
        <p:spPr>
          <a:xfrm>
            <a:off x="3581400" y="2609850"/>
            <a:ext cx="21145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Solve exactly</a:t>
            </a:r>
          </a:p>
        </p:txBody>
      </p:sp>
      <p:sp>
        <p:nvSpPr>
          <p:cNvPr id="15" name="loop-body-2">
            <a:extLst>
              <a:ext uri="{FF2B5EF4-FFF2-40B4-BE49-F238E27FC236}">
                <a16:creationId xmlns:a16="http://schemas.microsoft.com/office/drawing/2014/main" id="{8F832C32-DD88-47F8-AE55-6418F9A08485}"/>
              </a:ext>
            </a:extLst>
          </p:cNvPr>
          <p:cNvSpPr>
            <a:spLocks noGrp="1"/>
          </p:cNvSpPr>
          <p:nvPr/>
        </p:nvSpPr>
        <p:spPr>
          <a:xfrm>
            <a:off x="3581400" y="3143250"/>
            <a:ext cx="2114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Finite VI or</a:t>
            </a:r>
          </a:p>
          <a:p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backward DP</a:t>
            </a:r>
          </a:p>
        </p:txBody>
      </p:sp>
      <p:sp>
        <p:nvSpPr>
          <p:cNvPr id="16" name="loop-step-3">
            <a:extLst>
              <a:ext uri="{FF2B5EF4-FFF2-40B4-BE49-F238E27FC236}">
                <a16:creationId xmlns:a16="http://schemas.microsoft.com/office/drawing/2014/main" id="{BE7ED2B0-F2FA-41BE-BBD6-CB201CF65CC4}"/>
              </a:ext>
            </a:extLst>
          </p:cNvPr>
          <p:cNvSpPr>
            <a:spLocks noGrp="1"/>
          </p:cNvSpPr>
          <p:nvPr/>
        </p:nvSpPr>
        <p:spPr>
          <a:xfrm>
            <a:off x="6229350" y="2047875"/>
            <a:ext cx="2647950" cy="2047875"/>
          </a:xfrm>
          <a:prstGeom prst="rect">
            <a:avLst/>
          </a:prstGeom>
          <a:solidFill>
            <a:srgbClr val="F0F1F2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loop-number-3">
            <a:extLst>
              <a:ext uri="{FF2B5EF4-FFF2-40B4-BE49-F238E27FC236}">
                <a16:creationId xmlns:a16="http://schemas.microsoft.com/office/drawing/2014/main" id="{77E1999B-1529-4238-B986-273266C85DEC}"/>
              </a:ext>
            </a:extLst>
          </p:cNvPr>
          <p:cNvSpPr>
            <a:spLocks noGrp="1"/>
          </p:cNvSpPr>
          <p:nvPr/>
        </p:nvSpPr>
        <p:spPr>
          <a:xfrm>
            <a:off x="6419850" y="221932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loop-title-3">
            <a:extLst>
              <a:ext uri="{FF2B5EF4-FFF2-40B4-BE49-F238E27FC236}">
                <a16:creationId xmlns:a16="http://schemas.microsoft.com/office/drawing/2014/main" id="{AA4E74A6-23CB-422E-B860-B89B8A9A7E9D}"/>
              </a:ext>
            </a:extLst>
          </p:cNvPr>
          <p:cNvSpPr>
            <a:spLocks noGrp="1"/>
          </p:cNvSpPr>
          <p:nvPr/>
        </p:nvSpPr>
        <p:spPr>
          <a:xfrm>
            <a:off x="6496050" y="2609850"/>
            <a:ext cx="21145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9" name="loop-body-3">
            <a:extLst>
              <a:ext uri="{FF2B5EF4-FFF2-40B4-BE49-F238E27FC236}">
                <a16:creationId xmlns:a16="http://schemas.microsoft.com/office/drawing/2014/main" id="{317BDA55-3DBC-4BE5-AC52-06675C282EC2}"/>
              </a:ext>
            </a:extLst>
          </p:cNvPr>
          <p:cNvSpPr>
            <a:spLocks noGrp="1"/>
          </p:cNvSpPr>
          <p:nvPr/>
        </p:nvSpPr>
        <p:spPr>
          <a:xfrm>
            <a:off x="6496050" y="3143250"/>
            <a:ext cx="2114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Optimal abstract</a:t>
            </a:r>
          </a:p>
          <a:p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policy / solution</a:t>
            </a:r>
          </a:p>
        </p:txBody>
      </p:sp>
      <p:sp>
        <p:nvSpPr>
          <p:cNvPr id="20" name="loop-step-4">
            <a:extLst>
              <a:ext uri="{FF2B5EF4-FFF2-40B4-BE49-F238E27FC236}">
                <a16:creationId xmlns:a16="http://schemas.microsoft.com/office/drawing/2014/main" id="{2B9F6420-8147-45E8-9AE3-0C73481B5191}"/>
              </a:ext>
            </a:extLst>
          </p:cNvPr>
          <p:cNvSpPr>
            <a:spLocks noGrp="1"/>
          </p:cNvSpPr>
          <p:nvPr/>
        </p:nvSpPr>
        <p:spPr>
          <a:xfrm>
            <a:off x="9144000" y="2047875"/>
            <a:ext cx="2647950" cy="2047875"/>
          </a:xfrm>
          <a:prstGeom prst="rect">
            <a:avLst/>
          </a:prstGeom>
          <a:solidFill>
            <a:srgbClr val="D8F1FC"/>
          </a:solidFill>
          <a:ln w="1905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loop-number-4">
            <a:extLst>
              <a:ext uri="{FF2B5EF4-FFF2-40B4-BE49-F238E27FC236}">
                <a16:creationId xmlns:a16="http://schemas.microsoft.com/office/drawing/2014/main" id="{4733B632-D6B5-4105-95CC-9C110BE7AE2C}"/>
              </a:ext>
            </a:extLst>
          </p:cNvPr>
          <p:cNvSpPr>
            <a:spLocks noGrp="1"/>
          </p:cNvSpPr>
          <p:nvPr/>
        </p:nvSpPr>
        <p:spPr>
          <a:xfrm>
            <a:off x="9334500" y="221932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loop-title-4">
            <a:extLst>
              <a:ext uri="{FF2B5EF4-FFF2-40B4-BE49-F238E27FC236}">
                <a16:creationId xmlns:a16="http://schemas.microsoft.com/office/drawing/2014/main" id="{2A3DBDF3-115B-428F-9D6B-4A21C7049C53}"/>
              </a:ext>
            </a:extLst>
          </p:cNvPr>
          <p:cNvSpPr>
            <a:spLocks noGrp="1"/>
          </p:cNvSpPr>
          <p:nvPr/>
        </p:nvSpPr>
        <p:spPr>
          <a:xfrm>
            <a:off x="9410700" y="2609850"/>
            <a:ext cx="21145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23" name="loop-body-4">
            <a:extLst>
              <a:ext uri="{FF2B5EF4-FFF2-40B4-BE49-F238E27FC236}">
                <a16:creationId xmlns:a16="http://schemas.microsoft.com/office/drawing/2014/main" id="{72DBB21B-80AF-4020-89B8-9BBABF902DF1}"/>
              </a:ext>
            </a:extLst>
          </p:cNvPr>
          <p:cNvSpPr>
            <a:spLocks noGrp="1"/>
          </p:cNvSpPr>
          <p:nvPr/>
        </p:nvSpPr>
        <p:spPr>
          <a:xfrm>
            <a:off x="9410700" y="3143250"/>
            <a:ext cx="2114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Test it in the</a:t>
            </a:r>
          </a:p>
          <a:p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original CoMDP+</a:t>
            </a:r>
          </a:p>
        </p:txBody>
      </p:sp>
      <p:sp>
        <p:nvSpPr>
          <p:cNvPr id="24" name="blocked-refinement">
            <a:extLst>
              <a:ext uri="{FF2B5EF4-FFF2-40B4-BE49-F238E27FC236}">
                <a16:creationId xmlns:a16="http://schemas.microsoft.com/office/drawing/2014/main" id="{374BFB97-E6EC-476F-9FEF-81997F7E95EB}"/>
              </a:ext>
            </a:extLst>
          </p:cNvPr>
          <p:cNvSpPr>
            <a:spLocks noGrp="1"/>
          </p:cNvSpPr>
          <p:nvPr/>
        </p:nvSpPr>
        <p:spPr>
          <a:xfrm>
            <a:off x="2266950" y="4419600"/>
            <a:ext cx="7658100" cy="723900"/>
          </a:xfrm>
          <a:prstGeom prst="rect">
            <a:avLst/>
          </a:prstGeom>
          <a:solidFill>
            <a:srgbClr val="6DCBF4"/>
          </a:solidFill>
          <a:ln w="9525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blocked-label">
            <a:extLst>
              <a:ext uri="{FF2B5EF4-FFF2-40B4-BE49-F238E27FC236}">
                <a16:creationId xmlns:a16="http://schemas.microsoft.com/office/drawing/2014/main" id="{C5DA11E6-5828-47C7-8329-B0EC0C086590}"/>
              </a:ext>
            </a:extLst>
          </p:cNvPr>
          <p:cNvSpPr>
            <a:spLocks noGrp="1"/>
          </p:cNvSpPr>
          <p:nvPr/>
        </p:nvSpPr>
        <p:spPr>
          <a:xfrm>
            <a:off x="2514600" y="4533900"/>
            <a:ext cx="2247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If blocked at action a</a:t>
            </a:r>
          </a:p>
        </p:txBody>
      </p:sp>
      <p:sp>
        <p:nvSpPr>
          <p:cNvPr id="26" name="blocked-fact">
            <a:extLst>
              <a:ext uri="{FF2B5EF4-FFF2-40B4-BE49-F238E27FC236}">
                <a16:creationId xmlns:a16="http://schemas.microsoft.com/office/drawing/2014/main" id="{4A579891-8082-4226-B343-FAB52989629D}"/>
              </a:ext>
            </a:extLst>
          </p:cNvPr>
          <p:cNvSpPr>
            <a:spLocks noGrp="1"/>
          </p:cNvSpPr>
          <p:nvPr/>
        </p:nvSpPr>
        <p:spPr>
          <a:xfrm>
            <a:off x="4810125" y="4533900"/>
            <a:ext cx="2628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choose  f ∈ pre(a) − Φ</a:t>
            </a:r>
          </a:p>
        </p:txBody>
      </p:sp>
      <p:sp>
        <p:nvSpPr>
          <p:cNvPr id="27" name="blocked-update">
            <a:extLst>
              <a:ext uri="{FF2B5EF4-FFF2-40B4-BE49-F238E27FC236}">
                <a16:creationId xmlns:a16="http://schemas.microsoft.com/office/drawing/2014/main" id="{710573B3-0E93-4A52-832E-C6A8311A9A5F}"/>
              </a:ext>
            </a:extLst>
          </p:cNvPr>
          <p:cNvSpPr>
            <a:spLocks noGrp="1"/>
          </p:cNvSpPr>
          <p:nvPr/>
        </p:nvSpPr>
        <p:spPr>
          <a:xfrm>
            <a:off x="7543800" y="4533900"/>
            <a:ext cx="2114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Φ ← Φ ∪ {f}</a:t>
            </a:r>
          </a:p>
        </p:txBody>
      </p:sp>
      <p:sp>
        <p:nvSpPr>
          <p:cNvPr id="28" name="policy-note">
            <a:extLst>
              <a:ext uri="{FF2B5EF4-FFF2-40B4-BE49-F238E27FC236}">
                <a16:creationId xmlns:a16="http://schemas.microsoft.com/office/drawing/2014/main" id="{519E5731-0803-48A8-98D4-8F5D6E150223}"/>
              </a:ext>
            </a:extLst>
          </p:cNvPr>
          <p:cNvSpPr>
            <a:spLocks noGrp="1"/>
          </p:cNvSpPr>
          <p:nvPr/>
        </p:nvSpPr>
        <p:spPr>
          <a:xfrm>
            <a:off x="1733550" y="5915025"/>
            <a:ext cx="872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In a stochastic model the solution is a policy, not only one action sequence</a:t>
            </a:r>
          </a:p>
        </p:txBody>
      </p:sp>
    </p:spTree>
    <p:extLst>
      <p:ext uri="{BB962C8B-B14F-4D97-AF65-F5344CB8AC3E}">
        <p14:creationId xmlns:p14="http://schemas.microsoft.com/office/powerpoint/2010/main" val="451786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3-title">
            <a:extLst>
              <a:ext uri="{FF2B5EF4-FFF2-40B4-BE49-F238E27FC236}">
                <a16:creationId xmlns:a16="http://schemas.microsoft.com/office/drawing/2014/main" id="{05ADB844-C226-4FC8-AD17-9DF173108546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11049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Exact solution of the relaxed MDP gives an upper bound</a:t>
            </a:r>
          </a:p>
        </p:txBody>
      </p:sp>
      <p:sp>
        <p:nvSpPr>
          <p:cNvPr id="2" name="slide-3-title-rule">
            <a:extLst>
              <a:ext uri="{FF2B5EF4-FFF2-40B4-BE49-F238E27FC236}">
                <a16:creationId xmlns:a16="http://schemas.microsoft.com/office/drawing/2014/main" id="{75FA4397-DD89-4DB6-BD68-5424CA91A4C1}"/>
              </a:ext>
            </a:extLst>
          </p:cNvPr>
          <p:cNvSpPr>
            <a:spLocks noGrp="1"/>
          </p:cNvSpPr>
          <p:nvPr/>
        </p:nvSpPr>
        <p:spPr>
          <a:xfrm>
            <a:off x="400050" y="1171575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lide-3-number">
            <a:extLst>
              <a:ext uri="{FF2B5EF4-FFF2-40B4-BE49-F238E27FC236}">
                <a16:creationId xmlns:a16="http://schemas.microsoft.com/office/drawing/2014/main" id="{68852EC6-4ACE-4B14-BD83-C95AF6A52108}"/>
              </a:ext>
            </a:extLst>
          </p:cNvPr>
          <p:cNvSpPr>
            <a:spLocks noGrp="1"/>
          </p:cNvSpPr>
          <p:nvPr/>
        </p:nvSpPr>
        <p:spPr>
          <a:xfrm>
            <a:off x="11277600" y="63627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admissibility-equation">
            <a:extLst>
              <a:ext uri="{FF2B5EF4-FFF2-40B4-BE49-F238E27FC236}">
                <a16:creationId xmlns:a16="http://schemas.microsoft.com/office/drawing/2014/main" id="{2F6BCA39-F1B8-44EA-9D96-5FAD5176FA11}"/>
              </a:ext>
            </a:extLst>
          </p:cNvPr>
          <p:cNvSpPr>
            <a:spLocks noGrp="1"/>
          </p:cNvSpPr>
          <p:nvPr/>
        </p:nvSpPr>
        <p:spPr>
          <a:xfrm>
            <a:off x="2762250" y="1562100"/>
            <a:ext cx="666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5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VΦ(αΦ(s))  ≥  V*(s)</a:t>
            </a:r>
          </a:p>
        </p:txBody>
      </p:sp>
      <p:sp>
        <p:nvSpPr>
          <p:cNvPr id="5" name="admissibility-accent-rule">
            <a:extLst>
              <a:ext uri="{FF2B5EF4-FFF2-40B4-BE49-F238E27FC236}">
                <a16:creationId xmlns:a16="http://schemas.microsoft.com/office/drawing/2014/main" id="{59E2D1A9-BDDD-42F8-8999-EC5F4F11120F}"/>
              </a:ext>
            </a:extLst>
          </p:cNvPr>
          <p:cNvSpPr>
            <a:spLocks noGrp="1"/>
          </p:cNvSpPr>
          <p:nvPr/>
        </p:nvSpPr>
        <p:spPr>
          <a:xfrm>
            <a:off x="4324350" y="2514600"/>
            <a:ext cx="3543300" cy="0"/>
          </a:xfrm>
          <a:prstGeom prst="line">
            <a:avLst/>
          </a:prstGeom>
          <a:noFill/>
          <a:ln w="47625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value-symbol-key">
            <a:extLst>
              <a:ext uri="{FF2B5EF4-FFF2-40B4-BE49-F238E27FC236}">
                <a16:creationId xmlns:a16="http://schemas.microsoft.com/office/drawing/2014/main" id="{EC682034-F9A2-4DC4-86B3-F125B6615BFF}"/>
              </a:ext>
            </a:extLst>
          </p:cNvPr>
          <p:cNvSpPr>
            <a:spLocks noGrp="1"/>
          </p:cNvSpPr>
          <p:nvPr/>
        </p:nvSpPr>
        <p:spPr>
          <a:xfrm>
            <a:off x="3143250" y="26289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VΦ — abstract value     •     V* — optimal original value</a:t>
            </a:r>
          </a:p>
        </p:txBody>
      </p:sp>
      <p:sp>
        <p:nvSpPr>
          <p:cNvPr id="7" name="stop-heading">
            <a:extLst>
              <a:ext uri="{FF2B5EF4-FFF2-40B4-BE49-F238E27FC236}">
                <a16:creationId xmlns:a16="http://schemas.microsoft.com/office/drawing/2014/main" id="{A5434FBC-0419-4139-8FA4-C71E1B6A6FFE}"/>
              </a:ext>
            </a:extLst>
          </p:cNvPr>
          <p:cNvSpPr>
            <a:spLocks noGrp="1"/>
          </p:cNvSpPr>
          <p:nvPr/>
        </p:nvSpPr>
        <p:spPr>
          <a:xfrm>
            <a:off x="666750" y="3105150"/>
            <a:ext cx="4419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Stop when</a:t>
            </a:r>
          </a:p>
        </p:txBody>
      </p:sp>
      <p:sp>
        <p:nvSpPr>
          <p:cNvPr id="8" name="stop-realizable-dot">
            <a:extLst>
              <a:ext uri="{FF2B5EF4-FFF2-40B4-BE49-F238E27FC236}">
                <a16:creationId xmlns:a16="http://schemas.microsoft.com/office/drawing/2014/main" id="{276978DA-0BA7-4E87-9B3D-B64B4A48E0D5}"/>
              </a:ext>
            </a:extLst>
          </p:cNvPr>
          <p:cNvSpPr>
            <a:spLocks noGrp="1"/>
          </p:cNvSpPr>
          <p:nvPr/>
        </p:nvSpPr>
        <p:spPr>
          <a:xfrm>
            <a:off x="723900" y="3762375"/>
            <a:ext cx="85725" cy="85725"/>
          </a:xfrm>
          <a:prstGeom prst="ellipse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top-realizable">
            <a:extLst>
              <a:ext uri="{FF2B5EF4-FFF2-40B4-BE49-F238E27FC236}">
                <a16:creationId xmlns:a16="http://schemas.microsoft.com/office/drawing/2014/main" id="{D9B5836D-6B55-4287-90BD-52E1FBA929E0}"/>
              </a:ext>
            </a:extLst>
          </p:cNvPr>
          <p:cNvSpPr>
            <a:spLocks noGrp="1"/>
          </p:cNvSpPr>
          <p:nvPr/>
        </p:nvSpPr>
        <p:spPr>
          <a:xfrm>
            <a:off x="933450" y="3667125"/>
            <a:ext cx="4495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selected abstract solution is realizable</a:t>
            </a:r>
          </a:p>
        </p:txBody>
      </p:sp>
      <p:sp>
        <p:nvSpPr>
          <p:cNvPr id="10" name="stop-budget-dot">
            <a:extLst>
              <a:ext uri="{FF2B5EF4-FFF2-40B4-BE49-F238E27FC236}">
                <a16:creationId xmlns:a16="http://schemas.microsoft.com/office/drawing/2014/main" id="{2971CA13-1128-4700-91E7-EB5E4891F7BA}"/>
              </a:ext>
            </a:extLst>
          </p:cNvPr>
          <p:cNvSpPr>
            <a:spLocks noGrp="1"/>
          </p:cNvSpPr>
          <p:nvPr/>
        </p:nvSpPr>
        <p:spPr>
          <a:xfrm>
            <a:off x="723900" y="4267200"/>
            <a:ext cx="85725" cy="85725"/>
          </a:xfrm>
          <a:prstGeom prst="ellipse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top-budget">
            <a:extLst>
              <a:ext uri="{FF2B5EF4-FFF2-40B4-BE49-F238E27FC236}">
                <a16:creationId xmlns:a16="http://schemas.microsoft.com/office/drawing/2014/main" id="{A073D81F-22F1-4181-B382-403AF506CFFE}"/>
              </a:ext>
            </a:extLst>
          </p:cNvPr>
          <p:cNvSpPr>
            <a:spLocks noGrp="1"/>
          </p:cNvSpPr>
          <p:nvPr/>
        </p:nvSpPr>
        <p:spPr>
          <a:xfrm>
            <a:off x="933450" y="4171950"/>
            <a:ext cx="4495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fact budget is full</a:t>
            </a:r>
          </a:p>
        </p:txBody>
      </p:sp>
      <p:sp>
        <p:nvSpPr>
          <p:cNvPr id="12" name="stop-no-refinement-dot">
            <a:extLst>
              <a:ext uri="{FF2B5EF4-FFF2-40B4-BE49-F238E27FC236}">
                <a16:creationId xmlns:a16="http://schemas.microsoft.com/office/drawing/2014/main" id="{F38F28B7-0FFD-4A9E-83F9-AB2330E92064}"/>
              </a:ext>
            </a:extLst>
          </p:cNvPr>
          <p:cNvSpPr>
            <a:spLocks noGrp="1"/>
          </p:cNvSpPr>
          <p:nvPr/>
        </p:nvSpPr>
        <p:spPr>
          <a:xfrm>
            <a:off x="723900" y="4772025"/>
            <a:ext cx="85725" cy="85725"/>
          </a:xfrm>
          <a:prstGeom prst="ellipse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top-no-refinement">
            <a:extLst>
              <a:ext uri="{FF2B5EF4-FFF2-40B4-BE49-F238E27FC236}">
                <a16:creationId xmlns:a16="http://schemas.microsoft.com/office/drawing/2014/main" id="{1065EF33-EE0A-4E65-927D-938FD6FD3815}"/>
              </a:ext>
            </a:extLst>
          </p:cNvPr>
          <p:cNvSpPr>
            <a:spLocks noGrp="1"/>
          </p:cNvSpPr>
          <p:nvPr/>
        </p:nvSpPr>
        <p:spPr>
          <a:xfrm>
            <a:off x="933450" y="4676775"/>
            <a:ext cx="4495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useful missing fact remains</a:t>
            </a:r>
          </a:p>
        </p:txBody>
      </p:sp>
      <p:sp>
        <p:nvSpPr>
          <p:cNvPr id="14" name="admissibility-column-divider">
            <a:extLst>
              <a:ext uri="{FF2B5EF4-FFF2-40B4-BE49-F238E27FC236}">
                <a16:creationId xmlns:a16="http://schemas.microsoft.com/office/drawing/2014/main" id="{4D59E844-B56F-4D64-8A61-220C07C9B638}"/>
              </a:ext>
            </a:extLst>
          </p:cNvPr>
          <p:cNvSpPr>
            <a:spLocks noGrp="1"/>
          </p:cNvSpPr>
          <p:nvPr/>
        </p:nvSpPr>
        <p:spPr>
          <a:xfrm>
            <a:off x="5905500" y="3114675"/>
            <a:ext cx="0" cy="207645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guarantee-heading">
            <a:extLst>
              <a:ext uri="{FF2B5EF4-FFF2-40B4-BE49-F238E27FC236}">
                <a16:creationId xmlns:a16="http://schemas.microsoft.com/office/drawing/2014/main" id="{EF7C7126-C4D8-4071-AE0C-01062DC30FF9}"/>
              </a:ext>
            </a:extLst>
          </p:cNvPr>
          <p:cNvSpPr>
            <a:spLocks noGrp="1"/>
          </p:cNvSpPr>
          <p:nvPr/>
        </p:nvSpPr>
        <p:spPr>
          <a:xfrm>
            <a:off x="6381750" y="3105150"/>
            <a:ext cx="4743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bound requires</a:t>
            </a:r>
          </a:p>
        </p:txBody>
      </p:sp>
      <p:sp>
        <p:nvSpPr>
          <p:cNvPr id="16" name="guarantee-relaxation-dot">
            <a:extLst>
              <a:ext uri="{FF2B5EF4-FFF2-40B4-BE49-F238E27FC236}">
                <a16:creationId xmlns:a16="http://schemas.microsoft.com/office/drawing/2014/main" id="{01F740C9-2D17-4B20-BDF3-40AB9F46109A}"/>
              </a:ext>
            </a:extLst>
          </p:cNvPr>
          <p:cNvSpPr>
            <a:spLocks noGrp="1"/>
          </p:cNvSpPr>
          <p:nvPr/>
        </p:nvSpPr>
        <p:spPr>
          <a:xfrm>
            <a:off x="6438900" y="3762375"/>
            <a:ext cx="85725" cy="85725"/>
          </a:xfrm>
          <a:prstGeom prst="ellipse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guarantee-relaxation">
            <a:extLst>
              <a:ext uri="{FF2B5EF4-FFF2-40B4-BE49-F238E27FC236}">
                <a16:creationId xmlns:a16="http://schemas.microsoft.com/office/drawing/2014/main" id="{13A7D811-B209-4667-B3C6-49956C172E8F}"/>
              </a:ext>
            </a:extLst>
          </p:cNvPr>
          <p:cNvSpPr>
            <a:spLocks noGrp="1"/>
          </p:cNvSpPr>
          <p:nvPr/>
        </p:nvSpPr>
        <p:spPr>
          <a:xfrm>
            <a:off x="6648450" y="3667125"/>
            <a:ext cx="4743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concrete transition is represented abstractly</a:t>
            </a:r>
          </a:p>
        </p:txBody>
      </p:sp>
      <p:sp>
        <p:nvSpPr>
          <p:cNvPr id="18" name="guarantee-semantics-dot">
            <a:extLst>
              <a:ext uri="{FF2B5EF4-FFF2-40B4-BE49-F238E27FC236}">
                <a16:creationId xmlns:a16="http://schemas.microsoft.com/office/drawing/2014/main" id="{89F74EAE-F4E0-4D1B-B5C6-45D61D05071D}"/>
              </a:ext>
            </a:extLst>
          </p:cNvPr>
          <p:cNvSpPr>
            <a:spLocks noGrp="1"/>
          </p:cNvSpPr>
          <p:nvPr/>
        </p:nvSpPr>
        <p:spPr>
          <a:xfrm>
            <a:off x="6438900" y="4267200"/>
            <a:ext cx="85725" cy="85725"/>
          </a:xfrm>
          <a:prstGeom prst="ellipse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guarantee-semantics">
            <a:extLst>
              <a:ext uri="{FF2B5EF4-FFF2-40B4-BE49-F238E27FC236}">
                <a16:creationId xmlns:a16="http://schemas.microsoft.com/office/drawing/2014/main" id="{0E390174-CC01-48AF-B37F-CA649F4C4943}"/>
              </a:ext>
            </a:extLst>
          </p:cNvPr>
          <p:cNvSpPr>
            <a:spLocks noGrp="1"/>
          </p:cNvSpPr>
          <p:nvPr/>
        </p:nvSpPr>
        <p:spPr>
          <a:xfrm>
            <a:off x="6648450" y="4171950"/>
            <a:ext cx="4743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Durations and probabilities are projected consistently</a:t>
            </a:r>
          </a:p>
        </p:txBody>
      </p:sp>
      <p:sp>
        <p:nvSpPr>
          <p:cNvPr id="20" name="guarantee-exact-dot">
            <a:extLst>
              <a:ext uri="{FF2B5EF4-FFF2-40B4-BE49-F238E27FC236}">
                <a16:creationId xmlns:a16="http://schemas.microsoft.com/office/drawing/2014/main" id="{362DDE18-6436-4DFB-8E72-E8CFCBC65FA1}"/>
              </a:ext>
            </a:extLst>
          </p:cNvPr>
          <p:cNvSpPr>
            <a:spLocks noGrp="1"/>
          </p:cNvSpPr>
          <p:nvPr/>
        </p:nvSpPr>
        <p:spPr>
          <a:xfrm>
            <a:off x="6438900" y="4772025"/>
            <a:ext cx="85725" cy="85725"/>
          </a:xfrm>
          <a:prstGeom prst="ellipse">
            <a:avLst/>
          </a:prstGeom>
          <a:solidFill>
            <a:srgbClr val="3187F5"/>
          </a:solidFill>
          <a:ln w="0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guarantee-exact">
            <a:extLst>
              <a:ext uri="{FF2B5EF4-FFF2-40B4-BE49-F238E27FC236}">
                <a16:creationId xmlns:a16="http://schemas.microsoft.com/office/drawing/2014/main" id="{F3ACEEA5-772E-47AC-AA0D-51866C395F01}"/>
              </a:ext>
            </a:extLst>
          </p:cNvPr>
          <p:cNvSpPr>
            <a:spLocks noGrp="1"/>
          </p:cNvSpPr>
          <p:nvPr/>
        </p:nvSpPr>
        <p:spPr>
          <a:xfrm>
            <a:off x="6648450" y="4676775"/>
            <a:ext cx="4743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abstract finite MDP is solved exactly</a:t>
            </a:r>
          </a:p>
        </p:txBody>
      </p:sp>
      <p:sp>
        <p:nvSpPr>
          <p:cNvPr id="22" name="refinement-takeaway">
            <a:extLst>
              <a:ext uri="{FF2B5EF4-FFF2-40B4-BE49-F238E27FC236}">
                <a16:creationId xmlns:a16="http://schemas.microsoft.com/office/drawing/2014/main" id="{A38983B2-42A2-47AD-954C-1E4D162BB6EC}"/>
              </a:ext>
            </a:extLst>
          </p:cNvPr>
          <p:cNvSpPr>
            <a:spLocks noGrp="1"/>
          </p:cNvSpPr>
          <p:nvPr/>
        </p:nvSpPr>
        <p:spPr>
          <a:xfrm>
            <a:off x="1352550" y="5581650"/>
            <a:ext cx="9486900" cy="638175"/>
          </a:xfrm>
          <a:prstGeom prst="rect">
            <a:avLst/>
          </a:prstGeom>
          <a:solidFill>
            <a:srgbClr val="6DCBF4"/>
          </a:solidFill>
          <a:ln w="9525">
            <a:solidFill>
              <a:srgbClr val="3187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refinement-takeaway-text">
            <a:extLst>
              <a:ext uri="{FF2B5EF4-FFF2-40B4-BE49-F238E27FC236}">
                <a16:creationId xmlns:a16="http://schemas.microsoft.com/office/drawing/2014/main" id="{8804FAA7-20C6-48FE-8C6D-635C6A9DAFEE}"/>
              </a:ext>
            </a:extLst>
          </p:cNvPr>
          <p:cNvSpPr>
            <a:spLocks noGrp="1"/>
          </p:cNvSpPr>
          <p:nvPr/>
        </p:nvSpPr>
        <p:spPr>
          <a:xfrm>
            <a:off x="1638300" y="5705475"/>
            <a:ext cx="8915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Refinement tightens the upper bound; it does not create admissibility</a:t>
            </a:r>
          </a:p>
        </p:txBody>
      </p:sp>
    </p:spTree>
    <p:extLst>
      <p:ext uri="{BB962C8B-B14F-4D97-AF65-F5344CB8AC3E}">
        <p14:creationId xmlns:p14="http://schemas.microsoft.com/office/powerpoint/2010/main" val="12439310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1668</Words>
  <Application>Microsoft Office PowerPoint</Application>
  <DocSecurity>0</DocSecurity>
  <PresentationFormat>Widescreen</PresentationFormat>
  <Paragraphs>212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אליעזר רווח</cp:lastModifiedBy>
  <cp:revision>1</cp:revision>
  <dcterms:created xsi:type="dcterms:W3CDTF">2026-08-25T09:12:58Z</dcterms:created>
  <dcterms:modified xsi:type="dcterms:W3CDTF">2026-08-25T10:08:40Z</dcterms:modified>
</cp:coreProperties>
</file>
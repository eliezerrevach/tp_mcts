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bc08c4af964033" /><Relationship Type="http://schemas.openxmlformats.org/officeDocument/2006/relationships/extended-properties" Target="/docProps/app.xml" Id="Re89d6c05c0b44986" /><Relationship Type="http://schemas.openxmlformats.org/officeDocument/2006/relationships/officeDocument" Target="/ppt/presentation.xml" Id="R8c9c1d3fe9d14a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3a456fcf8941fe"/>
  </p:sldMasterIdLst>
  <p:notesMasterIdLst>
    <p:notesMasterId xmlns:r="http://schemas.openxmlformats.org/officeDocument/2006/relationships" r:id="Ra6ad94efbce24bd9"/>
  </p:notesMasterIdLst>
  <p:sldIdLst>
    <p:sldId xmlns:r="http://schemas.openxmlformats.org/officeDocument/2006/relationships" id="256" r:id="R2ec2a5224b144736"/>
    <p:sldId xmlns:r="http://schemas.openxmlformats.org/officeDocument/2006/relationships" id="257" r:id="Readb51ad7d50411b"/>
    <p:sldId xmlns:r="http://schemas.openxmlformats.org/officeDocument/2006/relationships" id="258" r:id="Rd0e90c99bb6f44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8b8574036408d" /><Relationship Type="http://schemas.openxmlformats.org/officeDocument/2006/relationships/slideMaster" Target="/ppt/slideMasters/slideMaster1.xml" Id="R403a456fcf8941fe" /><Relationship Type="http://schemas.openxmlformats.org/officeDocument/2006/relationships/notesMaster" Target="/ppt/notesMasters/notesMaster1.xml" Id="Ra6ad94efbce24bd9" /><Relationship Type="http://schemas.openxmlformats.org/officeDocument/2006/relationships/presProps" Target="/ppt/presProps.xml" Id="Rc5ca4f17ab0b47ec" /><Relationship Type="http://schemas.openxmlformats.org/officeDocument/2006/relationships/tableStyles" Target="/ppt/tableStyles.xml" Id="R2149477f335044cb" /><Relationship Type="http://schemas.openxmlformats.org/officeDocument/2006/relationships/slide" Target="/ppt/slides/slide1.xml" Id="R2ec2a5224b144736" /><Relationship Type="http://schemas.openxmlformats.org/officeDocument/2006/relationships/slide" Target="/ppt/slides/slide2.xml" Id="Readb51ad7d50411b" /><Relationship Type="http://schemas.openxmlformats.org/officeDocument/2006/relationships/slide" Target="/ppt/slides/slide3.xml" Id="Rd0e90c99bb6f44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feae31c95842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bcfdd0896e4a8a" /><Relationship Type="http://schemas.openxmlformats.org/officeDocument/2006/relationships/notesMaster" Target="/ppt/notesMasters/notesMaster1.xml" Id="R59f99448ca4b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2d44872614906" /><Relationship Type="http://schemas.openxmlformats.org/officeDocument/2006/relationships/notesMaster" Target="/ppt/notesMasters/notesMaster1.xml" Id="Ra073acb9b9db49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44e9faf2574b88" /><Relationship Type="http://schemas.openxmlformats.org/officeDocument/2006/relationships/notesMaster" Target="/ppt/notesMasters/notesMaster1.xml" Id="R18e0158ce2ad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Phi denotes the pattern facts; p remains the set of running actions.</a:t>
            </a:r>
          </a:p>
          <a:p xmlns:a="http://schemas.openxmlformats.org/drawingml/2006/main">
            <a:r>
              <a:t>Keeping all of p is the simple safe first formulation. A later abstraction may remove irrelevant running records only with a separate correctness argument.</a:t>
            </a:r>
          </a:p>
          <a:p xmlns:a="http://schemas.openxmlformats.org/drawingml/2006/main">
            <a:r>
              <a:t>If G' is only part of a conjunctive goal, reaching G' is itself a relaxation.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pattern-construction formulation and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should target the current optimal abstract solution; the existence of some unrelated concrete plan is not enough to explain the abstract value.</a:t>
            </a:r>
          </a:p>
          <a:p xmlns:a="http://schemas.openxmlformats.org/drawingml/2006/main">
            <a:r>
              <a:t>A single abstract path may be used only as a pattern-selection heuristic. Full realizability in a stochastic model concerns the reachable branches of a policy.</a:t>
            </a:r>
          </a:p>
          <a:p xmlns:a="http://schemas.openxmlformats.org/drawingml/2006/main">
            <a:r>
              <a:t>A blocker may also arise from an omitted end condition, invariant, interference condition, or temporal constraint. Such a blocker must have a representable refinement feature.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refinement loop and theoretical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success-probability maximization, removing conditions enlarges the policy set and therefore yields an optimistic value.</a:t>
            </a:r>
          </a:p>
          <a:p xmlns:a="http://schemas.openxmlformats.org/drawingml/2006/main">
            <a:r>
              <a:t>The guarantee assumes omitted facts do not silently change action probabilities or durations. If they do, those dependencies must be retained or relaxed optimistically.</a:t>
            </a:r>
          </a:p>
          <a:p xmlns:a="http://schemas.openxmlformats.org/drawingml/2006/main">
            <a:r>
              <a:t>Average empirical performance is not an admissibility proof.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admissibility objective and theoretical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01620bbaa49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999f8e14804d53" /><Relationship Type="http://schemas.openxmlformats.org/officeDocument/2006/relationships/slideLayout" Target="/ppt/slideLayouts/slideLayout1.xml" Id="Ra891c7f585b94a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1c7f585b94a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1f7ed259e43af" /><Relationship Type="http://schemas.openxmlformats.org/officeDocument/2006/relationships/notesSlide" Target="/ppt/notesSlides/notesSlide1.xml" Id="Rea25fe6bb37e42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594d6606a427c" /><Relationship Type="http://schemas.openxmlformats.org/officeDocument/2006/relationships/notesSlide" Target="/ppt/notesSlides/notesSlide2.xml" Id="Rfbbcb8f50cec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4fb6595bc4fff" /><Relationship Type="http://schemas.openxmlformats.org/officeDocument/2006/relationships/notesSlide" Target="/ppt/notesSlides/notesSlide3.xml" Id="Re22dac3a07e542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F099AD76-4004-476C-A667-C0BA234E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pattern starts with the selected goal</a:t>
            </a:r>
          </a:p>
        </p:txBody>
      </p:sp>
      <p:sp>
        <p:nvSpPr>
          <p:cNvPr id="2" name="slide-1-title-rule">
            <a:extLst xmlns:a="http://schemas.openxmlformats.org/drawingml/2006/main">
              <a:ext uri="{FF2B5EF4-FFF2-40B4-BE49-F238E27FC236}">
                <a16:creationId xmlns:a16="http://schemas.microsoft.com/office/drawing/2014/main" id="{86491D9B-E3A6-4961-9367-A847801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958E9969-2CEC-4B49-8D26-5736D4D0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initialize-to-project-arrow">
            <a:extLst xmlns:a="http://schemas.openxmlformats.org/drawingml/2006/main">
              <a:ext uri="{FF2B5EF4-FFF2-40B4-BE49-F238E27FC236}">
                <a16:creationId xmlns:a16="http://schemas.microsoft.com/office/drawing/2014/main" id="{BECF99A0-B09F-43FD-98AD-DD7C384C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14675"/>
            <a:ext cx="876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5" name="goal-initialization">
            <a:extLst xmlns:a="http://schemas.openxmlformats.org/drawingml/2006/main">
              <a:ext uri="{FF2B5EF4-FFF2-40B4-BE49-F238E27FC236}">
                <a16:creationId xmlns:a16="http://schemas.microsoft.com/office/drawing/2014/main" id="{CF2A0000-E4F5-4ABC-B984-F002873F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5433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6" name="goal-step">
            <a:extLst xmlns:a="http://schemas.openxmlformats.org/drawingml/2006/main">
              <a:ext uri="{FF2B5EF4-FFF2-40B4-BE49-F238E27FC236}">
                <a16:creationId xmlns:a16="http://schemas.microsoft.com/office/drawing/2014/main" id="{15347135-9E2B-4DAC-A4A8-5364B728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  Choose a goal</a:t>
            </a:r>
          </a:p>
        </p:txBody>
      </p:sp>
      <p:sp>
        <p:nvSpPr>
          <p:cNvPr id="7" name="goal-symbol">
            <a:extLst xmlns:a="http://schemas.openxmlformats.org/drawingml/2006/main">
              <a:ext uri="{FF2B5EF4-FFF2-40B4-BE49-F238E27FC236}">
                <a16:creationId xmlns:a16="http://schemas.microsoft.com/office/drawing/2014/main" id="{AFC8F42D-662B-4D88-A156-7438646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G′</a:t>
            </a:r>
          </a:p>
        </p:txBody>
      </p:sp>
      <p:sp>
        <p:nvSpPr>
          <p:cNvPr id="8" name="pattern-initialization">
            <a:extLst xmlns:a="http://schemas.openxmlformats.org/drawingml/2006/main">
              <a:ext uri="{FF2B5EF4-FFF2-40B4-BE49-F238E27FC236}">
                <a16:creationId xmlns:a16="http://schemas.microsoft.com/office/drawing/2014/main" id="{443BF815-4FF5-463A-B457-58A72701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Φ₀ = G′</a:t>
            </a:r>
          </a:p>
        </p:txBody>
      </p:sp>
      <p:sp>
        <p:nvSpPr>
          <p:cNvPr id="9" name="pattern-symbol-key">
            <a:extLst xmlns:a="http://schemas.openxmlformats.org/drawingml/2006/main">
              <a:ext uri="{FF2B5EF4-FFF2-40B4-BE49-F238E27FC236}">
                <a16:creationId xmlns:a16="http://schemas.microsoft.com/office/drawing/2014/main" id="{C01A2EEF-4A8F-4DC0-9906-5532527A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Φ — selected facts</a:t>
            </a:r>
          </a:p>
          <a:p xmlns:a="http://schemas.openxmlformats.org/drawingml/2006/main"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αΦ — state projection</a:t>
            </a:r>
          </a:p>
          <a:p xmlns:a="http://schemas.openxmlformats.org/drawingml/2006/main"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MΦ — abstract MDP</a:t>
            </a:r>
          </a:p>
          <a:p xmlns:a="http://schemas.openxmlformats.org/drawingml/2006/main">
            <a:pPr algn="l">
              <a:defRPr sz="120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 — action outcome</a:t>
            </a:r>
          </a:p>
        </p:txBody>
      </p:sp>
      <p:sp>
        <p:nvSpPr>
          <p:cNvPr id="10" name="compile-label">
            <a:extLst xmlns:a="http://schemas.openxmlformats.org/drawingml/2006/main">
              <a:ext uri="{FF2B5EF4-FFF2-40B4-BE49-F238E27FC236}">
                <a16:creationId xmlns:a16="http://schemas.microsoft.com/office/drawing/2014/main" id="{626750D4-30BF-4FE7-B5F3-A2103722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678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Compile CoMDP+ once, then project it onto Φ</a:t>
            </a:r>
          </a:p>
        </p:txBody>
      </p:sp>
      <p:sp>
        <p:nvSpPr>
          <p:cNvPr id="11" name="projection-area">
            <a:extLst xmlns:a="http://schemas.openxmlformats.org/drawingml/2006/main">
              <a:ext uri="{FF2B5EF4-FFF2-40B4-BE49-F238E27FC236}">
                <a16:creationId xmlns:a16="http://schemas.microsoft.com/office/drawing/2014/main" id="{75ED563C-A81D-4290-8F4D-C11F49B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76475"/>
            <a:ext cx="678180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tate-projection">
            <a:extLst xmlns:a="http://schemas.openxmlformats.org/drawingml/2006/main">
              <a:ext uri="{FF2B5EF4-FFF2-40B4-BE49-F238E27FC236}">
                <a16:creationId xmlns:a16="http://schemas.microsoft.com/office/drawing/2014/main" id="{84DDEABB-FBCE-4493-A0D9-0D06A51E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αΦ(x, r, p) = (x ∩ Φ, r, p)</a:t>
            </a:r>
          </a:p>
        </p:txBody>
      </p:sp>
      <p:sp>
        <p:nvSpPr>
          <p:cNvPr id="13" name="projection-divider">
            <a:extLst xmlns:a="http://schemas.openxmlformats.org/drawingml/2006/main">
              <a:ext uri="{FF2B5EF4-FFF2-40B4-BE49-F238E27FC236}">
                <a16:creationId xmlns:a16="http://schemas.microsoft.com/office/drawing/2014/main" id="{A3BF4632-1B95-4631-A5F2-ECB63100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05175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pre-projection">
            <a:extLst xmlns:a="http://schemas.openxmlformats.org/drawingml/2006/main">
              <a:ext uri="{FF2B5EF4-FFF2-40B4-BE49-F238E27FC236}">
                <a16:creationId xmlns:a16="http://schemas.microsoft.com/office/drawing/2014/main" id="{33AB019F-DA9E-41AB-8F06-724C636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33775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preΦ(a) = pre(a) ∩ Φ</a:t>
            </a:r>
          </a:p>
        </p:txBody>
      </p:sp>
      <p:sp>
        <p:nvSpPr>
          <p:cNvPr id="15" name="effect-projection">
            <a:extLst xmlns:a="http://schemas.openxmlformats.org/drawingml/2006/main">
              <a:ext uri="{FF2B5EF4-FFF2-40B4-BE49-F238E27FC236}">
                <a16:creationId xmlns:a16="http://schemas.microsoft.com/office/drawing/2014/main" id="{BD1C3A7A-9672-4DB8-8B0A-938FB8D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effΦ(a,o) = eff(a,o) ∩ Φ</a:t>
            </a:r>
          </a:p>
        </p:txBody>
      </p:sp>
      <p:sp>
        <p:nvSpPr>
          <p:cNvPr id="16" name="keep-semantics">
            <a:extLst xmlns:a="http://schemas.openxmlformats.org/drawingml/2006/main">
              <a:ext uri="{FF2B5EF4-FFF2-40B4-BE49-F238E27FC236}">
                <a16:creationId xmlns:a16="http://schemas.microsoft.com/office/drawing/2014/main" id="{646EE766-830F-4339-AF6E-A0A354F1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579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Keep durations, probabilities, r, and p unchanged</a:t>
            </a:r>
          </a:p>
        </p:txBody>
      </p:sp>
      <p:sp>
        <p:nvSpPr>
          <p:cNvPr id="17" name="terminal-value-band">
            <a:extLst xmlns:a="http://schemas.openxmlformats.org/drawingml/2006/main">
              <a:ext uri="{FF2B5EF4-FFF2-40B4-BE49-F238E27FC236}">
                <a16:creationId xmlns:a16="http://schemas.microsoft.com/office/drawing/2014/main" id="{D900CA45-52C0-4F16-B2C5-D5AB0916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629275"/>
            <a:ext cx="9163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8" name="terminal-value">
            <a:extLst xmlns:a="http://schemas.openxmlformats.org/drawingml/2006/main">
              <a:ext uri="{FF2B5EF4-FFF2-40B4-BE49-F238E27FC236}">
                <a16:creationId xmlns:a16="http://schemas.microsoft.com/office/drawing/2014/main" id="{EBF86892-1E12-4290-934D-EC3810B1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753100"/>
            <a:ext cx="859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Terminal value: 1 if G′ is reached before the deadline; otherwise 0</a:t>
            </a:r>
          </a:p>
        </p:txBody>
      </p:sp>
    </p:spTree>
    <p:extLst>
      <p:ext uri="{BB962C8B-B14F-4D97-AF65-F5344CB8AC3E}">
        <p14:creationId xmlns:p14="http://schemas.microsoft.com/office/powerpoint/2010/main" val="1874009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A3425864-FD97-4F32-97D8-756280AB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the abstraction, test it, and add one missing fact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9ECB9395-5F73-4AC9-A3A3-EAD4FAB3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E421774D-50C3-43B8-BA69-3B01CBA6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loop-forward-arrow-286">
            <a:extLst xmlns:a="http://schemas.openxmlformats.org/drawingml/2006/main">
              <a:ext uri="{FF2B5EF4-FFF2-40B4-BE49-F238E27FC236}">
                <a16:creationId xmlns:a16="http://schemas.microsoft.com/office/drawing/2014/main" id="{611C9108-4A9F-483B-ABE6-B6B61FEC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5" name="loop-forward-arrow-592">
            <a:extLst xmlns:a="http://schemas.openxmlformats.org/drawingml/2006/main">
              <a:ext uri="{FF2B5EF4-FFF2-40B4-BE49-F238E27FC236}">
                <a16:creationId xmlns:a16="http://schemas.microsoft.com/office/drawing/2014/main" id="{2243087F-7BCD-419A-AB1B-7C5F5FB4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6" name="loop-forward-arrow-898">
            <a:extLst xmlns:a="http://schemas.openxmlformats.org/drawingml/2006/main">
              <a:ext uri="{FF2B5EF4-FFF2-40B4-BE49-F238E27FC236}">
                <a16:creationId xmlns:a16="http://schemas.microsoft.com/office/drawing/2014/main" id="{4B3FDE46-C519-4F30-80B8-8006168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7" name="loop-return-arrow">
            <a:extLst xmlns:a="http://schemas.openxmlformats.org/drawingml/2006/main">
              <a:ext uri="{FF2B5EF4-FFF2-40B4-BE49-F238E27FC236}">
                <a16:creationId xmlns:a16="http://schemas.microsoft.com/office/drawing/2014/main" id="{4738DFEA-DB15-45DE-ADB1-AB9AECD8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86375"/>
            <a:ext cx="824865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8" name="loop-step-1">
            <a:extLst xmlns:a="http://schemas.openxmlformats.org/drawingml/2006/main">
              <a:ext uri="{FF2B5EF4-FFF2-40B4-BE49-F238E27FC236}">
                <a16:creationId xmlns:a16="http://schemas.microsoft.com/office/drawing/2014/main" id="{21768589-2D15-41D1-8F5D-9BC2203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oop-number-1">
            <a:extLst xmlns:a="http://schemas.openxmlformats.org/drawingml/2006/main">
              <a:ext uri="{FF2B5EF4-FFF2-40B4-BE49-F238E27FC236}">
                <a16:creationId xmlns:a16="http://schemas.microsoft.com/office/drawing/2014/main" id="{1673C7E1-2A14-4E17-B793-991F655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469FD826-FDF6-4F8B-A340-26EC2F23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MΦ</a:t>
            </a:r>
          </a:p>
        </p:txBody>
      </p:sp>
      <p:sp>
        <p:nvSpPr>
          <p:cNvPr id="11" name="loop-body-1">
            <a:extLst xmlns:a="http://schemas.openxmlformats.org/drawingml/2006/main">
              <a:ext uri="{FF2B5EF4-FFF2-40B4-BE49-F238E27FC236}">
                <a16:creationId xmlns:a16="http://schemas.microsoft.com/office/drawing/2014/main" id="{A6D4C49D-9E18-439B-8EB4-49E3B3EF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Abstract MDP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for pattern Φ</a:t>
            </a:r>
          </a:p>
        </p:txBody>
      </p:sp>
      <p:sp>
        <p:nvSpPr>
          <p:cNvPr id="12" name="loop-step-2">
            <a:extLst xmlns:a="http://schemas.openxmlformats.org/drawingml/2006/main">
              <a:ext uri="{FF2B5EF4-FFF2-40B4-BE49-F238E27FC236}">
                <a16:creationId xmlns:a16="http://schemas.microsoft.com/office/drawing/2014/main" id="{23C609D5-E10A-40CD-A3B8-14EB7E1B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loop-number-2">
            <a:extLst xmlns:a="http://schemas.openxmlformats.org/drawingml/2006/main">
              <a:ext uri="{FF2B5EF4-FFF2-40B4-BE49-F238E27FC236}">
                <a16:creationId xmlns:a16="http://schemas.microsoft.com/office/drawing/2014/main" id="{C05B0158-839C-4C6C-9F60-47FADFE4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6534D8B3-7D23-4143-BC60-A4D2924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exactly</a:t>
            </a:r>
          </a:p>
        </p:txBody>
      </p:sp>
      <p:sp>
        <p:nvSpPr>
          <p:cNvPr id="15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F832C32-DD88-47F8-AE55-6418F9A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Finite VI or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backward DP</a:t>
            </a:r>
          </a:p>
        </p:txBody>
      </p:sp>
      <p:sp>
        <p:nvSpPr>
          <p:cNvPr id="16" name="loop-step-3">
            <a:extLst xmlns:a="http://schemas.openxmlformats.org/drawingml/2006/main">
              <a:ext uri="{FF2B5EF4-FFF2-40B4-BE49-F238E27FC236}">
                <a16:creationId xmlns:a16="http://schemas.microsoft.com/office/drawing/2014/main" id="{BE7ED2B0-F2FA-41BE-BBD6-CB201CF6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loop-number-3">
            <a:extLst xmlns:a="http://schemas.openxmlformats.org/drawingml/2006/main">
              <a:ext uri="{FF2B5EF4-FFF2-40B4-BE49-F238E27FC236}">
                <a16:creationId xmlns:a16="http://schemas.microsoft.com/office/drawing/2014/main" id="{77E1999B-1529-4238-B986-273266C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AA4E74A6-23CB-422E-B860-B89B8A9A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9" name="loop-body-3">
            <a:extLst xmlns:a="http://schemas.openxmlformats.org/drawingml/2006/main">
              <a:ext uri="{FF2B5EF4-FFF2-40B4-BE49-F238E27FC236}">
                <a16:creationId xmlns:a16="http://schemas.microsoft.com/office/drawing/2014/main" id="{317BDA55-3DBC-4BE5-AC52-06675C28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Optimal abstract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policy / solution</a:t>
            </a:r>
          </a:p>
        </p:txBody>
      </p:sp>
      <p:sp>
        <p:nvSpPr>
          <p:cNvPr id="20" name="loop-step-4">
            <a:extLst xmlns:a="http://schemas.openxmlformats.org/drawingml/2006/main">
              <a:ext uri="{FF2B5EF4-FFF2-40B4-BE49-F238E27FC236}">
                <a16:creationId xmlns:a16="http://schemas.microsoft.com/office/drawing/2014/main" id="{2B9F6420-8147-45E8-9AE3-0C73481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21" name="loop-number-4">
            <a:extLst xmlns:a="http://schemas.openxmlformats.org/drawingml/2006/main">
              <a:ext uri="{FF2B5EF4-FFF2-40B4-BE49-F238E27FC236}">
                <a16:creationId xmlns:a16="http://schemas.microsoft.com/office/drawing/2014/main" id="{4733B632-D6B5-4105-95CC-9C110BE7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2A3DBDF3-115B-428F-9D6B-4A21C704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3" name="loop-body-4">
            <a:extLst xmlns:a="http://schemas.openxmlformats.org/drawingml/2006/main">
              <a:ext uri="{FF2B5EF4-FFF2-40B4-BE49-F238E27FC236}">
                <a16:creationId xmlns:a16="http://schemas.microsoft.com/office/drawing/2014/main" id="{72DBB21B-80AF-4020-89B8-9BBABF90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Test it in the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original CoMDP+</a:t>
            </a:r>
          </a:p>
        </p:txBody>
      </p:sp>
      <p:sp>
        <p:nvSpPr>
          <p:cNvPr id="24" name="blocked-refinement">
            <a:extLst xmlns:a="http://schemas.openxmlformats.org/drawingml/2006/main">
              <a:ext uri="{FF2B5EF4-FFF2-40B4-BE49-F238E27FC236}">
                <a16:creationId xmlns:a16="http://schemas.microsoft.com/office/drawing/2014/main" id="{374BFB97-E6EC-476F-9FEF-81997F7E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765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5" name="blocked-label">
            <a:extLst xmlns:a="http://schemas.openxmlformats.org/drawingml/2006/main">
              <a:ext uri="{FF2B5EF4-FFF2-40B4-BE49-F238E27FC236}">
                <a16:creationId xmlns:a16="http://schemas.microsoft.com/office/drawing/2014/main" id="{C5DA11E6-5828-47C7-8329-B0EC0C0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339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blocked at action a</a:t>
            </a:r>
          </a:p>
        </p:txBody>
      </p:sp>
      <p:sp>
        <p:nvSpPr>
          <p:cNvPr id="26" name="blocked-fact">
            <a:extLst xmlns:a="http://schemas.openxmlformats.org/drawingml/2006/main">
              <a:ext uri="{FF2B5EF4-FFF2-40B4-BE49-F238E27FC236}">
                <a16:creationId xmlns:a16="http://schemas.microsoft.com/office/drawing/2014/main" id="{4A579891-8082-4226-B343-FAB5298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339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 f ∈ pre(a) − Φ</a:t>
            </a:r>
          </a:p>
        </p:txBody>
      </p:sp>
      <p:sp>
        <p:nvSpPr>
          <p:cNvPr id="27" name="blocked-update">
            <a:extLst xmlns:a="http://schemas.openxmlformats.org/drawingml/2006/main">
              <a:ext uri="{FF2B5EF4-FFF2-40B4-BE49-F238E27FC236}">
                <a16:creationId xmlns:a16="http://schemas.microsoft.com/office/drawing/2014/main" id="{710573B3-0E93-4A52-832E-C6A8311A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339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Φ ← Φ ∪ {f}</a:t>
            </a:r>
          </a:p>
        </p:txBody>
      </p:sp>
      <p:sp>
        <p:nvSpPr>
          <p:cNvPr id="28" name="policy-note">
            <a:extLst xmlns:a="http://schemas.openxmlformats.org/drawingml/2006/main">
              <a:ext uri="{FF2B5EF4-FFF2-40B4-BE49-F238E27FC236}">
                <a16:creationId xmlns:a16="http://schemas.microsoft.com/office/drawing/2014/main" id="{519E5731-0803-48A8-98D4-8F5D6E15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15025"/>
            <a:ext cx="872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In a stochastic model the solution is a policy, not only one action sequence</a:t>
            </a:r>
          </a:p>
        </p:txBody>
      </p:sp>
    </p:spTree>
    <p:extLst>
      <p:ext uri="{BB962C8B-B14F-4D97-AF65-F5344CB8AC3E}">
        <p14:creationId xmlns:p14="http://schemas.microsoft.com/office/powerpoint/2010/main" val="451786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5ADB844-C226-4FC8-AD17-9DF1731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solution of the relaxed MDP gives an upper bound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75FA4397-DD89-4DB6-BD68-5424CA91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8852EC6-4ACE-4B14-BD83-C95AF6A5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admissibility-equation">
            <a:extLst xmlns:a="http://schemas.openxmlformats.org/drawingml/2006/main">
              <a:ext uri="{FF2B5EF4-FFF2-40B4-BE49-F238E27FC236}">
                <a16:creationId xmlns:a16="http://schemas.microsoft.com/office/drawing/2014/main" id="{2F6BCA39-F1B8-44EA-9D96-5FAD5176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VΦ(αΦ(s))  ≥  V*(s)</a:t>
            </a:r>
          </a:p>
        </p:txBody>
      </p:sp>
      <p:sp>
        <p:nvSpPr>
          <p:cNvPr id="5" name="admissibility-accent-rule">
            <a:extLst xmlns:a="http://schemas.openxmlformats.org/drawingml/2006/main">
              <a:ext uri="{FF2B5EF4-FFF2-40B4-BE49-F238E27FC236}">
                <a16:creationId xmlns:a16="http://schemas.microsoft.com/office/drawing/2014/main" id="{59E2D1A9-BDDD-42F8-8999-EC5F4F1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87F5"/>
            </a:solidFill>
            <a:prstDash val="solid"/>
          </a:ln>
        </p:spPr>
      </p:sp>
      <p:sp>
        <p:nvSpPr>
          <p:cNvPr id="6" name="value-symbol-key">
            <a:extLst xmlns:a="http://schemas.openxmlformats.org/drawingml/2006/main">
              <a:ext uri="{FF2B5EF4-FFF2-40B4-BE49-F238E27FC236}">
                <a16:creationId xmlns:a16="http://schemas.microsoft.com/office/drawing/2014/main" id="{EC682034-F9A2-4DC4-86B3-F125B66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VΦ — abstract value     •     V* — optimal original value</a:t>
            </a:r>
          </a:p>
        </p:txBody>
      </p:sp>
      <p:sp>
        <p:nvSpPr>
          <p:cNvPr id="7" name="stop-heading">
            <a:extLst xmlns:a="http://schemas.openxmlformats.org/drawingml/2006/main">
              <a:ext uri="{FF2B5EF4-FFF2-40B4-BE49-F238E27FC236}">
                <a16:creationId xmlns:a16="http://schemas.microsoft.com/office/drawing/2014/main" id="{A5434FBC-0419-4139-8FA4-C71E1B6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 when</a:t>
            </a:r>
          </a:p>
        </p:txBody>
      </p:sp>
      <p:sp>
        <p:nvSpPr>
          <p:cNvPr id="8" name="stop-realizable-dot">
            <a:extLst xmlns:a="http://schemas.openxmlformats.org/drawingml/2006/main">
              <a:ext uri="{FF2B5EF4-FFF2-40B4-BE49-F238E27FC236}">
                <a16:creationId xmlns:a16="http://schemas.microsoft.com/office/drawing/2014/main" id="{276978DA-0BA7-4E87-9B3D-B64B4A4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9" name="stop-realizable">
            <a:extLst xmlns:a="http://schemas.openxmlformats.org/drawingml/2006/main">
              <a:ext uri="{FF2B5EF4-FFF2-40B4-BE49-F238E27FC236}">
                <a16:creationId xmlns:a16="http://schemas.microsoft.com/office/drawing/2014/main" id="{D9B5836D-6B55-4287-90BD-52E1FBA9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selected abstract solution is realizable</a:t>
            </a:r>
          </a:p>
        </p:txBody>
      </p:sp>
      <p:sp>
        <p:nvSpPr>
          <p:cNvPr id="10" name="stop-budget-dot">
            <a:extLst xmlns:a="http://schemas.openxmlformats.org/drawingml/2006/main">
              <a:ext uri="{FF2B5EF4-FFF2-40B4-BE49-F238E27FC236}">
                <a16:creationId xmlns:a16="http://schemas.microsoft.com/office/drawing/2014/main" id="{2971CA13-1128-4700-91E7-EB5E489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1" name="stop-budget">
            <a:extLst xmlns:a="http://schemas.openxmlformats.org/drawingml/2006/main">
              <a:ext uri="{FF2B5EF4-FFF2-40B4-BE49-F238E27FC236}">
                <a16:creationId xmlns:a16="http://schemas.microsoft.com/office/drawing/2014/main" id="{A073D81F-22F1-4181-B382-403AF50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fact budget is full</a:t>
            </a:r>
          </a:p>
        </p:txBody>
      </p:sp>
      <p:sp>
        <p:nvSpPr>
          <p:cNvPr id="12" name="stop-no-refinement-dot">
            <a:extLst xmlns:a="http://schemas.openxmlformats.org/drawingml/2006/main">
              <a:ext uri="{FF2B5EF4-FFF2-40B4-BE49-F238E27FC236}">
                <a16:creationId xmlns:a16="http://schemas.microsoft.com/office/drawing/2014/main" id="{F38F28B7-0FFD-4A9E-83F9-AB2330E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3" name="stop-no-refinement">
            <a:extLst xmlns:a="http://schemas.openxmlformats.org/drawingml/2006/main">
              <a:ext uri="{FF2B5EF4-FFF2-40B4-BE49-F238E27FC236}">
                <a16:creationId xmlns:a16="http://schemas.microsoft.com/office/drawing/2014/main" id="{1065EF33-EE0A-4E65-927D-938FD6FD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useful missing fact remains</a:t>
            </a:r>
          </a:p>
        </p:txBody>
      </p:sp>
      <p:sp>
        <p:nvSpPr>
          <p:cNvPr id="14" name="admissibility-column-divider">
            <a:extLst xmlns:a="http://schemas.openxmlformats.org/drawingml/2006/main">
              <a:ext uri="{FF2B5EF4-FFF2-40B4-BE49-F238E27FC236}">
                <a16:creationId xmlns:a16="http://schemas.microsoft.com/office/drawing/2014/main" id="{4D59E844-B56F-4D64-8A61-220C07C9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14675"/>
            <a:ext cx="0" cy="2076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guarantee-heading">
            <a:extLst xmlns:a="http://schemas.openxmlformats.org/drawingml/2006/main">
              <a:ext uri="{FF2B5EF4-FFF2-40B4-BE49-F238E27FC236}">
                <a16:creationId xmlns:a16="http://schemas.microsoft.com/office/drawing/2014/main" id="{EF7C7126-C4D8-4071-AE0C-01062DC3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bound requires</a:t>
            </a:r>
          </a:p>
        </p:txBody>
      </p:sp>
      <p:sp>
        <p:nvSpPr>
          <p:cNvPr id="16" name="guarantee-relaxation-dot">
            <a:extLst xmlns:a="http://schemas.openxmlformats.org/drawingml/2006/main">
              <a:ext uri="{FF2B5EF4-FFF2-40B4-BE49-F238E27FC236}">
                <a16:creationId xmlns:a16="http://schemas.microsoft.com/office/drawing/2014/main" id="{01F740C9-2D17-4B20-BDF3-40AB9F46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6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7" name="guarantee-relaxation">
            <a:extLst xmlns:a="http://schemas.openxmlformats.org/drawingml/2006/main">
              <a:ext uri="{FF2B5EF4-FFF2-40B4-BE49-F238E27FC236}">
                <a16:creationId xmlns:a16="http://schemas.microsoft.com/office/drawing/2014/main" id="{13A7D811-B209-4667-B3C6-49956C1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6712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concrete transition is represented abstractly</a:t>
            </a:r>
          </a:p>
        </p:txBody>
      </p:sp>
      <p:sp>
        <p:nvSpPr>
          <p:cNvPr id="18" name="guarantee-semantics-dot">
            <a:extLst xmlns:a="http://schemas.openxmlformats.org/drawingml/2006/main">
              <a:ext uri="{FF2B5EF4-FFF2-40B4-BE49-F238E27FC236}">
                <a16:creationId xmlns:a16="http://schemas.microsoft.com/office/drawing/2014/main" id="{89F74EAE-F4E0-4D1B-B5C6-45D61D05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9" name="guarantee-semantics">
            <a:extLst xmlns:a="http://schemas.openxmlformats.org/drawingml/2006/main">
              <a:ext uri="{FF2B5EF4-FFF2-40B4-BE49-F238E27FC236}">
                <a16:creationId xmlns:a16="http://schemas.microsoft.com/office/drawing/2014/main" id="{0E390174-CC01-48AF-B37F-CA649F4C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71950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Durations and probabilities are projected consistently</a:t>
            </a:r>
          </a:p>
        </p:txBody>
      </p:sp>
      <p:sp>
        <p:nvSpPr>
          <p:cNvPr id="20" name="guarantee-exact-dot">
            <a:extLst xmlns:a="http://schemas.openxmlformats.org/drawingml/2006/main">
              <a:ext uri="{FF2B5EF4-FFF2-40B4-BE49-F238E27FC236}">
                <a16:creationId xmlns:a16="http://schemas.microsoft.com/office/drawing/2014/main" id="{362DDE18-6436-4DFB-8E72-E8CFCBC6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72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1" name="guarantee-exact">
            <a:extLst xmlns:a="http://schemas.openxmlformats.org/drawingml/2006/main">
              <a:ext uri="{FF2B5EF4-FFF2-40B4-BE49-F238E27FC236}">
                <a16:creationId xmlns:a16="http://schemas.microsoft.com/office/drawing/2014/main" id="{F3ACEEA5-772E-47AC-AA0D-51866C39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7677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abstract finite MDP is solved exactly</a:t>
            </a:r>
          </a:p>
        </p:txBody>
      </p:sp>
      <p:sp>
        <p:nvSpPr>
          <p:cNvPr id="22" name="refinement-takeaway">
            <a:extLst xmlns:a="http://schemas.openxmlformats.org/drawingml/2006/main">
              <a:ext uri="{FF2B5EF4-FFF2-40B4-BE49-F238E27FC236}">
                <a16:creationId xmlns:a16="http://schemas.microsoft.com/office/drawing/2014/main" id="{A38983B2-42A2-47AD-954C-1E4D162B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9486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3" name="refinement-takeaway-text">
            <a:extLst xmlns:a="http://schemas.openxmlformats.org/drawingml/2006/main">
              <a:ext uri="{FF2B5EF4-FFF2-40B4-BE49-F238E27FC236}">
                <a16:creationId xmlns:a16="http://schemas.microsoft.com/office/drawing/2014/main" id="{8804FAA7-20C6-48FE-8C6D-635C6A9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Refinement tightens the upper bound; it does not create admissibility</a:t>
            </a:r>
          </a:p>
        </p:txBody>
      </p:sp>
    </p:spTree>
    <p:extLst>
      <p:ext uri="{BB962C8B-B14F-4D97-AF65-F5344CB8AC3E}">
        <p14:creationId xmlns:p14="http://schemas.microsoft.com/office/powerpoint/2010/main" val="1243931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2026-08-25T10:02:44.6690000Z</dcterms:created>
  <dcterms:modified xsi:type="dcterms:W3CDTF">2026-08-25T10:02:44.6690000Z</dcterms:modified>
</coreProperties>
</file>